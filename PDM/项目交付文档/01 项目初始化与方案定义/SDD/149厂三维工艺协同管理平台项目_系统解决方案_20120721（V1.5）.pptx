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60" r:id="rId2"/>
  </p:sldMasterIdLst>
  <p:notesMasterIdLst>
    <p:notesMasterId r:id="rId150"/>
  </p:notesMasterIdLst>
  <p:sldIdLst>
    <p:sldId id="257" r:id="rId3"/>
    <p:sldId id="282" r:id="rId4"/>
    <p:sldId id="283" r:id="rId5"/>
    <p:sldId id="286" r:id="rId6"/>
    <p:sldId id="284" r:id="rId7"/>
    <p:sldId id="287" r:id="rId8"/>
    <p:sldId id="288" r:id="rId9"/>
    <p:sldId id="387" r:id="rId10"/>
    <p:sldId id="285" r:id="rId11"/>
    <p:sldId id="289" r:id="rId12"/>
    <p:sldId id="291" r:id="rId13"/>
    <p:sldId id="292" r:id="rId14"/>
    <p:sldId id="293" r:id="rId15"/>
    <p:sldId id="294" r:id="rId16"/>
    <p:sldId id="437" r:id="rId17"/>
    <p:sldId id="296" r:id="rId18"/>
    <p:sldId id="298" r:id="rId19"/>
    <p:sldId id="438" r:id="rId20"/>
    <p:sldId id="299" r:id="rId21"/>
    <p:sldId id="301" r:id="rId22"/>
    <p:sldId id="304" r:id="rId23"/>
    <p:sldId id="305" r:id="rId24"/>
    <p:sldId id="306" r:id="rId25"/>
    <p:sldId id="307" r:id="rId26"/>
    <p:sldId id="308" r:id="rId27"/>
    <p:sldId id="309" r:id="rId28"/>
    <p:sldId id="439" r:id="rId29"/>
    <p:sldId id="324" r:id="rId30"/>
    <p:sldId id="325" r:id="rId31"/>
    <p:sldId id="326" r:id="rId32"/>
    <p:sldId id="328" r:id="rId33"/>
    <p:sldId id="327" r:id="rId34"/>
    <p:sldId id="311" r:id="rId35"/>
    <p:sldId id="329" r:id="rId36"/>
    <p:sldId id="330" r:id="rId37"/>
    <p:sldId id="331" r:id="rId38"/>
    <p:sldId id="332" r:id="rId39"/>
    <p:sldId id="334" r:id="rId40"/>
    <p:sldId id="312" r:id="rId41"/>
    <p:sldId id="433" r:id="rId42"/>
    <p:sldId id="436" r:id="rId43"/>
    <p:sldId id="434" r:id="rId44"/>
    <p:sldId id="333" r:id="rId45"/>
    <p:sldId id="335" r:id="rId46"/>
    <p:sldId id="336" r:id="rId47"/>
    <p:sldId id="337" r:id="rId48"/>
    <p:sldId id="381" r:id="rId49"/>
    <p:sldId id="382" r:id="rId50"/>
    <p:sldId id="383" r:id="rId51"/>
    <p:sldId id="338" r:id="rId52"/>
    <p:sldId id="313" r:id="rId53"/>
    <p:sldId id="340" r:id="rId54"/>
    <p:sldId id="339" r:id="rId55"/>
    <p:sldId id="342" r:id="rId56"/>
    <p:sldId id="341" r:id="rId57"/>
    <p:sldId id="343" r:id="rId58"/>
    <p:sldId id="344" r:id="rId59"/>
    <p:sldId id="314" r:id="rId60"/>
    <p:sldId id="346" r:id="rId61"/>
    <p:sldId id="345" r:id="rId62"/>
    <p:sldId id="354" r:id="rId63"/>
    <p:sldId id="348" r:id="rId64"/>
    <p:sldId id="349" r:id="rId65"/>
    <p:sldId id="350" r:id="rId66"/>
    <p:sldId id="351" r:id="rId67"/>
    <p:sldId id="352" r:id="rId68"/>
    <p:sldId id="315" r:id="rId69"/>
    <p:sldId id="355" r:id="rId70"/>
    <p:sldId id="359" r:id="rId71"/>
    <p:sldId id="358" r:id="rId72"/>
    <p:sldId id="360" r:id="rId73"/>
    <p:sldId id="357" r:id="rId74"/>
    <p:sldId id="362" r:id="rId75"/>
    <p:sldId id="363" r:id="rId76"/>
    <p:sldId id="361" r:id="rId77"/>
    <p:sldId id="445" r:id="rId78"/>
    <p:sldId id="364" r:id="rId79"/>
    <p:sldId id="365" r:id="rId80"/>
    <p:sldId id="316" r:id="rId81"/>
    <p:sldId id="367" r:id="rId82"/>
    <p:sldId id="366" r:id="rId83"/>
    <p:sldId id="369" r:id="rId84"/>
    <p:sldId id="370" r:id="rId85"/>
    <p:sldId id="368" r:id="rId86"/>
    <p:sldId id="372" r:id="rId87"/>
    <p:sldId id="374" r:id="rId88"/>
    <p:sldId id="371" r:id="rId89"/>
    <p:sldId id="375" r:id="rId90"/>
    <p:sldId id="376" r:id="rId91"/>
    <p:sldId id="377" r:id="rId92"/>
    <p:sldId id="378" r:id="rId93"/>
    <p:sldId id="379" r:id="rId94"/>
    <p:sldId id="380" r:id="rId95"/>
    <p:sldId id="317" r:id="rId96"/>
    <p:sldId id="384" r:id="rId97"/>
    <p:sldId id="385" r:id="rId98"/>
    <p:sldId id="386" r:id="rId99"/>
    <p:sldId id="389" r:id="rId100"/>
    <p:sldId id="390" r:id="rId101"/>
    <p:sldId id="391" r:id="rId102"/>
    <p:sldId id="392" r:id="rId103"/>
    <p:sldId id="441" r:id="rId104"/>
    <p:sldId id="393" r:id="rId105"/>
    <p:sldId id="394" r:id="rId106"/>
    <p:sldId id="395" r:id="rId107"/>
    <p:sldId id="396" r:id="rId108"/>
    <p:sldId id="320" r:id="rId109"/>
    <p:sldId id="398" r:id="rId110"/>
    <p:sldId id="401" r:id="rId111"/>
    <p:sldId id="402" r:id="rId112"/>
    <p:sldId id="399" r:id="rId113"/>
    <p:sldId id="403" r:id="rId114"/>
    <p:sldId id="404" r:id="rId115"/>
    <p:sldId id="405" r:id="rId116"/>
    <p:sldId id="406" r:id="rId117"/>
    <p:sldId id="407" r:id="rId118"/>
    <p:sldId id="409" r:id="rId119"/>
    <p:sldId id="408" r:id="rId120"/>
    <p:sldId id="319" r:id="rId121"/>
    <p:sldId id="410" r:id="rId122"/>
    <p:sldId id="411" r:id="rId123"/>
    <p:sldId id="413" r:id="rId124"/>
    <p:sldId id="412" r:id="rId125"/>
    <p:sldId id="414" r:id="rId126"/>
    <p:sldId id="415" r:id="rId127"/>
    <p:sldId id="416" r:id="rId128"/>
    <p:sldId id="417" r:id="rId129"/>
    <p:sldId id="419" r:id="rId130"/>
    <p:sldId id="420" r:id="rId131"/>
    <p:sldId id="422" r:id="rId132"/>
    <p:sldId id="423" r:id="rId133"/>
    <p:sldId id="321" r:id="rId134"/>
    <p:sldId id="424" r:id="rId135"/>
    <p:sldId id="425" r:id="rId136"/>
    <p:sldId id="322" r:id="rId137"/>
    <p:sldId id="426" r:id="rId138"/>
    <p:sldId id="427" r:id="rId139"/>
    <p:sldId id="428" r:id="rId140"/>
    <p:sldId id="429" r:id="rId141"/>
    <p:sldId id="323" r:id="rId142"/>
    <p:sldId id="430" r:id="rId143"/>
    <p:sldId id="442" r:id="rId144"/>
    <p:sldId id="443" r:id="rId145"/>
    <p:sldId id="444" r:id="rId146"/>
    <p:sldId id="431" r:id="rId147"/>
    <p:sldId id="432" r:id="rId148"/>
    <p:sldId id="259" r:id="rId149"/>
  </p:sldIdLst>
  <p:sldSz cx="10801350" cy="675163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11" autoAdjust="0"/>
    <p:restoredTop sz="97606" autoAdjust="0"/>
  </p:normalViewPr>
  <p:slideViewPr>
    <p:cSldViewPr>
      <p:cViewPr>
        <p:scale>
          <a:sx n="100" d="100"/>
          <a:sy n="100" d="100"/>
        </p:scale>
        <p:origin x="30" y="552"/>
      </p:cViewPr>
      <p:guideLst>
        <p:guide orient="horz" pos="2127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38" Type="http://schemas.openxmlformats.org/officeDocument/2006/relationships/slide" Target="slides/slide136.xml"/><Relationship Id="rId154" Type="http://schemas.openxmlformats.org/officeDocument/2006/relationships/tableStyles" Target="tableStyle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144" Type="http://schemas.openxmlformats.org/officeDocument/2006/relationships/slide" Target="slides/slide142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slide" Target="slides/slide114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5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5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263F79-C375-43B4-A7A9-0E022CEB33B8}" type="doc">
      <dgm:prSet loTypeId="urn:microsoft.com/office/officeart/2005/8/layout/chevron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31A7EB89-9219-42D3-923F-53BF5052F91F}">
      <dgm:prSet custT="1"/>
      <dgm:spPr>
        <a:xfrm>
          <a:off x="3325341" y="0"/>
          <a:ext cx="1846259" cy="410178"/>
        </a:xfrm>
        <a:solidFill>
          <a:srgbClr val="6FAEAB">
            <a:hueOff val="-2548844"/>
            <a:satOff val="11000"/>
            <a:lumOff val="49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zh-CN" altLang="en-US" sz="1400" b="1" smtClean="0">
              <a:solidFill>
                <a:srgbClr val="FFFFFF"/>
              </a:solidFill>
              <a:latin typeface="Arial"/>
              <a:ea typeface="黑体"/>
              <a:cs typeface="+mn-cs"/>
            </a:rPr>
            <a:t>试样阶段</a:t>
          </a:r>
          <a:endParaRPr lang="zh-CN" altLang="en-US" sz="1400" b="1" dirty="0">
            <a:solidFill>
              <a:srgbClr val="FFFFFF"/>
            </a:solidFill>
            <a:latin typeface="Arial"/>
            <a:ea typeface="黑体"/>
            <a:cs typeface="+mn-cs"/>
          </a:endParaRPr>
        </a:p>
      </dgm:t>
    </dgm:pt>
    <dgm:pt modelId="{376E13C9-BF1F-46C9-8BD4-B86E1ED0ECD0}" type="parTrans" cxnId="{BAE50B86-9F1E-47AB-ACAC-A4BAD1D095D8}">
      <dgm:prSet/>
      <dgm:spPr/>
      <dgm:t>
        <a:bodyPr/>
        <a:lstStyle/>
        <a:p>
          <a:endParaRPr lang="zh-CN" altLang="en-US"/>
        </a:p>
      </dgm:t>
    </dgm:pt>
    <dgm:pt modelId="{C1437AE4-62F3-48D7-B419-4CD9E2C0F7C7}" type="sibTrans" cxnId="{BAE50B86-9F1E-47AB-ACAC-A4BAD1D095D8}">
      <dgm:prSet/>
      <dgm:spPr/>
      <dgm:t>
        <a:bodyPr/>
        <a:lstStyle/>
        <a:p>
          <a:endParaRPr lang="zh-CN" altLang="en-US"/>
        </a:p>
      </dgm:t>
    </dgm:pt>
    <dgm:pt modelId="{B603AE3D-D249-426B-A9B3-AD7E22D09F01}">
      <dgm:prSet custT="1"/>
      <dgm:spPr>
        <a:xfrm>
          <a:off x="2074" y="0"/>
          <a:ext cx="1846259" cy="410178"/>
        </a:xfrm>
        <a:solidFill>
          <a:srgbClr val="6FAEA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zh-CN" altLang="en-US" sz="1400" b="1" smtClean="0">
              <a:solidFill>
                <a:srgbClr val="FFFFFF"/>
              </a:solidFill>
              <a:latin typeface="Arial"/>
              <a:ea typeface="黑体"/>
              <a:cs typeface="+mn-cs"/>
            </a:rPr>
            <a:t>方案阶段</a:t>
          </a:r>
          <a:endParaRPr lang="zh-CN" altLang="en-US" sz="1400" b="1" dirty="0">
            <a:solidFill>
              <a:srgbClr val="FFFFFF"/>
            </a:solidFill>
            <a:latin typeface="Arial"/>
            <a:ea typeface="黑体"/>
            <a:cs typeface="+mn-cs"/>
          </a:endParaRPr>
        </a:p>
      </dgm:t>
    </dgm:pt>
    <dgm:pt modelId="{5CBA09A6-97BB-4A5B-A109-AEF3AEEF4471}" type="parTrans" cxnId="{2F80E48B-1839-46D5-9823-97B326CBD904}">
      <dgm:prSet/>
      <dgm:spPr/>
      <dgm:t>
        <a:bodyPr/>
        <a:lstStyle/>
        <a:p>
          <a:endParaRPr lang="zh-CN" altLang="en-US"/>
        </a:p>
      </dgm:t>
    </dgm:pt>
    <dgm:pt modelId="{B6F793D1-7A92-4626-B2F6-EAE40916D23D}" type="sibTrans" cxnId="{2F80E48B-1839-46D5-9823-97B326CBD904}">
      <dgm:prSet/>
      <dgm:spPr/>
      <dgm:t>
        <a:bodyPr/>
        <a:lstStyle/>
        <a:p>
          <a:endParaRPr lang="zh-CN" altLang="en-US"/>
        </a:p>
      </dgm:t>
    </dgm:pt>
    <dgm:pt modelId="{30F3E8FB-8436-47CE-A98E-808D37E6E6F9}">
      <dgm:prSet custT="1"/>
      <dgm:spPr>
        <a:xfrm>
          <a:off x="4986975" y="0"/>
          <a:ext cx="1846259" cy="410178"/>
        </a:xfrm>
        <a:solidFill>
          <a:srgbClr val="6FAEAB">
            <a:hueOff val="-3823266"/>
            <a:satOff val="16500"/>
            <a:lumOff val="736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zh-CN" altLang="en-US" sz="1400" b="1" smtClean="0">
              <a:solidFill>
                <a:srgbClr val="FFFFFF"/>
              </a:solidFill>
              <a:latin typeface="Arial"/>
              <a:ea typeface="黑体"/>
              <a:cs typeface="+mn-cs"/>
            </a:rPr>
            <a:t>正样阶段</a:t>
          </a:r>
          <a:endParaRPr lang="zh-CN" altLang="en-US" sz="1400" b="1" dirty="0">
            <a:solidFill>
              <a:srgbClr val="FFFFFF"/>
            </a:solidFill>
            <a:latin typeface="Arial"/>
            <a:ea typeface="黑体"/>
            <a:cs typeface="+mn-cs"/>
          </a:endParaRPr>
        </a:p>
      </dgm:t>
    </dgm:pt>
    <dgm:pt modelId="{6640038C-6C22-4CCB-80F5-16B3FE839181}" type="parTrans" cxnId="{78958760-3997-44EB-877F-1FA5B0980C43}">
      <dgm:prSet/>
      <dgm:spPr/>
      <dgm:t>
        <a:bodyPr/>
        <a:lstStyle/>
        <a:p>
          <a:endParaRPr lang="zh-CN" altLang="en-US"/>
        </a:p>
      </dgm:t>
    </dgm:pt>
    <dgm:pt modelId="{30F96BA2-B93F-4A50-AEB1-1AF49D2EC88D}" type="sibTrans" cxnId="{78958760-3997-44EB-877F-1FA5B0980C43}">
      <dgm:prSet/>
      <dgm:spPr/>
      <dgm:t>
        <a:bodyPr/>
        <a:lstStyle/>
        <a:p>
          <a:endParaRPr lang="zh-CN" altLang="en-US"/>
        </a:p>
      </dgm:t>
    </dgm:pt>
    <dgm:pt modelId="{5DB14032-475E-44F7-9397-DC07D7E1F9D8}">
      <dgm:prSet custT="1"/>
      <dgm:spPr>
        <a:xfrm>
          <a:off x="6648608" y="0"/>
          <a:ext cx="1846259" cy="410178"/>
        </a:xfrm>
        <a:solidFill>
          <a:srgbClr val="6FAEAB">
            <a:hueOff val="-5097687"/>
            <a:satOff val="22000"/>
            <a:lumOff val="981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zh-CN" altLang="en-US" sz="1400" b="1" dirty="0" smtClean="0">
              <a:solidFill>
                <a:srgbClr val="FFFFFF"/>
              </a:solidFill>
              <a:latin typeface="Arial"/>
              <a:ea typeface="黑体"/>
              <a:cs typeface="+mn-cs"/>
            </a:rPr>
            <a:t>生产定型阶段</a:t>
          </a:r>
          <a:endParaRPr lang="zh-CN" altLang="en-US" sz="1400" b="1" dirty="0">
            <a:solidFill>
              <a:srgbClr val="FFFFFF"/>
            </a:solidFill>
            <a:latin typeface="Arial"/>
            <a:ea typeface="黑体"/>
            <a:cs typeface="+mn-cs"/>
          </a:endParaRPr>
        </a:p>
      </dgm:t>
    </dgm:pt>
    <dgm:pt modelId="{2CDBA7FF-DF88-40D5-92BC-6764CBE10E8E}" type="parTrans" cxnId="{938917F7-F674-474C-ADAE-DA92ADC2D866}">
      <dgm:prSet/>
      <dgm:spPr/>
      <dgm:t>
        <a:bodyPr/>
        <a:lstStyle/>
        <a:p>
          <a:endParaRPr lang="zh-CN" altLang="en-US"/>
        </a:p>
      </dgm:t>
    </dgm:pt>
    <dgm:pt modelId="{CD91F3AD-4B78-4C1C-9FE0-A3B70C6CB8F1}" type="sibTrans" cxnId="{938917F7-F674-474C-ADAE-DA92ADC2D866}">
      <dgm:prSet/>
      <dgm:spPr/>
      <dgm:t>
        <a:bodyPr/>
        <a:lstStyle/>
        <a:p>
          <a:endParaRPr lang="zh-CN" altLang="en-US"/>
        </a:p>
      </dgm:t>
    </dgm:pt>
    <dgm:pt modelId="{81A5C891-54C5-411A-90F0-677849BCF053}">
      <dgm:prSet custT="1"/>
      <dgm:spPr>
        <a:xfrm>
          <a:off x="3325341" y="0"/>
          <a:ext cx="1846259" cy="410178"/>
        </a:xfrm>
        <a:solidFill>
          <a:srgbClr val="6FAEAB">
            <a:hueOff val="-2548844"/>
            <a:satOff val="11000"/>
            <a:lumOff val="49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zh-CN" altLang="en-US" sz="1400" b="1" smtClean="0">
              <a:solidFill>
                <a:srgbClr val="FFFFFF"/>
              </a:solidFill>
              <a:latin typeface="Arial"/>
              <a:ea typeface="黑体"/>
              <a:cs typeface="+mn-cs"/>
            </a:rPr>
            <a:t>模样阶段</a:t>
          </a:r>
          <a:endParaRPr lang="zh-CN" altLang="en-US" sz="1400" b="1" dirty="0">
            <a:solidFill>
              <a:srgbClr val="FFFFFF"/>
            </a:solidFill>
            <a:latin typeface="Arial"/>
            <a:ea typeface="黑体"/>
            <a:cs typeface="+mn-cs"/>
          </a:endParaRPr>
        </a:p>
      </dgm:t>
    </dgm:pt>
    <dgm:pt modelId="{CA4886BB-331D-4D56-B926-36579CC34812}" type="parTrans" cxnId="{DB066319-EB09-43F3-9ED9-3DB2EC35B84D}">
      <dgm:prSet/>
      <dgm:spPr/>
      <dgm:t>
        <a:bodyPr/>
        <a:lstStyle/>
        <a:p>
          <a:endParaRPr lang="zh-CN" altLang="en-US"/>
        </a:p>
      </dgm:t>
    </dgm:pt>
    <dgm:pt modelId="{FB3F4D3C-8176-4542-B0B4-262247E0C909}" type="sibTrans" cxnId="{DB066319-EB09-43F3-9ED9-3DB2EC35B84D}">
      <dgm:prSet/>
      <dgm:spPr/>
      <dgm:t>
        <a:bodyPr/>
        <a:lstStyle/>
        <a:p>
          <a:endParaRPr lang="zh-CN" altLang="en-US"/>
        </a:p>
      </dgm:t>
    </dgm:pt>
    <dgm:pt modelId="{9F519182-9B5C-487F-8611-5AD7BB8655BA}" type="pres">
      <dgm:prSet presAssocID="{6D263F79-C375-43B4-A7A9-0E022CEB33B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CA665672-4130-4642-BEC7-E09328C17468}" type="pres">
      <dgm:prSet presAssocID="{B603AE3D-D249-426B-A9B3-AD7E22D09F01}" presName="parTxOnly" presStyleLbl="node1" presStyleIdx="0" presStyleCnt="5" custScaleX="79103">
        <dgm:presLayoutVars>
          <dgm:chMax val="0"/>
          <dgm:chPref val="0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zh-CN" altLang="en-US"/>
        </a:p>
      </dgm:t>
    </dgm:pt>
    <dgm:pt modelId="{C194C435-96D3-4836-9C2E-8E513E7AA16F}" type="pres">
      <dgm:prSet presAssocID="{B6F793D1-7A92-4626-B2F6-EAE40916D23D}" presName="parTxOnlySpace" presStyleCnt="0"/>
      <dgm:spPr/>
    </dgm:pt>
    <dgm:pt modelId="{956BA890-456C-40B6-82B4-615252E432A2}" type="pres">
      <dgm:prSet presAssocID="{81A5C891-54C5-411A-90F0-677849BCF053}" presName="parTxOnly" presStyleLbl="node1" presStyleIdx="1" presStyleCnt="5" custLinFactNeighborX="-15249">
        <dgm:presLayoutVars>
          <dgm:chMax val="0"/>
          <dgm:chPref val="0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zh-CN" altLang="en-US"/>
        </a:p>
      </dgm:t>
    </dgm:pt>
    <dgm:pt modelId="{3ED4AB9E-E6B0-4DB5-8F2D-ABAEDA35AC17}" type="pres">
      <dgm:prSet presAssocID="{FB3F4D3C-8176-4542-B0B4-262247E0C909}" presName="parTxOnlySpace" presStyleCnt="0"/>
      <dgm:spPr/>
    </dgm:pt>
    <dgm:pt modelId="{6CF1BE27-7B19-4FFE-BF48-39E4A03BFE02}" type="pres">
      <dgm:prSet presAssocID="{31A7EB89-9219-42D3-923F-53BF5052F91F}" presName="parTxOnly" presStyleLbl="node1" presStyleIdx="2" presStyleCnt="5" custScaleX="121778">
        <dgm:presLayoutVars>
          <dgm:chMax val="0"/>
          <dgm:chPref val="0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zh-CN" altLang="en-US"/>
        </a:p>
      </dgm:t>
    </dgm:pt>
    <dgm:pt modelId="{9394032D-BF69-4ED3-944C-438C289DB7FF}" type="pres">
      <dgm:prSet presAssocID="{C1437AE4-62F3-48D7-B419-4CD9E2C0F7C7}" presName="parTxOnlySpace" presStyleCnt="0"/>
      <dgm:spPr/>
    </dgm:pt>
    <dgm:pt modelId="{B47ADFD5-E067-46C7-A6C2-7A6AA93E5132}" type="pres">
      <dgm:prSet presAssocID="{30F3E8FB-8436-47CE-A98E-808D37E6E6F9}" presName="parTxOnly" presStyleLbl="node1" presStyleIdx="3" presStyleCnt="5" custLinFactX="-4063" custLinFactNeighborX="-100000" custLinFactNeighborY="2436">
        <dgm:presLayoutVars>
          <dgm:chMax val="0"/>
          <dgm:chPref val="0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zh-CN" altLang="en-US"/>
        </a:p>
      </dgm:t>
    </dgm:pt>
    <dgm:pt modelId="{CCE1CFC3-9460-47B0-AF7C-870F2B3E9090}" type="pres">
      <dgm:prSet presAssocID="{30F96BA2-B93F-4A50-AEB1-1AF49D2EC88D}" presName="parTxOnlySpace" presStyleCnt="0"/>
      <dgm:spPr/>
    </dgm:pt>
    <dgm:pt modelId="{E660AD03-60C7-46EB-8CCD-AE6FD14D3F5B}" type="pres">
      <dgm:prSet presAssocID="{5DB14032-475E-44F7-9397-DC07D7E1F9D8}" presName="parTxOnly" presStyleLbl="node1" presStyleIdx="4" presStyleCnt="5" custLinFactX="-3511" custLinFactNeighborX="-100000">
        <dgm:presLayoutVars>
          <dgm:chMax val="0"/>
          <dgm:chPref val="0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zh-CN" altLang="en-US"/>
        </a:p>
      </dgm:t>
    </dgm:pt>
  </dgm:ptLst>
  <dgm:cxnLst>
    <dgm:cxn modelId="{938917F7-F674-474C-ADAE-DA92ADC2D866}" srcId="{6D263F79-C375-43B4-A7A9-0E022CEB33B8}" destId="{5DB14032-475E-44F7-9397-DC07D7E1F9D8}" srcOrd="4" destOrd="0" parTransId="{2CDBA7FF-DF88-40D5-92BC-6764CBE10E8E}" sibTransId="{CD91F3AD-4B78-4C1C-9FE0-A3B70C6CB8F1}"/>
    <dgm:cxn modelId="{39B65905-411A-422C-86A4-2D9DFFB97A4C}" type="presOf" srcId="{5DB14032-475E-44F7-9397-DC07D7E1F9D8}" destId="{E660AD03-60C7-46EB-8CCD-AE6FD14D3F5B}" srcOrd="0" destOrd="0" presId="urn:microsoft.com/office/officeart/2005/8/layout/chevron1"/>
    <dgm:cxn modelId="{BAE50B86-9F1E-47AB-ACAC-A4BAD1D095D8}" srcId="{6D263F79-C375-43B4-A7A9-0E022CEB33B8}" destId="{31A7EB89-9219-42D3-923F-53BF5052F91F}" srcOrd="2" destOrd="0" parTransId="{376E13C9-BF1F-46C9-8BD4-B86E1ED0ECD0}" sibTransId="{C1437AE4-62F3-48D7-B419-4CD9E2C0F7C7}"/>
    <dgm:cxn modelId="{78958760-3997-44EB-877F-1FA5B0980C43}" srcId="{6D263F79-C375-43B4-A7A9-0E022CEB33B8}" destId="{30F3E8FB-8436-47CE-A98E-808D37E6E6F9}" srcOrd="3" destOrd="0" parTransId="{6640038C-6C22-4CCB-80F5-16B3FE839181}" sibTransId="{30F96BA2-B93F-4A50-AEB1-1AF49D2EC88D}"/>
    <dgm:cxn modelId="{0D84BF98-BFC3-48AD-B554-A8EAFA954938}" type="presOf" srcId="{31A7EB89-9219-42D3-923F-53BF5052F91F}" destId="{6CF1BE27-7B19-4FFE-BF48-39E4A03BFE02}" srcOrd="0" destOrd="0" presId="urn:microsoft.com/office/officeart/2005/8/layout/chevron1"/>
    <dgm:cxn modelId="{1FD67729-FAB5-4DE7-B8D1-68D040A9748F}" type="presOf" srcId="{30F3E8FB-8436-47CE-A98E-808D37E6E6F9}" destId="{B47ADFD5-E067-46C7-A6C2-7A6AA93E5132}" srcOrd="0" destOrd="0" presId="urn:microsoft.com/office/officeart/2005/8/layout/chevron1"/>
    <dgm:cxn modelId="{2F80E48B-1839-46D5-9823-97B326CBD904}" srcId="{6D263F79-C375-43B4-A7A9-0E022CEB33B8}" destId="{B603AE3D-D249-426B-A9B3-AD7E22D09F01}" srcOrd="0" destOrd="0" parTransId="{5CBA09A6-97BB-4A5B-A109-AEF3AEEF4471}" sibTransId="{B6F793D1-7A92-4626-B2F6-EAE40916D23D}"/>
    <dgm:cxn modelId="{DB066319-EB09-43F3-9ED9-3DB2EC35B84D}" srcId="{6D263F79-C375-43B4-A7A9-0E022CEB33B8}" destId="{81A5C891-54C5-411A-90F0-677849BCF053}" srcOrd="1" destOrd="0" parTransId="{CA4886BB-331D-4D56-B926-36579CC34812}" sibTransId="{FB3F4D3C-8176-4542-B0B4-262247E0C909}"/>
    <dgm:cxn modelId="{C24F6DF1-9E40-46B2-9D12-B3AE0C81A358}" type="presOf" srcId="{81A5C891-54C5-411A-90F0-677849BCF053}" destId="{956BA890-456C-40B6-82B4-615252E432A2}" srcOrd="0" destOrd="0" presId="urn:microsoft.com/office/officeart/2005/8/layout/chevron1"/>
    <dgm:cxn modelId="{284FBFD2-2BB4-4AE7-B346-66D1285A131B}" type="presOf" srcId="{B603AE3D-D249-426B-A9B3-AD7E22D09F01}" destId="{CA665672-4130-4642-BEC7-E09328C17468}" srcOrd="0" destOrd="0" presId="urn:microsoft.com/office/officeart/2005/8/layout/chevron1"/>
    <dgm:cxn modelId="{FF2915C3-6B1E-47C2-B0A9-6C3AE7B6FFBC}" type="presOf" srcId="{6D263F79-C375-43B4-A7A9-0E022CEB33B8}" destId="{9F519182-9B5C-487F-8611-5AD7BB8655BA}" srcOrd="0" destOrd="0" presId="urn:microsoft.com/office/officeart/2005/8/layout/chevron1"/>
    <dgm:cxn modelId="{F811A8E3-E7C9-4C52-A2CE-3489410ACB8D}" type="presParOf" srcId="{9F519182-9B5C-487F-8611-5AD7BB8655BA}" destId="{CA665672-4130-4642-BEC7-E09328C17468}" srcOrd="0" destOrd="0" presId="urn:microsoft.com/office/officeart/2005/8/layout/chevron1"/>
    <dgm:cxn modelId="{27035EF2-E1E3-47A4-9573-549536075C3A}" type="presParOf" srcId="{9F519182-9B5C-487F-8611-5AD7BB8655BA}" destId="{C194C435-96D3-4836-9C2E-8E513E7AA16F}" srcOrd="1" destOrd="0" presId="urn:microsoft.com/office/officeart/2005/8/layout/chevron1"/>
    <dgm:cxn modelId="{10498F00-23BA-442C-9648-EA9E17D01A41}" type="presParOf" srcId="{9F519182-9B5C-487F-8611-5AD7BB8655BA}" destId="{956BA890-456C-40B6-82B4-615252E432A2}" srcOrd="2" destOrd="0" presId="urn:microsoft.com/office/officeart/2005/8/layout/chevron1"/>
    <dgm:cxn modelId="{E91E93E7-B7AF-4208-B5EB-0B6D1DF39637}" type="presParOf" srcId="{9F519182-9B5C-487F-8611-5AD7BB8655BA}" destId="{3ED4AB9E-E6B0-4DB5-8F2D-ABAEDA35AC17}" srcOrd="3" destOrd="0" presId="urn:microsoft.com/office/officeart/2005/8/layout/chevron1"/>
    <dgm:cxn modelId="{BFFF663F-15ED-4A15-B347-07BE923660B8}" type="presParOf" srcId="{9F519182-9B5C-487F-8611-5AD7BB8655BA}" destId="{6CF1BE27-7B19-4FFE-BF48-39E4A03BFE02}" srcOrd="4" destOrd="0" presId="urn:microsoft.com/office/officeart/2005/8/layout/chevron1"/>
    <dgm:cxn modelId="{4830CB69-2B8A-434F-B1BF-BA024DA1C868}" type="presParOf" srcId="{9F519182-9B5C-487F-8611-5AD7BB8655BA}" destId="{9394032D-BF69-4ED3-944C-438C289DB7FF}" srcOrd="5" destOrd="0" presId="urn:microsoft.com/office/officeart/2005/8/layout/chevron1"/>
    <dgm:cxn modelId="{E92FD292-C88C-4CD2-922A-E287DD096793}" type="presParOf" srcId="{9F519182-9B5C-487F-8611-5AD7BB8655BA}" destId="{B47ADFD5-E067-46C7-A6C2-7A6AA93E5132}" srcOrd="6" destOrd="0" presId="urn:microsoft.com/office/officeart/2005/8/layout/chevron1"/>
    <dgm:cxn modelId="{98D7F812-56C9-4F45-9DD4-9D78750D3953}" type="presParOf" srcId="{9F519182-9B5C-487F-8611-5AD7BB8655BA}" destId="{CCE1CFC3-9460-47B0-AF7C-870F2B3E9090}" srcOrd="7" destOrd="0" presId="urn:microsoft.com/office/officeart/2005/8/layout/chevron1"/>
    <dgm:cxn modelId="{28E3443C-CA5B-4097-BF4F-C60014B40D76}" type="presParOf" srcId="{9F519182-9B5C-487F-8611-5AD7BB8655BA}" destId="{E660AD03-60C7-46EB-8CCD-AE6FD14D3F5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BB3F5E-68EE-42E8-8E5E-39263A4608D9}" type="doc">
      <dgm:prSet loTypeId="urn:microsoft.com/office/officeart/2005/8/layout/radial6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2AA10C5-89E1-45E9-BC7C-EE360246FAC1}">
      <dgm:prSet phldrT="[文本]" custT="1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sz="2000" b="1" smtClean="0"/>
            <a:t>权限控制</a:t>
          </a:r>
          <a:endParaRPr lang="zh-CN" altLang="en-US" sz="2000" b="1"/>
        </a:p>
      </dgm:t>
    </dgm:pt>
    <dgm:pt modelId="{5A924DF7-9678-4D8E-BCE4-C79DD1250088}" type="parTrans" cxnId="{ABBBFDDE-8F8B-4A60-AFD1-B158E1D6C104}">
      <dgm:prSet/>
      <dgm:spPr/>
      <dgm:t>
        <a:bodyPr/>
        <a:lstStyle/>
        <a:p>
          <a:endParaRPr lang="zh-CN" altLang="en-US"/>
        </a:p>
      </dgm:t>
    </dgm:pt>
    <dgm:pt modelId="{A3285DD4-B08D-4BF0-80A4-08086AE94DEA}" type="sibTrans" cxnId="{ABBBFDDE-8F8B-4A60-AFD1-B158E1D6C104}">
      <dgm:prSet/>
      <dgm:spPr/>
      <dgm:t>
        <a:bodyPr/>
        <a:lstStyle/>
        <a:p>
          <a:endParaRPr lang="zh-CN" altLang="en-US"/>
        </a:p>
      </dgm:t>
    </dgm:pt>
    <dgm:pt modelId="{CAF58FDE-0FD4-489F-B28C-F421F05BB381}">
      <dgm:prSet phldrT="[文本]"/>
      <dgm:spPr/>
      <dgm:t>
        <a:bodyPr/>
        <a:lstStyle/>
        <a:p>
          <a:r>
            <a:rPr lang="zh-CN" altLang="en-US" smtClean="0"/>
            <a:t>动态</a:t>
          </a:r>
          <a:endParaRPr lang="en-US" altLang="zh-CN" smtClean="0"/>
        </a:p>
        <a:p>
          <a:r>
            <a:rPr lang="zh-CN" altLang="en-US" smtClean="0"/>
            <a:t>权限</a:t>
          </a:r>
          <a:endParaRPr lang="zh-CN" altLang="en-US"/>
        </a:p>
      </dgm:t>
    </dgm:pt>
    <dgm:pt modelId="{180C285A-A869-49D4-B9FE-878D045BDA9E}" type="parTrans" cxnId="{212E3C4B-F729-441D-B7E2-03BFFDFEFD7F}">
      <dgm:prSet/>
      <dgm:spPr/>
      <dgm:t>
        <a:bodyPr/>
        <a:lstStyle/>
        <a:p>
          <a:endParaRPr lang="zh-CN" altLang="en-US"/>
        </a:p>
      </dgm:t>
    </dgm:pt>
    <dgm:pt modelId="{59366C86-4C07-479E-868A-353C50EAC652}" type="sibTrans" cxnId="{212E3C4B-F729-441D-B7E2-03BFFDFEFD7F}">
      <dgm:prSet/>
      <dgm:spPr/>
      <dgm:t>
        <a:bodyPr/>
        <a:lstStyle/>
        <a:p>
          <a:endParaRPr lang="zh-CN" altLang="en-US"/>
        </a:p>
      </dgm:t>
    </dgm:pt>
    <dgm:pt modelId="{96EC79F2-2EAD-475E-95C6-38C303B62F48}">
      <dgm:prSet phldrT="[文本]"/>
      <dgm:spPr/>
      <dgm:t>
        <a:bodyPr/>
        <a:lstStyle/>
        <a:p>
          <a:r>
            <a:rPr lang="zh-CN" altLang="en-US" smtClean="0"/>
            <a:t>产品经理分配</a:t>
          </a:r>
          <a:endParaRPr lang="zh-CN" altLang="en-US"/>
        </a:p>
      </dgm:t>
    </dgm:pt>
    <dgm:pt modelId="{A38A652A-A80A-4B18-AF17-2A778A18128D}" type="parTrans" cxnId="{7F4ADD71-8FA6-41DA-A81E-8468C876F7B3}">
      <dgm:prSet/>
      <dgm:spPr/>
      <dgm:t>
        <a:bodyPr/>
        <a:lstStyle/>
        <a:p>
          <a:endParaRPr lang="zh-CN" altLang="en-US"/>
        </a:p>
      </dgm:t>
    </dgm:pt>
    <dgm:pt modelId="{2F7669BC-E1BF-44CF-A4D0-F76172B10751}" type="sibTrans" cxnId="{7F4ADD71-8FA6-41DA-A81E-8468C876F7B3}">
      <dgm:prSet/>
      <dgm:spPr/>
      <dgm:t>
        <a:bodyPr/>
        <a:lstStyle/>
        <a:p>
          <a:endParaRPr lang="zh-CN" altLang="en-US"/>
        </a:p>
      </dgm:t>
    </dgm:pt>
    <dgm:pt modelId="{B0CB285D-29E1-42CD-A543-EAE9DAC2A880}">
      <dgm:prSet phldrT="[文本]"/>
      <dgm:spPr/>
      <dgm:t>
        <a:bodyPr/>
        <a:lstStyle/>
        <a:p>
          <a:r>
            <a:rPr lang="zh-CN" altLang="en-US" smtClean="0"/>
            <a:t>委派</a:t>
          </a:r>
          <a:endParaRPr lang="zh-CN" altLang="en-US"/>
        </a:p>
      </dgm:t>
    </dgm:pt>
    <dgm:pt modelId="{20B100F2-3F2C-4AC6-B7CC-6C045DE8743C}" type="parTrans" cxnId="{B78C65B7-B90D-44E9-B32D-2DBDF4AB376D}">
      <dgm:prSet/>
      <dgm:spPr/>
      <dgm:t>
        <a:bodyPr/>
        <a:lstStyle/>
        <a:p>
          <a:endParaRPr lang="zh-CN" altLang="en-US"/>
        </a:p>
      </dgm:t>
    </dgm:pt>
    <dgm:pt modelId="{4D47E5E8-2113-4185-ABA0-3C2F63AD5AFD}" type="sibTrans" cxnId="{B78C65B7-B90D-44E9-B32D-2DBDF4AB376D}">
      <dgm:prSet/>
      <dgm:spPr/>
      <dgm:t>
        <a:bodyPr/>
        <a:lstStyle/>
        <a:p>
          <a:endParaRPr lang="zh-CN" altLang="en-US"/>
        </a:p>
      </dgm:t>
    </dgm:pt>
    <dgm:pt modelId="{1756D6DB-D41F-4961-8B5D-B67CB5EB2D59}">
      <dgm:prSet phldrT="[文本]"/>
      <dgm:spPr/>
      <dgm:t>
        <a:bodyPr/>
        <a:lstStyle/>
        <a:p>
          <a:r>
            <a:rPr lang="zh-CN" altLang="en-US" smtClean="0"/>
            <a:t>静态</a:t>
          </a:r>
          <a:endParaRPr lang="en-US" altLang="zh-CN" smtClean="0"/>
        </a:p>
        <a:p>
          <a:r>
            <a:rPr lang="zh-CN" altLang="en-US" smtClean="0"/>
            <a:t>权限</a:t>
          </a:r>
          <a:endParaRPr lang="zh-CN" altLang="en-US"/>
        </a:p>
      </dgm:t>
    </dgm:pt>
    <dgm:pt modelId="{E3D9A1F8-F399-4FFE-B0F0-842F0F1539FC}" type="parTrans" cxnId="{5BE68E90-FCE0-4A2E-BBD6-5EE7928EBC0A}">
      <dgm:prSet/>
      <dgm:spPr/>
      <dgm:t>
        <a:bodyPr/>
        <a:lstStyle/>
        <a:p>
          <a:endParaRPr lang="zh-CN" altLang="en-US"/>
        </a:p>
      </dgm:t>
    </dgm:pt>
    <dgm:pt modelId="{A8BC71F0-E504-4E8E-87EC-22959DFD1655}" type="sibTrans" cxnId="{5BE68E90-FCE0-4A2E-BBD6-5EE7928EBC0A}">
      <dgm:prSet/>
      <dgm:spPr/>
      <dgm:t>
        <a:bodyPr/>
        <a:lstStyle/>
        <a:p>
          <a:endParaRPr lang="zh-CN" altLang="en-US"/>
        </a:p>
      </dgm:t>
    </dgm:pt>
    <dgm:pt modelId="{61876F5D-FBC4-4984-A35E-9EFAA172D0F1}">
      <dgm:prSet/>
      <dgm:spPr/>
      <dgm:t>
        <a:bodyPr/>
        <a:lstStyle/>
        <a:p>
          <a:r>
            <a:rPr lang="zh-CN" altLang="en-US" smtClean="0"/>
            <a:t>权限</a:t>
          </a:r>
          <a:endParaRPr lang="en-US" altLang="zh-CN" smtClean="0"/>
        </a:p>
        <a:p>
          <a:r>
            <a:rPr lang="zh-CN" altLang="en-US" smtClean="0"/>
            <a:t>传递</a:t>
          </a:r>
          <a:endParaRPr lang="zh-CN" altLang="en-US"/>
        </a:p>
      </dgm:t>
    </dgm:pt>
    <dgm:pt modelId="{0A1C9BA2-F6C2-40A1-BEDA-62104CA2AF5F}" type="parTrans" cxnId="{B2033F96-BF4E-46FA-9C40-E37A71F84A39}">
      <dgm:prSet/>
      <dgm:spPr/>
      <dgm:t>
        <a:bodyPr/>
        <a:lstStyle/>
        <a:p>
          <a:endParaRPr lang="zh-CN" altLang="en-US"/>
        </a:p>
      </dgm:t>
    </dgm:pt>
    <dgm:pt modelId="{6919DFEC-607A-4917-964F-33E9F958C799}" type="sibTrans" cxnId="{B2033F96-BF4E-46FA-9C40-E37A71F84A39}">
      <dgm:prSet/>
      <dgm:spPr/>
      <dgm:t>
        <a:bodyPr/>
        <a:lstStyle/>
        <a:p>
          <a:endParaRPr lang="zh-CN" altLang="en-US"/>
        </a:p>
      </dgm:t>
    </dgm:pt>
    <dgm:pt modelId="{B9034421-B907-469B-B355-77F897E6B34F}" type="pres">
      <dgm:prSet presAssocID="{3DBB3F5E-68EE-42E8-8E5E-39263A4608D9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C586E26-44A0-4B2C-8D51-CFD79419C19C}" type="pres">
      <dgm:prSet presAssocID="{42AA10C5-89E1-45E9-BC7C-EE360246FAC1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166C92FD-C603-4DB2-9551-89142E3F7AE6}" type="pres">
      <dgm:prSet presAssocID="{CAF58FDE-0FD4-489F-B28C-F421F05BB381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D67437E-D2B3-42AF-90C6-656F1BCFC0B6}" type="pres">
      <dgm:prSet presAssocID="{CAF58FDE-0FD4-489F-B28C-F421F05BB381}" presName="dummy" presStyleCnt="0"/>
      <dgm:spPr/>
    </dgm:pt>
    <dgm:pt modelId="{CE5EEED2-5E2D-49C5-8477-C5CFE405889A}" type="pres">
      <dgm:prSet presAssocID="{59366C86-4C07-479E-868A-353C50EAC652}" presName="sibTrans" presStyleLbl="sibTrans2D1" presStyleIdx="0" presStyleCnt="5"/>
      <dgm:spPr/>
      <dgm:t>
        <a:bodyPr/>
        <a:lstStyle/>
        <a:p>
          <a:endParaRPr lang="zh-CN" altLang="en-US"/>
        </a:p>
      </dgm:t>
    </dgm:pt>
    <dgm:pt modelId="{A4ED268A-A612-4F67-919A-825FB4617A33}" type="pres">
      <dgm:prSet presAssocID="{96EC79F2-2EAD-475E-95C6-38C303B62F48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8B75F56-7775-43F0-9F24-BA191CB95207}" type="pres">
      <dgm:prSet presAssocID="{96EC79F2-2EAD-475E-95C6-38C303B62F48}" presName="dummy" presStyleCnt="0"/>
      <dgm:spPr/>
    </dgm:pt>
    <dgm:pt modelId="{276366BE-A748-4B8F-839E-B0143B8DD156}" type="pres">
      <dgm:prSet presAssocID="{2F7669BC-E1BF-44CF-A4D0-F76172B10751}" presName="sibTrans" presStyleLbl="sibTrans2D1" presStyleIdx="1" presStyleCnt="5"/>
      <dgm:spPr/>
      <dgm:t>
        <a:bodyPr/>
        <a:lstStyle/>
        <a:p>
          <a:endParaRPr lang="zh-CN" altLang="en-US"/>
        </a:p>
      </dgm:t>
    </dgm:pt>
    <dgm:pt modelId="{B03BA4F6-8135-4892-A905-84AEFCE3CD17}" type="pres">
      <dgm:prSet presAssocID="{61876F5D-FBC4-4984-A35E-9EFAA172D0F1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04DB34C-A7BD-41F6-B82E-7BE5D46D5871}" type="pres">
      <dgm:prSet presAssocID="{61876F5D-FBC4-4984-A35E-9EFAA172D0F1}" presName="dummy" presStyleCnt="0"/>
      <dgm:spPr/>
    </dgm:pt>
    <dgm:pt modelId="{660C5B3C-BE68-448E-8C28-F1A984D16918}" type="pres">
      <dgm:prSet presAssocID="{6919DFEC-607A-4917-964F-33E9F958C799}" presName="sibTrans" presStyleLbl="sibTrans2D1" presStyleIdx="2" presStyleCnt="5"/>
      <dgm:spPr/>
      <dgm:t>
        <a:bodyPr/>
        <a:lstStyle/>
        <a:p>
          <a:endParaRPr lang="zh-CN" altLang="en-US"/>
        </a:p>
      </dgm:t>
    </dgm:pt>
    <dgm:pt modelId="{53E636B7-5BB1-494B-B0E1-167D0E9A86CD}" type="pres">
      <dgm:prSet presAssocID="{B0CB285D-29E1-42CD-A543-EAE9DAC2A880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8BD3ACA-8495-4361-A140-A66F4780CEF5}" type="pres">
      <dgm:prSet presAssocID="{B0CB285D-29E1-42CD-A543-EAE9DAC2A880}" presName="dummy" presStyleCnt="0"/>
      <dgm:spPr/>
    </dgm:pt>
    <dgm:pt modelId="{C7DAD20F-6C40-42CD-B8BF-30380295496B}" type="pres">
      <dgm:prSet presAssocID="{4D47E5E8-2113-4185-ABA0-3C2F63AD5AFD}" presName="sibTrans" presStyleLbl="sibTrans2D1" presStyleIdx="3" presStyleCnt="5"/>
      <dgm:spPr/>
      <dgm:t>
        <a:bodyPr/>
        <a:lstStyle/>
        <a:p>
          <a:endParaRPr lang="zh-CN" altLang="en-US"/>
        </a:p>
      </dgm:t>
    </dgm:pt>
    <dgm:pt modelId="{525A5EBA-C7D6-4AC1-868B-9759E9619179}" type="pres">
      <dgm:prSet presAssocID="{1756D6DB-D41F-4961-8B5D-B67CB5EB2D59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B489278-0379-43D5-8BB1-945E588F3871}" type="pres">
      <dgm:prSet presAssocID="{1756D6DB-D41F-4961-8B5D-B67CB5EB2D59}" presName="dummy" presStyleCnt="0"/>
      <dgm:spPr/>
    </dgm:pt>
    <dgm:pt modelId="{656E210C-AEA4-410D-B191-1CC0FF7AB907}" type="pres">
      <dgm:prSet presAssocID="{A8BC71F0-E504-4E8E-87EC-22959DFD1655}" presName="sibTrans" presStyleLbl="sibTrans2D1" presStyleIdx="4" presStyleCnt="5"/>
      <dgm:spPr/>
      <dgm:t>
        <a:bodyPr/>
        <a:lstStyle/>
        <a:p>
          <a:endParaRPr lang="zh-CN" altLang="en-US"/>
        </a:p>
      </dgm:t>
    </dgm:pt>
  </dgm:ptLst>
  <dgm:cxnLst>
    <dgm:cxn modelId="{8E311524-544C-48C4-BFAA-FD031DB01E8B}" type="presOf" srcId="{6919DFEC-607A-4917-964F-33E9F958C799}" destId="{660C5B3C-BE68-448E-8C28-F1A984D16918}" srcOrd="0" destOrd="0" presId="urn:microsoft.com/office/officeart/2005/8/layout/radial6"/>
    <dgm:cxn modelId="{C72DD8AA-B793-4ED4-92EF-22151D8B579F}" type="presOf" srcId="{59366C86-4C07-479E-868A-353C50EAC652}" destId="{CE5EEED2-5E2D-49C5-8477-C5CFE405889A}" srcOrd="0" destOrd="0" presId="urn:microsoft.com/office/officeart/2005/8/layout/radial6"/>
    <dgm:cxn modelId="{212E3C4B-F729-441D-B7E2-03BFFDFEFD7F}" srcId="{42AA10C5-89E1-45E9-BC7C-EE360246FAC1}" destId="{CAF58FDE-0FD4-489F-B28C-F421F05BB381}" srcOrd="0" destOrd="0" parTransId="{180C285A-A869-49D4-B9FE-878D045BDA9E}" sibTransId="{59366C86-4C07-479E-868A-353C50EAC652}"/>
    <dgm:cxn modelId="{76490EAA-716C-4C40-930F-A0D22BB6E76D}" type="presOf" srcId="{B0CB285D-29E1-42CD-A543-EAE9DAC2A880}" destId="{53E636B7-5BB1-494B-B0E1-167D0E9A86CD}" srcOrd="0" destOrd="0" presId="urn:microsoft.com/office/officeart/2005/8/layout/radial6"/>
    <dgm:cxn modelId="{3A40D8D9-7C84-4C45-A81D-B8F0745145F8}" type="presOf" srcId="{A8BC71F0-E504-4E8E-87EC-22959DFD1655}" destId="{656E210C-AEA4-410D-B191-1CC0FF7AB907}" srcOrd="0" destOrd="0" presId="urn:microsoft.com/office/officeart/2005/8/layout/radial6"/>
    <dgm:cxn modelId="{792BBABA-758C-4C5E-88DD-2E12A69DCC63}" type="presOf" srcId="{42AA10C5-89E1-45E9-BC7C-EE360246FAC1}" destId="{2C586E26-44A0-4B2C-8D51-CFD79419C19C}" srcOrd="0" destOrd="0" presId="urn:microsoft.com/office/officeart/2005/8/layout/radial6"/>
    <dgm:cxn modelId="{1B626CDD-6724-4CC8-ACB9-11CE483BA5F3}" type="presOf" srcId="{2F7669BC-E1BF-44CF-A4D0-F76172B10751}" destId="{276366BE-A748-4B8F-839E-B0143B8DD156}" srcOrd="0" destOrd="0" presId="urn:microsoft.com/office/officeart/2005/8/layout/radial6"/>
    <dgm:cxn modelId="{5BE68E90-FCE0-4A2E-BBD6-5EE7928EBC0A}" srcId="{42AA10C5-89E1-45E9-BC7C-EE360246FAC1}" destId="{1756D6DB-D41F-4961-8B5D-B67CB5EB2D59}" srcOrd="4" destOrd="0" parTransId="{E3D9A1F8-F399-4FFE-B0F0-842F0F1539FC}" sibTransId="{A8BC71F0-E504-4E8E-87EC-22959DFD1655}"/>
    <dgm:cxn modelId="{AC3A24F4-547C-4853-8B9E-2814AE1B42C1}" type="presOf" srcId="{3DBB3F5E-68EE-42E8-8E5E-39263A4608D9}" destId="{B9034421-B907-469B-B355-77F897E6B34F}" srcOrd="0" destOrd="0" presId="urn:microsoft.com/office/officeart/2005/8/layout/radial6"/>
    <dgm:cxn modelId="{07BCA529-6785-4ADC-A096-14A873DECBE8}" type="presOf" srcId="{61876F5D-FBC4-4984-A35E-9EFAA172D0F1}" destId="{B03BA4F6-8135-4892-A905-84AEFCE3CD17}" srcOrd="0" destOrd="0" presId="urn:microsoft.com/office/officeart/2005/8/layout/radial6"/>
    <dgm:cxn modelId="{8A7821C4-09F8-4E71-BA1A-AEC0D602BBA2}" type="presOf" srcId="{1756D6DB-D41F-4961-8B5D-B67CB5EB2D59}" destId="{525A5EBA-C7D6-4AC1-868B-9759E9619179}" srcOrd="0" destOrd="0" presId="urn:microsoft.com/office/officeart/2005/8/layout/radial6"/>
    <dgm:cxn modelId="{B78C65B7-B90D-44E9-B32D-2DBDF4AB376D}" srcId="{42AA10C5-89E1-45E9-BC7C-EE360246FAC1}" destId="{B0CB285D-29E1-42CD-A543-EAE9DAC2A880}" srcOrd="3" destOrd="0" parTransId="{20B100F2-3F2C-4AC6-B7CC-6C045DE8743C}" sibTransId="{4D47E5E8-2113-4185-ABA0-3C2F63AD5AFD}"/>
    <dgm:cxn modelId="{015143E6-4EB5-4294-AE2A-763F7D65F8E0}" type="presOf" srcId="{96EC79F2-2EAD-475E-95C6-38C303B62F48}" destId="{A4ED268A-A612-4F67-919A-825FB4617A33}" srcOrd="0" destOrd="0" presId="urn:microsoft.com/office/officeart/2005/8/layout/radial6"/>
    <dgm:cxn modelId="{7F4ADD71-8FA6-41DA-A81E-8468C876F7B3}" srcId="{42AA10C5-89E1-45E9-BC7C-EE360246FAC1}" destId="{96EC79F2-2EAD-475E-95C6-38C303B62F48}" srcOrd="1" destOrd="0" parTransId="{A38A652A-A80A-4B18-AF17-2A778A18128D}" sibTransId="{2F7669BC-E1BF-44CF-A4D0-F76172B10751}"/>
    <dgm:cxn modelId="{B2033F96-BF4E-46FA-9C40-E37A71F84A39}" srcId="{42AA10C5-89E1-45E9-BC7C-EE360246FAC1}" destId="{61876F5D-FBC4-4984-A35E-9EFAA172D0F1}" srcOrd="2" destOrd="0" parTransId="{0A1C9BA2-F6C2-40A1-BEDA-62104CA2AF5F}" sibTransId="{6919DFEC-607A-4917-964F-33E9F958C799}"/>
    <dgm:cxn modelId="{1FE6B3F2-3B52-4815-A8B7-9C8F8DA44969}" type="presOf" srcId="{CAF58FDE-0FD4-489F-B28C-F421F05BB381}" destId="{166C92FD-C603-4DB2-9551-89142E3F7AE6}" srcOrd="0" destOrd="0" presId="urn:microsoft.com/office/officeart/2005/8/layout/radial6"/>
    <dgm:cxn modelId="{87DBED20-06A1-4341-813C-70096BD8680A}" type="presOf" srcId="{4D47E5E8-2113-4185-ABA0-3C2F63AD5AFD}" destId="{C7DAD20F-6C40-42CD-B8BF-30380295496B}" srcOrd="0" destOrd="0" presId="urn:microsoft.com/office/officeart/2005/8/layout/radial6"/>
    <dgm:cxn modelId="{ABBBFDDE-8F8B-4A60-AFD1-B158E1D6C104}" srcId="{3DBB3F5E-68EE-42E8-8E5E-39263A4608D9}" destId="{42AA10C5-89E1-45E9-BC7C-EE360246FAC1}" srcOrd="0" destOrd="0" parTransId="{5A924DF7-9678-4D8E-BCE4-C79DD1250088}" sibTransId="{A3285DD4-B08D-4BF0-80A4-08086AE94DEA}"/>
    <dgm:cxn modelId="{9BE2D81E-6D64-4C55-9A05-06FFADC13651}" type="presParOf" srcId="{B9034421-B907-469B-B355-77F897E6B34F}" destId="{2C586E26-44A0-4B2C-8D51-CFD79419C19C}" srcOrd="0" destOrd="0" presId="urn:microsoft.com/office/officeart/2005/8/layout/radial6"/>
    <dgm:cxn modelId="{75DECF68-ACD8-431E-B64F-2C4B1E3F2269}" type="presParOf" srcId="{B9034421-B907-469B-B355-77F897E6B34F}" destId="{166C92FD-C603-4DB2-9551-89142E3F7AE6}" srcOrd="1" destOrd="0" presId="urn:microsoft.com/office/officeart/2005/8/layout/radial6"/>
    <dgm:cxn modelId="{363E86A6-A476-4CAE-B5A7-26EE95B054A3}" type="presParOf" srcId="{B9034421-B907-469B-B355-77F897E6B34F}" destId="{BD67437E-D2B3-42AF-90C6-656F1BCFC0B6}" srcOrd="2" destOrd="0" presId="urn:microsoft.com/office/officeart/2005/8/layout/radial6"/>
    <dgm:cxn modelId="{B169BBD5-13E0-419C-AF30-584FB910FF45}" type="presParOf" srcId="{B9034421-B907-469B-B355-77F897E6B34F}" destId="{CE5EEED2-5E2D-49C5-8477-C5CFE405889A}" srcOrd="3" destOrd="0" presId="urn:microsoft.com/office/officeart/2005/8/layout/radial6"/>
    <dgm:cxn modelId="{3091C9C1-C3EC-4C6E-99E8-33B3FBDBD115}" type="presParOf" srcId="{B9034421-B907-469B-B355-77F897E6B34F}" destId="{A4ED268A-A612-4F67-919A-825FB4617A33}" srcOrd="4" destOrd="0" presId="urn:microsoft.com/office/officeart/2005/8/layout/radial6"/>
    <dgm:cxn modelId="{F5F981B7-1781-4A11-9C65-B3D8E70027E3}" type="presParOf" srcId="{B9034421-B907-469B-B355-77F897E6B34F}" destId="{A8B75F56-7775-43F0-9F24-BA191CB95207}" srcOrd="5" destOrd="0" presId="urn:microsoft.com/office/officeart/2005/8/layout/radial6"/>
    <dgm:cxn modelId="{6EA74D53-2528-4551-9F3F-59DAB200B7C1}" type="presParOf" srcId="{B9034421-B907-469B-B355-77F897E6B34F}" destId="{276366BE-A748-4B8F-839E-B0143B8DD156}" srcOrd="6" destOrd="0" presId="urn:microsoft.com/office/officeart/2005/8/layout/radial6"/>
    <dgm:cxn modelId="{B06E42B8-15C9-4BBF-B72E-F104217880F3}" type="presParOf" srcId="{B9034421-B907-469B-B355-77F897E6B34F}" destId="{B03BA4F6-8135-4892-A905-84AEFCE3CD17}" srcOrd="7" destOrd="0" presId="urn:microsoft.com/office/officeart/2005/8/layout/radial6"/>
    <dgm:cxn modelId="{28330CC3-0F1B-40FC-A94B-20FFD7FCC66E}" type="presParOf" srcId="{B9034421-B907-469B-B355-77F897E6B34F}" destId="{004DB34C-A7BD-41F6-B82E-7BE5D46D5871}" srcOrd="8" destOrd="0" presId="urn:microsoft.com/office/officeart/2005/8/layout/radial6"/>
    <dgm:cxn modelId="{9DA2BCED-5B95-43AF-B187-3402FDFA3298}" type="presParOf" srcId="{B9034421-B907-469B-B355-77F897E6B34F}" destId="{660C5B3C-BE68-448E-8C28-F1A984D16918}" srcOrd="9" destOrd="0" presId="urn:microsoft.com/office/officeart/2005/8/layout/radial6"/>
    <dgm:cxn modelId="{F59E6683-AF78-48F5-AE25-723CA8648362}" type="presParOf" srcId="{B9034421-B907-469B-B355-77F897E6B34F}" destId="{53E636B7-5BB1-494B-B0E1-167D0E9A86CD}" srcOrd="10" destOrd="0" presId="urn:microsoft.com/office/officeart/2005/8/layout/radial6"/>
    <dgm:cxn modelId="{B9F56D28-0641-4B79-8644-850F02FAF570}" type="presParOf" srcId="{B9034421-B907-469B-B355-77F897E6B34F}" destId="{B8BD3ACA-8495-4361-A140-A66F4780CEF5}" srcOrd="11" destOrd="0" presId="urn:microsoft.com/office/officeart/2005/8/layout/radial6"/>
    <dgm:cxn modelId="{257DFC41-C7EB-4B78-B800-7B83C29CF08F}" type="presParOf" srcId="{B9034421-B907-469B-B355-77F897E6B34F}" destId="{C7DAD20F-6C40-42CD-B8BF-30380295496B}" srcOrd="12" destOrd="0" presId="urn:microsoft.com/office/officeart/2005/8/layout/radial6"/>
    <dgm:cxn modelId="{5F58491B-B982-4BFC-B45F-E52E61F5B916}" type="presParOf" srcId="{B9034421-B907-469B-B355-77F897E6B34F}" destId="{525A5EBA-C7D6-4AC1-868B-9759E9619179}" srcOrd="13" destOrd="0" presId="urn:microsoft.com/office/officeart/2005/8/layout/radial6"/>
    <dgm:cxn modelId="{009B62CD-915D-4810-B397-BCFBFDD0B1FD}" type="presParOf" srcId="{B9034421-B907-469B-B355-77F897E6B34F}" destId="{7B489278-0379-43D5-8BB1-945E588F3871}" srcOrd="14" destOrd="0" presId="urn:microsoft.com/office/officeart/2005/8/layout/radial6"/>
    <dgm:cxn modelId="{01D010D0-7F28-4BF4-A46B-68823388B0E4}" type="presParOf" srcId="{B9034421-B907-469B-B355-77F897E6B34F}" destId="{656E210C-AEA4-410D-B191-1CC0FF7AB907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424B84-6EA5-4E21-A1CC-A60868B64B6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1D6D9E1-B7CD-4D05-BD12-8C0EE04C69B2}">
      <dgm:prSet phldrT="[文本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zh-CN" altLang="en-US" sz="1800" b="1" smtClean="0"/>
            <a:t>建立</a:t>
          </a:r>
          <a:r>
            <a:rPr lang="en-US" altLang="zh-CN" sz="1800" b="1" smtClean="0"/>
            <a:t>149</a:t>
          </a:r>
          <a:r>
            <a:rPr lang="zh-CN" altLang="en-US" sz="1800" b="1" smtClean="0"/>
            <a:t>厂标准件库，实现标准件的统一管理</a:t>
          </a:r>
          <a:endParaRPr lang="zh-CN" altLang="en-US" sz="1800" b="1"/>
        </a:p>
      </dgm:t>
    </dgm:pt>
    <dgm:pt modelId="{D05B3536-881B-481B-A2C9-933329E66102}" type="parTrans" cxnId="{2B7E75B8-3E5F-4D44-ABD0-D5449F85B0DD}">
      <dgm:prSet/>
      <dgm:spPr/>
      <dgm:t>
        <a:bodyPr/>
        <a:lstStyle/>
        <a:p>
          <a:endParaRPr lang="zh-CN" altLang="en-US" sz="1600"/>
        </a:p>
      </dgm:t>
    </dgm:pt>
    <dgm:pt modelId="{4B0CC4A1-8ACE-4A28-8623-D3949B1500D4}" type="sibTrans" cxnId="{2B7E75B8-3E5F-4D44-ABD0-D5449F85B0DD}">
      <dgm:prSet/>
      <dgm:spPr/>
      <dgm:t>
        <a:bodyPr/>
        <a:lstStyle/>
        <a:p>
          <a:endParaRPr lang="zh-CN" altLang="en-US" sz="1600"/>
        </a:p>
      </dgm:t>
    </dgm:pt>
    <dgm:pt modelId="{06F60926-224A-42A7-AA5C-18BA8463E80B}">
      <dgm:prSet phldrT="[文本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zh-CN" altLang="en-US" sz="1800" b="1" smtClean="0"/>
            <a:t>建立标准件入库流程和变更流程，规范标准件的新建与修改</a:t>
          </a:r>
          <a:endParaRPr lang="zh-CN" altLang="en-US" sz="1800" b="1"/>
        </a:p>
      </dgm:t>
    </dgm:pt>
    <dgm:pt modelId="{68A0EE51-25D2-4457-BF22-FCDFA8F4BB76}" type="parTrans" cxnId="{5BBA5FA5-8BF4-405A-9EA2-A5284DC9D6A4}">
      <dgm:prSet/>
      <dgm:spPr/>
      <dgm:t>
        <a:bodyPr/>
        <a:lstStyle/>
        <a:p>
          <a:endParaRPr lang="zh-CN" altLang="en-US" sz="1600"/>
        </a:p>
      </dgm:t>
    </dgm:pt>
    <dgm:pt modelId="{3A865851-D50C-43A2-A44E-173CC546FE54}" type="sibTrans" cxnId="{5BBA5FA5-8BF4-405A-9EA2-A5284DC9D6A4}">
      <dgm:prSet/>
      <dgm:spPr/>
      <dgm:t>
        <a:bodyPr/>
        <a:lstStyle/>
        <a:p>
          <a:endParaRPr lang="zh-CN" altLang="en-US" sz="1600"/>
        </a:p>
      </dgm:t>
    </dgm:pt>
    <dgm:pt modelId="{096EE16C-3539-4F09-8411-67070BD57338}">
      <dgm:prSet phldrT="[文本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zh-CN" altLang="en-US" sz="1800" b="1" smtClean="0"/>
            <a:t>建立标准件建模、使用和管理规范，指导标准件管理工作</a:t>
          </a:r>
          <a:endParaRPr lang="zh-CN" altLang="en-US" sz="1800" b="1"/>
        </a:p>
      </dgm:t>
    </dgm:pt>
    <dgm:pt modelId="{75B3A52E-4C8B-457B-8222-BDC0484D9508}" type="parTrans" cxnId="{6069CC3A-F6B5-4BE2-A875-A73A03DB6152}">
      <dgm:prSet/>
      <dgm:spPr/>
      <dgm:t>
        <a:bodyPr/>
        <a:lstStyle/>
        <a:p>
          <a:endParaRPr lang="zh-CN" altLang="en-US" sz="1600"/>
        </a:p>
      </dgm:t>
    </dgm:pt>
    <dgm:pt modelId="{D707D2CE-3038-4896-8FE1-6C4B6A6C4EAF}" type="sibTrans" cxnId="{6069CC3A-F6B5-4BE2-A875-A73A03DB6152}">
      <dgm:prSet/>
      <dgm:spPr/>
      <dgm:t>
        <a:bodyPr/>
        <a:lstStyle/>
        <a:p>
          <a:endParaRPr lang="zh-CN" altLang="en-US" sz="1600"/>
        </a:p>
      </dgm:t>
    </dgm:pt>
    <dgm:pt modelId="{FD483AFE-DC4F-48B4-BA24-94E429B5BD28}" type="pres">
      <dgm:prSet presAssocID="{E3424B84-6EA5-4E21-A1CC-A60868B64B6E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E46AA6B4-A337-4F74-A470-E4A29EAE7579}" type="pres">
      <dgm:prSet presAssocID="{E3424B84-6EA5-4E21-A1CC-A60868B64B6E}" presName="Name1" presStyleCnt="0"/>
      <dgm:spPr/>
    </dgm:pt>
    <dgm:pt modelId="{1146F0B4-7489-469F-B61A-C4F6EF5D038D}" type="pres">
      <dgm:prSet presAssocID="{E3424B84-6EA5-4E21-A1CC-A60868B64B6E}" presName="cycle" presStyleCnt="0"/>
      <dgm:spPr/>
    </dgm:pt>
    <dgm:pt modelId="{DAAE60DB-9AF1-4141-B1EA-C74553FD9A30}" type="pres">
      <dgm:prSet presAssocID="{E3424B84-6EA5-4E21-A1CC-A60868B64B6E}" presName="srcNode" presStyleLbl="node1" presStyleIdx="0" presStyleCnt="3"/>
      <dgm:spPr/>
    </dgm:pt>
    <dgm:pt modelId="{5413733F-D9D4-4050-B2E2-69C17C6578A8}" type="pres">
      <dgm:prSet presAssocID="{E3424B84-6EA5-4E21-A1CC-A60868B64B6E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8EEE9918-D53D-4347-95A5-8DA278990163}" type="pres">
      <dgm:prSet presAssocID="{E3424B84-6EA5-4E21-A1CC-A60868B64B6E}" presName="extraNode" presStyleLbl="node1" presStyleIdx="0" presStyleCnt="3"/>
      <dgm:spPr/>
    </dgm:pt>
    <dgm:pt modelId="{1A391DC2-9BAC-470B-BB78-C79ABB693238}" type="pres">
      <dgm:prSet presAssocID="{E3424B84-6EA5-4E21-A1CC-A60868B64B6E}" presName="dstNode" presStyleLbl="node1" presStyleIdx="0" presStyleCnt="3"/>
      <dgm:spPr/>
    </dgm:pt>
    <dgm:pt modelId="{0E286950-119B-4BDC-9084-63877AF085B5}" type="pres">
      <dgm:prSet presAssocID="{91D6D9E1-B7CD-4D05-BD12-8C0EE04C69B2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52A9DF2-3AA3-4358-A768-3F176D09C12A}" type="pres">
      <dgm:prSet presAssocID="{91D6D9E1-B7CD-4D05-BD12-8C0EE04C69B2}" presName="accent_1" presStyleCnt="0"/>
      <dgm:spPr/>
    </dgm:pt>
    <dgm:pt modelId="{0E740D08-418A-4022-A383-62688BAC98D3}" type="pres">
      <dgm:prSet presAssocID="{91D6D9E1-B7CD-4D05-BD12-8C0EE04C69B2}" presName="accentRepeatNode" presStyleLbl="solidFgAcc1" presStyleIdx="0" presStyleCnt="3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</dgm:pt>
    <dgm:pt modelId="{F5CF2194-6675-4376-930D-05CFA5F5EA83}" type="pres">
      <dgm:prSet presAssocID="{06F60926-224A-42A7-AA5C-18BA8463E80B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152CB11-F955-4A42-9E4A-B943E459CECD}" type="pres">
      <dgm:prSet presAssocID="{06F60926-224A-42A7-AA5C-18BA8463E80B}" presName="accent_2" presStyleCnt="0"/>
      <dgm:spPr/>
    </dgm:pt>
    <dgm:pt modelId="{82093518-74F4-4ED7-B660-58BFD5EFC942}" type="pres">
      <dgm:prSet presAssocID="{06F60926-224A-42A7-AA5C-18BA8463E80B}" presName="accentRepeatNode" presStyleLbl="solidFgAcc1" presStyleIdx="1" presStyleCnt="3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</dgm:pt>
    <dgm:pt modelId="{DCA23722-487B-4E6A-A2FB-0B326AD4C87F}" type="pres">
      <dgm:prSet presAssocID="{096EE16C-3539-4F09-8411-67070BD57338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D65A175-635B-49DC-9C80-71934EC47A35}" type="pres">
      <dgm:prSet presAssocID="{096EE16C-3539-4F09-8411-67070BD57338}" presName="accent_3" presStyleCnt="0"/>
      <dgm:spPr/>
    </dgm:pt>
    <dgm:pt modelId="{4016FDFC-2221-462F-BBA4-4DC8BF94B778}" type="pres">
      <dgm:prSet presAssocID="{096EE16C-3539-4F09-8411-67070BD57338}" presName="accentRepeatNode" presStyleLbl="solidFgAcc1" presStyleIdx="2" presStyleCnt="3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</dgm:pt>
  </dgm:ptLst>
  <dgm:cxnLst>
    <dgm:cxn modelId="{B154A7C9-44C7-40F3-83BA-085215151E73}" type="presOf" srcId="{E3424B84-6EA5-4E21-A1CC-A60868B64B6E}" destId="{FD483AFE-DC4F-48B4-BA24-94E429B5BD28}" srcOrd="0" destOrd="0" presId="urn:microsoft.com/office/officeart/2008/layout/VerticalCurvedList"/>
    <dgm:cxn modelId="{62CFD502-1566-44D6-B181-AE574B07716C}" type="presOf" srcId="{06F60926-224A-42A7-AA5C-18BA8463E80B}" destId="{F5CF2194-6675-4376-930D-05CFA5F5EA83}" srcOrd="0" destOrd="0" presId="urn:microsoft.com/office/officeart/2008/layout/VerticalCurvedList"/>
    <dgm:cxn modelId="{AD2AA100-2706-4674-907B-B9271D78998B}" type="presOf" srcId="{4B0CC4A1-8ACE-4A28-8623-D3949B1500D4}" destId="{5413733F-D9D4-4050-B2E2-69C17C6578A8}" srcOrd="0" destOrd="0" presId="urn:microsoft.com/office/officeart/2008/layout/VerticalCurvedList"/>
    <dgm:cxn modelId="{69D692E3-C021-42C4-8972-7452734C2199}" type="presOf" srcId="{91D6D9E1-B7CD-4D05-BD12-8C0EE04C69B2}" destId="{0E286950-119B-4BDC-9084-63877AF085B5}" srcOrd="0" destOrd="0" presId="urn:microsoft.com/office/officeart/2008/layout/VerticalCurvedList"/>
    <dgm:cxn modelId="{6069CC3A-F6B5-4BE2-A875-A73A03DB6152}" srcId="{E3424B84-6EA5-4E21-A1CC-A60868B64B6E}" destId="{096EE16C-3539-4F09-8411-67070BD57338}" srcOrd="2" destOrd="0" parTransId="{75B3A52E-4C8B-457B-8222-BDC0484D9508}" sibTransId="{D707D2CE-3038-4896-8FE1-6C4B6A6C4EAF}"/>
    <dgm:cxn modelId="{5BBA5FA5-8BF4-405A-9EA2-A5284DC9D6A4}" srcId="{E3424B84-6EA5-4E21-A1CC-A60868B64B6E}" destId="{06F60926-224A-42A7-AA5C-18BA8463E80B}" srcOrd="1" destOrd="0" parTransId="{68A0EE51-25D2-4457-BF22-FCDFA8F4BB76}" sibTransId="{3A865851-D50C-43A2-A44E-173CC546FE54}"/>
    <dgm:cxn modelId="{2B7E75B8-3E5F-4D44-ABD0-D5449F85B0DD}" srcId="{E3424B84-6EA5-4E21-A1CC-A60868B64B6E}" destId="{91D6D9E1-B7CD-4D05-BD12-8C0EE04C69B2}" srcOrd="0" destOrd="0" parTransId="{D05B3536-881B-481B-A2C9-933329E66102}" sibTransId="{4B0CC4A1-8ACE-4A28-8623-D3949B1500D4}"/>
    <dgm:cxn modelId="{7FAB662A-1066-4A7A-A0C2-879CCF1A840C}" type="presOf" srcId="{096EE16C-3539-4F09-8411-67070BD57338}" destId="{DCA23722-487B-4E6A-A2FB-0B326AD4C87F}" srcOrd="0" destOrd="0" presId="urn:microsoft.com/office/officeart/2008/layout/VerticalCurvedList"/>
    <dgm:cxn modelId="{087B5EAF-7156-4A9D-8FFE-D0B2095133DD}" type="presParOf" srcId="{FD483AFE-DC4F-48B4-BA24-94E429B5BD28}" destId="{E46AA6B4-A337-4F74-A470-E4A29EAE7579}" srcOrd="0" destOrd="0" presId="urn:microsoft.com/office/officeart/2008/layout/VerticalCurvedList"/>
    <dgm:cxn modelId="{B7D2497C-4AA6-4D5F-A0B8-5C1291203596}" type="presParOf" srcId="{E46AA6B4-A337-4F74-A470-E4A29EAE7579}" destId="{1146F0B4-7489-469F-B61A-C4F6EF5D038D}" srcOrd="0" destOrd="0" presId="urn:microsoft.com/office/officeart/2008/layout/VerticalCurvedList"/>
    <dgm:cxn modelId="{367D7781-D72C-4523-9986-3965593AE88A}" type="presParOf" srcId="{1146F0B4-7489-469F-B61A-C4F6EF5D038D}" destId="{DAAE60DB-9AF1-4141-B1EA-C74553FD9A30}" srcOrd="0" destOrd="0" presId="urn:microsoft.com/office/officeart/2008/layout/VerticalCurvedList"/>
    <dgm:cxn modelId="{1D3D9299-312D-4EE3-8488-998B6F8D6746}" type="presParOf" srcId="{1146F0B4-7489-469F-B61A-C4F6EF5D038D}" destId="{5413733F-D9D4-4050-B2E2-69C17C6578A8}" srcOrd="1" destOrd="0" presId="urn:microsoft.com/office/officeart/2008/layout/VerticalCurvedList"/>
    <dgm:cxn modelId="{92EA4663-AD55-4231-B024-A9B58D0EA507}" type="presParOf" srcId="{1146F0B4-7489-469F-B61A-C4F6EF5D038D}" destId="{8EEE9918-D53D-4347-95A5-8DA278990163}" srcOrd="2" destOrd="0" presId="urn:microsoft.com/office/officeart/2008/layout/VerticalCurvedList"/>
    <dgm:cxn modelId="{12806008-FA9E-4962-9EC1-CD70F97E7D9D}" type="presParOf" srcId="{1146F0B4-7489-469F-B61A-C4F6EF5D038D}" destId="{1A391DC2-9BAC-470B-BB78-C79ABB693238}" srcOrd="3" destOrd="0" presId="urn:microsoft.com/office/officeart/2008/layout/VerticalCurvedList"/>
    <dgm:cxn modelId="{34D51438-6535-4B5A-BCCA-1A672FCAA7D5}" type="presParOf" srcId="{E46AA6B4-A337-4F74-A470-E4A29EAE7579}" destId="{0E286950-119B-4BDC-9084-63877AF085B5}" srcOrd="1" destOrd="0" presId="urn:microsoft.com/office/officeart/2008/layout/VerticalCurvedList"/>
    <dgm:cxn modelId="{C07FD9D8-B15B-4861-85E7-97070FD171AB}" type="presParOf" srcId="{E46AA6B4-A337-4F74-A470-E4A29EAE7579}" destId="{152A9DF2-3AA3-4358-A768-3F176D09C12A}" srcOrd="2" destOrd="0" presId="urn:microsoft.com/office/officeart/2008/layout/VerticalCurvedList"/>
    <dgm:cxn modelId="{513A906F-31CE-42E1-BA48-7CFF88578AD1}" type="presParOf" srcId="{152A9DF2-3AA3-4358-A768-3F176D09C12A}" destId="{0E740D08-418A-4022-A383-62688BAC98D3}" srcOrd="0" destOrd="0" presId="urn:microsoft.com/office/officeart/2008/layout/VerticalCurvedList"/>
    <dgm:cxn modelId="{0FC9DD7E-B738-47E0-8BF9-B80E5DC7D8DD}" type="presParOf" srcId="{E46AA6B4-A337-4F74-A470-E4A29EAE7579}" destId="{F5CF2194-6675-4376-930D-05CFA5F5EA83}" srcOrd="3" destOrd="0" presId="urn:microsoft.com/office/officeart/2008/layout/VerticalCurvedList"/>
    <dgm:cxn modelId="{FBA368A0-F35B-4DAC-85EB-468252F29986}" type="presParOf" srcId="{E46AA6B4-A337-4F74-A470-E4A29EAE7579}" destId="{7152CB11-F955-4A42-9E4A-B943E459CECD}" srcOrd="4" destOrd="0" presId="urn:microsoft.com/office/officeart/2008/layout/VerticalCurvedList"/>
    <dgm:cxn modelId="{33CDF3C9-B500-4768-BCF9-87C626885CA2}" type="presParOf" srcId="{7152CB11-F955-4A42-9E4A-B943E459CECD}" destId="{82093518-74F4-4ED7-B660-58BFD5EFC942}" srcOrd="0" destOrd="0" presId="urn:microsoft.com/office/officeart/2008/layout/VerticalCurvedList"/>
    <dgm:cxn modelId="{41AA8714-9E12-46E5-9146-BAF272125117}" type="presParOf" srcId="{E46AA6B4-A337-4F74-A470-E4A29EAE7579}" destId="{DCA23722-487B-4E6A-A2FB-0B326AD4C87F}" srcOrd="5" destOrd="0" presId="urn:microsoft.com/office/officeart/2008/layout/VerticalCurvedList"/>
    <dgm:cxn modelId="{4E902D7B-B098-4C1E-AB94-6338E5315527}" type="presParOf" srcId="{E46AA6B4-A337-4F74-A470-E4A29EAE7579}" destId="{8D65A175-635B-49DC-9C80-71934EC47A35}" srcOrd="6" destOrd="0" presId="urn:microsoft.com/office/officeart/2008/layout/VerticalCurvedList"/>
    <dgm:cxn modelId="{648ADC73-2F64-49FE-8356-899DB5A21918}" type="presParOf" srcId="{8D65A175-635B-49DC-9C80-71934EC47A35}" destId="{4016FDFC-2221-462F-BBA4-4DC8BF94B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65672-4130-4642-BEC7-E09328C17468}">
      <dsp:nvSpPr>
        <dsp:cNvPr id="0" name=""/>
        <dsp:cNvSpPr/>
      </dsp:nvSpPr>
      <dsp:spPr>
        <a:xfrm>
          <a:off x="3947" y="0"/>
          <a:ext cx="1642397" cy="282312"/>
        </a:xfrm>
        <a:prstGeom prst="chevron">
          <a:avLst/>
        </a:prstGeom>
        <a:solidFill>
          <a:srgbClr val="6FAEA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smtClean="0">
              <a:solidFill>
                <a:srgbClr val="FFFFFF"/>
              </a:solidFill>
              <a:latin typeface="Arial"/>
              <a:ea typeface="黑体"/>
              <a:cs typeface="+mn-cs"/>
            </a:rPr>
            <a:t>方案阶段</a:t>
          </a:r>
          <a:endParaRPr lang="zh-CN" altLang="en-US" sz="1400" b="1" kern="1200" dirty="0">
            <a:solidFill>
              <a:srgbClr val="FFFFFF"/>
            </a:solidFill>
            <a:latin typeface="Arial"/>
            <a:ea typeface="黑体"/>
            <a:cs typeface="+mn-cs"/>
          </a:endParaRPr>
        </a:p>
      </dsp:txBody>
      <dsp:txXfrm>
        <a:off x="145103" y="0"/>
        <a:ext cx="1360085" cy="282312"/>
      </dsp:txXfrm>
    </dsp:sp>
    <dsp:sp modelId="{956BA890-456C-40B6-82B4-615252E432A2}">
      <dsp:nvSpPr>
        <dsp:cNvPr id="0" name=""/>
        <dsp:cNvSpPr/>
      </dsp:nvSpPr>
      <dsp:spPr>
        <a:xfrm>
          <a:off x="1407056" y="0"/>
          <a:ext cx="2076277" cy="282312"/>
        </a:xfrm>
        <a:prstGeom prst="chevron">
          <a:avLst/>
        </a:prstGeom>
        <a:solidFill>
          <a:srgbClr val="6FAEAB">
            <a:hueOff val="-2548844"/>
            <a:satOff val="11000"/>
            <a:lumOff val="49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smtClean="0">
              <a:solidFill>
                <a:srgbClr val="FFFFFF"/>
              </a:solidFill>
              <a:latin typeface="Arial"/>
              <a:ea typeface="黑体"/>
              <a:cs typeface="+mn-cs"/>
            </a:rPr>
            <a:t>模样阶段</a:t>
          </a:r>
          <a:endParaRPr lang="zh-CN" altLang="en-US" sz="1400" b="1" kern="1200" dirty="0">
            <a:solidFill>
              <a:srgbClr val="FFFFFF"/>
            </a:solidFill>
            <a:latin typeface="Arial"/>
            <a:ea typeface="黑体"/>
            <a:cs typeface="+mn-cs"/>
          </a:endParaRPr>
        </a:p>
      </dsp:txBody>
      <dsp:txXfrm>
        <a:off x="1548212" y="0"/>
        <a:ext cx="1793965" cy="282312"/>
      </dsp:txXfrm>
    </dsp:sp>
    <dsp:sp modelId="{6CF1BE27-7B19-4FFE-BF48-39E4A03BFE02}">
      <dsp:nvSpPr>
        <dsp:cNvPr id="0" name=""/>
        <dsp:cNvSpPr/>
      </dsp:nvSpPr>
      <dsp:spPr>
        <a:xfrm>
          <a:off x="3307367" y="0"/>
          <a:ext cx="2528449" cy="282312"/>
        </a:xfrm>
        <a:prstGeom prst="chevron">
          <a:avLst/>
        </a:prstGeom>
        <a:solidFill>
          <a:srgbClr val="6FAEAB">
            <a:hueOff val="-2548844"/>
            <a:satOff val="11000"/>
            <a:lumOff val="49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smtClean="0">
              <a:solidFill>
                <a:srgbClr val="FFFFFF"/>
              </a:solidFill>
              <a:latin typeface="Arial"/>
              <a:ea typeface="黑体"/>
              <a:cs typeface="+mn-cs"/>
            </a:rPr>
            <a:t>试样阶段</a:t>
          </a:r>
          <a:endParaRPr lang="zh-CN" altLang="en-US" sz="1400" b="1" kern="1200" dirty="0">
            <a:solidFill>
              <a:srgbClr val="FFFFFF"/>
            </a:solidFill>
            <a:latin typeface="Arial"/>
            <a:ea typeface="黑体"/>
            <a:cs typeface="+mn-cs"/>
          </a:endParaRPr>
        </a:p>
      </dsp:txBody>
      <dsp:txXfrm>
        <a:off x="3448523" y="0"/>
        <a:ext cx="2246137" cy="282312"/>
      </dsp:txXfrm>
    </dsp:sp>
    <dsp:sp modelId="{B47ADFD5-E067-46C7-A6C2-7A6AA93E5132}">
      <dsp:nvSpPr>
        <dsp:cNvPr id="0" name=""/>
        <dsp:cNvSpPr/>
      </dsp:nvSpPr>
      <dsp:spPr>
        <a:xfrm>
          <a:off x="5336202" y="0"/>
          <a:ext cx="2076277" cy="282312"/>
        </a:xfrm>
        <a:prstGeom prst="chevron">
          <a:avLst/>
        </a:prstGeom>
        <a:solidFill>
          <a:srgbClr val="6FAEAB">
            <a:hueOff val="-3823266"/>
            <a:satOff val="16500"/>
            <a:lumOff val="736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smtClean="0">
              <a:solidFill>
                <a:srgbClr val="FFFFFF"/>
              </a:solidFill>
              <a:latin typeface="Arial"/>
              <a:ea typeface="黑体"/>
              <a:cs typeface="+mn-cs"/>
            </a:rPr>
            <a:t>正样阶段</a:t>
          </a:r>
          <a:endParaRPr lang="zh-CN" altLang="en-US" sz="1400" b="1" kern="1200" dirty="0">
            <a:solidFill>
              <a:srgbClr val="FFFFFF"/>
            </a:solidFill>
            <a:latin typeface="Arial"/>
            <a:ea typeface="黑体"/>
            <a:cs typeface="+mn-cs"/>
          </a:endParaRPr>
        </a:p>
      </dsp:txBody>
      <dsp:txXfrm>
        <a:off x="5477358" y="0"/>
        <a:ext cx="1793965" cy="282312"/>
      </dsp:txXfrm>
    </dsp:sp>
    <dsp:sp modelId="{E660AD03-60C7-46EB-8CCD-AE6FD14D3F5B}">
      <dsp:nvSpPr>
        <dsp:cNvPr id="0" name=""/>
        <dsp:cNvSpPr/>
      </dsp:nvSpPr>
      <dsp:spPr>
        <a:xfrm>
          <a:off x="7216312" y="0"/>
          <a:ext cx="2076277" cy="282312"/>
        </a:xfrm>
        <a:prstGeom prst="chevron">
          <a:avLst/>
        </a:prstGeom>
        <a:solidFill>
          <a:srgbClr val="6FAEAB">
            <a:hueOff val="-5097687"/>
            <a:satOff val="22000"/>
            <a:lumOff val="981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solidFill>
                <a:srgbClr val="FFFFFF"/>
              </a:solidFill>
              <a:latin typeface="Arial"/>
              <a:ea typeface="黑体"/>
              <a:cs typeface="+mn-cs"/>
            </a:rPr>
            <a:t>生产定型阶段</a:t>
          </a:r>
          <a:endParaRPr lang="zh-CN" altLang="en-US" sz="1400" b="1" kern="1200" dirty="0">
            <a:solidFill>
              <a:srgbClr val="FFFFFF"/>
            </a:solidFill>
            <a:latin typeface="Arial"/>
            <a:ea typeface="黑体"/>
            <a:cs typeface="+mn-cs"/>
          </a:endParaRPr>
        </a:p>
      </dsp:txBody>
      <dsp:txXfrm>
        <a:off x="7357468" y="0"/>
        <a:ext cx="1793965" cy="2823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6E210C-AEA4-410D-B191-1CC0FF7AB907}">
      <dsp:nvSpPr>
        <dsp:cNvPr id="0" name=""/>
        <dsp:cNvSpPr/>
      </dsp:nvSpPr>
      <dsp:spPr>
        <a:xfrm>
          <a:off x="1235542" y="535862"/>
          <a:ext cx="3577637" cy="3577637"/>
        </a:xfrm>
        <a:prstGeom prst="blockArc">
          <a:avLst>
            <a:gd name="adj1" fmla="val 11880000"/>
            <a:gd name="adj2" fmla="val 16200000"/>
            <a:gd name="adj3" fmla="val 4643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DAD20F-6C40-42CD-B8BF-30380295496B}">
      <dsp:nvSpPr>
        <dsp:cNvPr id="0" name=""/>
        <dsp:cNvSpPr/>
      </dsp:nvSpPr>
      <dsp:spPr>
        <a:xfrm>
          <a:off x="1235542" y="535862"/>
          <a:ext cx="3577637" cy="3577637"/>
        </a:xfrm>
        <a:prstGeom prst="blockArc">
          <a:avLst>
            <a:gd name="adj1" fmla="val 7560000"/>
            <a:gd name="adj2" fmla="val 11880000"/>
            <a:gd name="adj3" fmla="val 4643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0C5B3C-BE68-448E-8C28-F1A984D16918}">
      <dsp:nvSpPr>
        <dsp:cNvPr id="0" name=""/>
        <dsp:cNvSpPr/>
      </dsp:nvSpPr>
      <dsp:spPr>
        <a:xfrm>
          <a:off x="1235542" y="535862"/>
          <a:ext cx="3577637" cy="3577637"/>
        </a:xfrm>
        <a:prstGeom prst="blockArc">
          <a:avLst>
            <a:gd name="adj1" fmla="val 3240000"/>
            <a:gd name="adj2" fmla="val 7560000"/>
            <a:gd name="adj3" fmla="val 4643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6366BE-A748-4B8F-839E-B0143B8DD156}">
      <dsp:nvSpPr>
        <dsp:cNvPr id="0" name=""/>
        <dsp:cNvSpPr/>
      </dsp:nvSpPr>
      <dsp:spPr>
        <a:xfrm>
          <a:off x="1235542" y="535862"/>
          <a:ext cx="3577637" cy="3577637"/>
        </a:xfrm>
        <a:prstGeom prst="blockArc">
          <a:avLst>
            <a:gd name="adj1" fmla="val 20520000"/>
            <a:gd name="adj2" fmla="val 3240000"/>
            <a:gd name="adj3" fmla="val 4643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E5EEED2-5E2D-49C5-8477-C5CFE405889A}">
      <dsp:nvSpPr>
        <dsp:cNvPr id="0" name=""/>
        <dsp:cNvSpPr/>
      </dsp:nvSpPr>
      <dsp:spPr>
        <a:xfrm>
          <a:off x="1235542" y="535862"/>
          <a:ext cx="3577637" cy="3577637"/>
        </a:xfrm>
        <a:prstGeom prst="blockArc">
          <a:avLst>
            <a:gd name="adj1" fmla="val 16200000"/>
            <a:gd name="adj2" fmla="val 20520000"/>
            <a:gd name="adj3" fmla="val 4643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586E26-44A0-4B2C-8D51-CFD79419C19C}">
      <dsp:nvSpPr>
        <dsp:cNvPr id="0" name=""/>
        <dsp:cNvSpPr/>
      </dsp:nvSpPr>
      <dsp:spPr>
        <a:xfrm>
          <a:off x="2200340" y="1500661"/>
          <a:ext cx="1648040" cy="1648040"/>
        </a:xfrm>
        <a:prstGeom prst="ellips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smtClean="0"/>
            <a:t>权限控制</a:t>
          </a:r>
          <a:endParaRPr lang="zh-CN" altLang="en-US" sz="2000" b="1" kern="1200"/>
        </a:p>
      </dsp:txBody>
      <dsp:txXfrm>
        <a:off x="2441690" y="1742011"/>
        <a:ext cx="1165340" cy="1165340"/>
      </dsp:txXfrm>
    </dsp:sp>
    <dsp:sp modelId="{166C92FD-C603-4DB2-9551-89142E3F7AE6}">
      <dsp:nvSpPr>
        <dsp:cNvPr id="0" name=""/>
        <dsp:cNvSpPr/>
      </dsp:nvSpPr>
      <dsp:spPr>
        <a:xfrm>
          <a:off x="2447546" y="579"/>
          <a:ext cx="1153628" cy="115362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smtClean="0"/>
            <a:t>动态</a:t>
          </a:r>
          <a:endParaRPr lang="en-US" altLang="zh-CN" sz="2000" kern="1200" smtClean="0"/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smtClean="0"/>
            <a:t>权限</a:t>
          </a:r>
          <a:endParaRPr lang="zh-CN" altLang="en-US" sz="2000" kern="1200"/>
        </a:p>
      </dsp:txBody>
      <dsp:txXfrm>
        <a:off x="2616491" y="169524"/>
        <a:ext cx="815738" cy="815738"/>
      </dsp:txXfrm>
    </dsp:sp>
    <dsp:sp modelId="{A4ED268A-A612-4F67-919A-825FB4617A33}">
      <dsp:nvSpPr>
        <dsp:cNvPr id="0" name=""/>
        <dsp:cNvSpPr/>
      </dsp:nvSpPr>
      <dsp:spPr>
        <a:xfrm>
          <a:off x="4109316" y="1207925"/>
          <a:ext cx="1153628" cy="115362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smtClean="0"/>
            <a:t>产品经理分配</a:t>
          </a:r>
          <a:endParaRPr lang="zh-CN" altLang="en-US" sz="2000" kern="1200"/>
        </a:p>
      </dsp:txBody>
      <dsp:txXfrm>
        <a:off x="4278261" y="1376870"/>
        <a:ext cx="815738" cy="815738"/>
      </dsp:txXfrm>
    </dsp:sp>
    <dsp:sp modelId="{B03BA4F6-8135-4892-A905-84AEFCE3CD17}">
      <dsp:nvSpPr>
        <dsp:cNvPr id="0" name=""/>
        <dsp:cNvSpPr/>
      </dsp:nvSpPr>
      <dsp:spPr>
        <a:xfrm>
          <a:off x="3474577" y="3161453"/>
          <a:ext cx="1153628" cy="115362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smtClean="0"/>
            <a:t>权限</a:t>
          </a:r>
          <a:endParaRPr lang="en-US" altLang="zh-CN" sz="2000" kern="1200" smtClean="0"/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smtClean="0"/>
            <a:t>传递</a:t>
          </a:r>
          <a:endParaRPr lang="zh-CN" altLang="en-US" sz="2000" kern="1200"/>
        </a:p>
      </dsp:txBody>
      <dsp:txXfrm>
        <a:off x="3643522" y="3330398"/>
        <a:ext cx="815738" cy="815738"/>
      </dsp:txXfrm>
    </dsp:sp>
    <dsp:sp modelId="{53E636B7-5BB1-494B-B0E1-167D0E9A86CD}">
      <dsp:nvSpPr>
        <dsp:cNvPr id="0" name=""/>
        <dsp:cNvSpPr/>
      </dsp:nvSpPr>
      <dsp:spPr>
        <a:xfrm>
          <a:off x="1420516" y="3161453"/>
          <a:ext cx="1153628" cy="115362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smtClean="0"/>
            <a:t>委派</a:t>
          </a:r>
          <a:endParaRPr lang="zh-CN" altLang="en-US" sz="2000" kern="1200"/>
        </a:p>
      </dsp:txBody>
      <dsp:txXfrm>
        <a:off x="1589461" y="3330398"/>
        <a:ext cx="815738" cy="815738"/>
      </dsp:txXfrm>
    </dsp:sp>
    <dsp:sp modelId="{525A5EBA-C7D6-4AC1-868B-9759E9619179}">
      <dsp:nvSpPr>
        <dsp:cNvPr id="0" name=""/>
        <dsp:cNvSpPr/>
      </dsp:nvSpPr>
      <dsp:spPr>
        <a:xfrm>
          <a:off x="785776" y="1207925"/>
          <a:ext cx="1153628" cy="115362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smtClean="0"/>
            <a:t>静态</a:t>
          </a:r>
          <a:endParaRPr lang="en-US" altLang="zh-CN" sz="2000" kern="1200" smtClean="0"/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smtClean="0"/>
            <a:t>权限</a:t>
          </a:r>
          <a:endParaRPr lang="zh-CN" altLang="en-US" sz="2000" kern="1200"/>
        </a:p>
      </dsp:txBody>
      <dsp:txXfrm>
        <a:off x="954721" y="1376870"/>
        <a:ext cx="815738" cy="8157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13733F-D9D4-4050-B2E2-69C17C6578A8}">
      <dsp:nvSpPr>
        <dsp:cNvPr id="0" name=""/>
        <dsp:cNvSpPr/>
      </dsp:nvSpPr>
      <dsp:spPr>
        <a:xfrm>
          <a:off x="-3689678" y="-566876"/>
          <a:ext cx="4398148" cy="4398148"/>
        </a:xfrm>
        <a:prstGeom prst="blockArc">
          <a:avLst>
            <a:gd name="adj1" fmla="val 18900000"/>
            <a:gd name="adj2" fmla="val 2700000"/>
            <a:gd name="adj3" fmla="val 491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286950-119B-4BDC-9084-63877AF085B5}">
      <dsp:nvSpPr>
        <dsp:cNvPr id="0" name=""/>
        <dsp:cNvSpPr/>
      </dsp:nvSpPr>
      <dsp:spPr>
        <a:xfrm>
          <a:off x="455589" y="326439"/>
          <a:ext cx="7062693" cy="652879"/>
        </a:xfrm>
        <a:prstGeom prst="rect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223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smtClean="0"/>
            <a:t>建立</a:t>
          </a:r>
          <a:r>
            <a:rPr lang="en-US" altLang="zh-CN" sz="1800" b="1" kern="1200" smtClean="0"/>
            <a:t>149</a:t>
          </a:r>
          <a:r>
            <a:rPr lang="zh-CN" altLang="en-US" sz="1800" b="1" kern="1200" smtClean="0"/>
            <a:t>厂标准件库，实现标准件的统一管理</a:t>
          </a:r>
          <a:endParaRPr lang="zh-CN" altLang="en-US" sz="1800" b="1" kern="1200"/>
        </a:p>
      </dsp:txBody>
      <dsp:txXfrm>
        <a:off x="455589" y="326439"/>
        <a:ext cx="7062693" cy="652879"/>
      </dsp:txXfrm>
    </dsp:sp>
    <dsp:sp modelId="{0E740D08-418A-4022-A383-62688BAC98D3}">
      <dsp:nvSpPr>
        <dsp:cNvPr id="0" name=""/>
        <dsp:cNvSpPr/>
      </dsp:nvSpPr>
      <dsp:spPr>
        <a:xfrm>
          <a:off x="47539" y="244829"/>
          <a:ext cx="816099" cy="816099"/>
        </a:xfrm>
        <a:prstGeom prst="ellipse">
          <a:avLst/>
        </a:prstGeom>
        <a:gradFill rotWithShape="1">
          <a:gsLst>
            <a:gs pos="0">
              <a:schemeClr val="accent4">
                <a:shade val="51000"/>
                <a:satMod val="130000"/>
              </a:schemeClr>
            </a:gs>
            <a:gs pos="80000">
              <a:schemeClr val="accent4">
                <a:shade val="93000"/>
                <a:satMod val="130000"/>
              </a:schemeClr>
            </a:gs>
            <a:gs pos="100000">
              <a:schemeClr val="accent4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</dsp:sp>
    <dsp:sp modelId="{F5CF2194-6675-4376-930D-05CFA5F5EA83}">
      <dsp:nvSpPr>
        <dsp:cNvPr id="0" name=""/>
        <dsp:cNvSpPr/>
      </dsp:nvSpPr>
      <dsp:spPr>
        <a:xfrm>
          <a:off x="692910" y="1305758"/>
          <a:ext cx="6825371" cy="652879"/>
        </a:xfrm>
        <a:prstGeom prst="rect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223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smtClean="0"/>
            <a:t>建立标准件入库流程和变更流程，规范标准件的新建与修改</a:t>
          </a:r>
          <a:endParaRPr lang="zh-CN" altLang="en-US" sz="1800" b="1" kern="1200"/>
        </a:p>
      </dsp:txBody>
      <dsp:txXfrm>
        <a:off x="692910" y="1305758"/>
        <a:ext cx="6825371" cy="652879"/>
      </dsp:txXfrm>
    </dsp:sp>
    <dsp:sp modelId="{82093518-74F4-4ED7-B660-58BFD5EFC942}">
      <dsp:nvSpPr>
        <dsp:cNvPr id="0" name=""/>
        <dsp:cNvSpPr/>
      </dsp:nvSpPr>
      <dsp:spPr>
        <a:xfrm>
          <a:off x="284861" y="1224148"/>
          <a:ext cx="816099" cy="816099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</dsp:sp>
    <dsp:sp modelId="{DCA23722-487B-4E6A-A2FB-0B326AD4C87F}">
      <dsp:nvSpPr>
        <dsp:cNvPr id="0" name=""/>
        <dsp:cNvSpPr/>
      </dsp:nvSpPr>
      <dsp:spPr>
        <a:xfrm>
          <a:off x="455589" y="2285077"/>
          <a:ext cx="7062693" cy="652879"/>
        </a:xfrm>
        <a:prstGeom prst="rect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223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smtClean="0"/>
            <a:t>建立标准件建模、使用和管理规范，指导标准件管理工作</a:t>
          </a:r>
          <a:endParaRPr lang="zh-CN" altLang="en-US" sz="1800" b="1" kern="1200"/>
        </a:p>
      </dsp:txBody>
      <dsp:txXfrm>
        <a:off x="455589" y="2285077"/>
        <a:ext cx="7062693" cy="652879"/>
      </dsp:txXfrm>
    </dsp:sp>
    <dsp:sp modelId="{4016FDFC-2221-462F-BBA4-4DC8BF94B778}">
      <dsp:nvSpPr>
        <dsp:cNvPr id="0" name=""/>
        <dsp:cNvSpPr/>
      </dsp:nvSpPr>
      <dsp:spPr>
        <a:xfrm>
          <a:off x="47539" y="2203467"/>
          <a:ext cx="816099" cy="816099"/>
        </a:xfrm>
        <a:prstGeom prst="ellipse">
          <a:avLst/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62BBFF7-F407-427D-9D99-2EFB9C422DA6}" type="datetimeFigureOut">
              <a:rPr lang="zh-CN" altLang="en-US"/>
              <a:pPr>
                <a:defRPr/>
              </a:pPr>
              <a:t>2013/1/22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685800"/>
            <a:ext cx="54832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68E8878-435B-4CDE-A1BD-B17AEEB0E6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4467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 descr="图片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0791825" cy="675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337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9" descr="图片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0791825" cy="675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12" descr="图片3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4672013"/>
            <a:ext cx="10064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56259" y="4527947"/>
            <a:ext cx="7560840" cy="864096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56259" y="5608067"/>
            <a:ext cx="7560945" cy="5193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6" name="页脚占位符 8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smtClean="0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30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11"/>
          </p:nvPr>
        </p:nvSpPr>
        <p:spPr>
          <a:xfrm>
            <a:off x="576263" y="1576388"/>
            <a:ext cx="9720262" cy="49672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smtClean="0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67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 descr="图片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938"/>
            <a:ext cx="10818813" cy="5594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本占位符 18"/>
          <p:cNvSpPr>
            <a:spLocks noGrp="1"/>
          </p:cNvSpPr>
          <p:nvPr>
            <p:ph type="body" sz="quarter" idx="11"/>
          </p:nvPr>
        </p:nvSpPr>
        <p:spPr>
          <a:xfrm>
            <a:off x="2232323" y="1863651"/>
            <a:ext cx="6408712" cy="2016125"/>
          </a:xfrm>
        </p:spPr>
        <p:txBody>
          <a:bodyPr>
            <a:normAutofit/>
          </a:bodyPr>
          <a:lstStyle>
            <a:lvl1pPr>
              <a:buNone/>
              <a:defRPr sz="9600">
                <a:latin typeface="Swis721 BlkOul BT" pitchFamily="82" charset="0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smtClean="0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925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24928" y="-9378"/>
            <a:ext cx="1185148" cy="81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69" y="189109"/>
            <a:ext cx="5043079" cy="450109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smtClean="0"/>
              <a:t>1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03176" y="6631297"/>
            <a:ext cx="525066" cy="1047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ea typeface="宋体" charset="-122"/>
              </a:defRPr>
            </a:lvl1pPr>
          </a:lstStyle>
          <a:p>
            <a:pPr>
              <a:defRPr/>
            </a:pPr>
            <a:fld id="{87513E3B-B88E-485F-BE06-C6A18FD22D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802903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5356_CorpPPT_sectionbreak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0801350" cy="675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2"/>
          <p:cNvSpPr/>
          <p:nvPr userDrawn="1"/>
        </p:nvSpPr>
        <p:spPr bwMode="auto">
          <a:xfrm flipV="1">
            <a:off x="0" y="6571907"/>
            <a:ext cx="10801350" cy="17973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49000">
                <a:schemeClr val="bg1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" name="Rectangle 6"/>
          <p:cNvSpPr txBox="1">
            <a:spLocks noChangeArrowheads="1"/>
          </p:cNvSpPr>
          <p:nvPr userDrawn="1"/>
        </p:nvSpPr>
        <p:spPr bwMode="auto">
          <a:xfrm>
            <a:off x="10015627" y="6607853"/>
            <a:ext cx="525066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sz="700"/>
            </a:lvl1pPr>
          </a:lstStyle>
          <a:p>
            <a:pPr algn="r" eaLnBrk="0" hangingPunct="0">
              <a:defRPr/>
            </a:pPr>
            <a:fld id="{DED28400-B217-4BB2-9152-305DE0D704BD}" type="slidenum">
              <a:rPr lang="en-US" smtClean="0">
                <a:ea typeface="MS PGothic" pitchFamily="34" charset="-128"/>
              </a:rPr>
              <a:pPr algn="r" eaLnBrk="0" hangingPunct="0">
                <a:defRPr/>
              </a:pPr>
              <a:t>‹#›</a:t>
            </a:fld>
            <a:endParaRPr lang="en-US">
              <a:ea typeface="MS PGothic" pitchFamily="34" charset="-128"/>
            </a:endParaRPr>
          </a:p>
        </p:txBody>
      </p:sp>
      <p:sp>
        <p:nvSpPr>
          <p:cNvPr id="7" name="Rectangle 5"/>
          <p:cNvSpPr txBox="1">
            <a:spLocks noChangeArrowheads="1"/>
          </p:cNvSpPr>
          <p:nvPr userDrawn="1"/>
        </p:nvSpPr>
        <p:spPr bwMode="auto">
          <a:xfrm>
            <a:off x="273785" y="6607853"/>
            <a:ext cx="2128392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algn="l" eaLnBrk="0" hangingPunct="0">
              <a:defRPr/>
            </a:pPr>
            <a:r>
              <a:rPr lang="en-US" sz="700" b="1" smtClean="0">
                <a:solidFill>
                  <a:schemeClr val="tx1"/>
                </a:solidFill>
                <a:ea typeface="MS PGothic" pitchFamily="34" charset="-128"/>
              </a:rPr>
              <a:t>AEROSPACE &amp; DEFENSE</a:t>
            </a:r>
            <a:endParaRPr lang="en-US" sz="700" b="1">
              <a:solidFill>
                <a:schemeClr val="tx1"/>
              </a:solidFill>
              <a:ea typeface="MS PGothic" pitchFamily="34" charset="-128"/>
            </a:endParaRPr>
          </a:p>
        </p:txBody>
      </p:sp>
      <p:sp>
        <p:nvSpPr>
          <p:cNvPr id="12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520712" y="4191028"/>
            <a:ext cx="9751371" cy="33308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521315" y="3017196"/>
            <a:ext cx="9751371" cy="450109"/>
          </a:xfrm>
        </p:spPr>
        <p:txBody>
          <a:bodyPr/>
          <a:lstStyle>
            <a:lvl1pPr algn="l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smtClean="0"/>
              <a:t>1</a:t>
            </a:r>
            <a:endParaRPr lang="en-US" altLang="zh-CN"/>
          </a:p>
        </p:txBody>
      </p:sp>
      <p:pic>
        <p:nvPicPr>
          <p:cNvPr id="50177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27929" y="-18952"/>
            <a:ext cx="1128851" cy="145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33755768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24811" y="5752083"/>
            <a:ext cx="3096344" cy="72008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国睿信维软件有限公司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1"/>
          </p:nvPr>
        </p:nvSpPr>
        <p:spPr>
          <a:xfrm>
            <a:off x="7200875" y="6040115"/>
            <a:ext cx="19442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391077" y="32658"/>
            <a:ext cx="9721850" cy="7115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9" name="图片 9" descr="图片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86"/>
            <a:ext cx="10812236" cy="675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副标题 2"/>
          <p:cNvSpPr txBox="1">
            <a:spLocks/>
          </p:cNvSpPr>
          <p:nvPr userDrawn="1"/>
        </p:nvSpPr>
        <p:spPr bwMode="auto">
          <a:xfrm>
            <a:off x="6624811" y="5464051"/>
            <a:ext cx="3096344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mtClean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国睿信维软件有限公司</a:t>
            </a:r>
            <a:endParaRPr lang="zh-CN" altLang="en-US">
              <a:solidFill>
                <a:prstClr val="black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1" name="日期占位符 3"/>
          <p:cNvSpPr txBox="1">
            <a:spLocks/>
          </p:cNvSpPr>
          <p:nvPr userDrawn="1"/>
        </p:nvSpPr>
        <p:spPr>
          <a:xfrm>
            <a:off x="7272883" y="5896099"/>
            <a:ext cx="1944216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mtClean="0">
                <a:solidFill>
                  <a:prstClr val="black"/>
                </a:solidFill>
              </a:rPr>
              <a:t>2012</a:t>
            </a:r>
            <a:r>
              <a:rPr lang="zh-CN" altLang="en-US" smtClean="0">
                <a:solidFill>
                  <a:prstClr val="black"/>
                </a:solidFill>
              </a:rPr>
              <a:t>年</a:t>
            </a:r>
            <a:r>
              <a:rPr lang="en-US" altLang="zh-CN" smtClean="0">
                <a:solidFill>
                  <a:prstClr val="black"/>
                </a:solidFill>
              </a:rPr>
              <a:t>5</a:t>
            </a:r>
            <a:r>
              <a:rPr lang="zh-CN" altLang="en-US" smtClean="0">
                <a:solidFill>
                  <a:prstClr val="black"/>
                </a:solidFill>
              </a:rPr>
              <a:t>月</a:t>
            </a:r>
            <a:r>
              <a:rPr lang="en-US" altLang="zh-CN" smtClean="0">
                <a:solidFill>
                  <a:prstClr val="black"/>
                </a:solidFill>
              </a:rPr>
              <a:t>24</a:t>
            </a:r>
            <a:r>
              <a:rPr lang="zh-CN" altLang="en-US" smtClean="0">
                <a:solidFill>
                  <a:prstClr val="black"/>
                </a:solidFill>
              </a:rPr>
              <a:t>日</a:t>
            </a: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12" name="图片 12" descr="图片3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60" y="4682307"/>
            <a:ext cx="10064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2739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quarter" idx="11"/>
          </p:nvPr>
        </p:nvSpPr>
        <p:spPr>
          <a:xfrm>
            <a:off x="576263" y="1576388"/>
            <a:ext cx="9720262" cy="4967287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2"/>
          </p:nvPr>
        </p:nvSpPr>
        <p:spPr>
          <a:xfrm>
            <a:off x="7380288" y="6624736"/>
            <a:ext cx="3421062" cy="2074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black"/>
                </a:solidFill>
              </a:rPr>
              <a:t>1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801350" cy="63951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5" name="图片 10" descr="图片8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155" y="291677"/>
            <a:ext cx="1008187" cy="419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9245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 descr="图片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938"/>
            <a:ext cx="10818813" cy="5594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本占位符 18"/>
          <p:cNvSpPr>
            <a:spLocks noGrp="1"/>
          </p:cNvSpPr>
          <p:nvPr>
            <p:ph type="body" sz="quarter" idx="11"/>
          </p:nvPr>
        </p:nvSpPr>
        <p:spPr>
          <a:xfrm>
            <a:off x="2232323" y="1863651"/>
            <a:ext cx="6408712" cy="2016125"/>
          </a:xfrm>
        </p:spPr>
        <p:txBody>
          <a:bodyPr>
            <a:normAutofit/>
          </a:bodyPr>
          <a:lstStyle>
            <a:lvl1pPr>
              <a:buNone/>
              <a:defRPr sz="9600">
                <a:latin typeface="Swis721 BlkOul BT" pitchFamily="82" charset="0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2"/>
          </p:nvPr>
        </p:nvSpPr>
        <p:spPr>
          <a:xfrm>
            <a:off x="7380288" y="6624736"/>
            <a:ext cx="3421062" cy="2074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black"/>
                </a:solidFill>
              </a:rPr>
              <a:t>1</a:t>
            </a: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53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0" y="-1"/>
            <a:ext cx="10776298" cy="783531"/>
          </a:xfrm>
        </p:spPr>
        <p:txBody>
          <a:bodyPr anchor="ctr"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576139" y="1143571"/>
            <a:ext cx="9609816" cy="5112568"/>
          </a:xfrm>
        </p:spPr>
        <p:txBody>
          <a:bodyPr/>
          <a:lstStyle>
            <a:lvl1pPr>
              <a:lnSpc>
                <a:spcPct val="150000"/>
              </a:lnSpc>
              <a:defRPr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lnSpc>
                <a:spcPct val="150000"/>
              </a:lnSpc>
              <a:defRPr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lnSpc>
                <a:spcPct val="150000"/>
              </a:lnSpc>
              <a:defRPr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3pPr>
            <a:lvl4pPr>
              <a:lnSpc>
                <a:spcPct val="150000"/>
              </a:lnSpc>
              <a:defRPr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4pPr>
            <a:lvl5pPr>
              <a:lnSpc>
                <a:spcPct val="150000"/>
              </a:lnSpc>
              <a:defRPr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8543975" y="6318768"/>
            <a:ext cx="2232323" cy="3600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prstClr val="white"/>
                </a:solidFill>
                <a:latin typeface="楷体" pitchFamily="49" charset="-122"/>
                <a:ea typeface="楷体" pitchFamily="49" charset="-122"/>
              </a:rPr>
              <a:t>眼界决定未来</a:t>
            </a:r>
            <a:endParaRPr lang="zh-CN" altLang="en-US">
              <a:solidFill>
                <a:prstClr val="white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946625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39750" y="927100"/>
            <a:ext cx="972185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39750" y="1574800"/>
            <a:ext cx="972185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pic>
        <p:nvPicPr>
          <p:cNvPr id="1028" name="图片 7" descr="图片4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135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图片 8" descr="图片6.jpg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62725"/>
            <a:ext cx="10801350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380288" y="6543675"/>
            <a:ext cx="3421062" cy="2079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80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zh-CN" smtClean="0"/>
              <a:t>1</a:t>
            </a:r>
            <a:endParaRPr lang="zh-CN" altLang="en-US"/>
          </a:p>
        </p:txBody>
      </p:sp>
      <p:pic>
        <p:nvPicPr>
          <p:cNvPr id="1031" name="图片 10" descr="图片8.png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850" y="279400"/>
            <a:ext cx="76676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图片 11" descr="图片9.png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31925"/>
            <a:ext cx="10801350" cy="2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5" r:id="rId3"/>
    <p:sldLayoutId id="2147483848" r:id="rId4"/>
    <p:sldLayoutId id="2147483850" r:id="rId5"/>
    <p:sldLayoutId id="2147483851" r:id="rId6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占位符 1"/>
          <p:cNvSpPr txBox="1">
            <a:spLocks/>
          </p:cNvSpPr>
          <p:nvPr userDrawn="1"/>
        </p:nvSpPr>
        <p:spPr bwMode="auto">
          <a:xfrm flipV="1">
            <a:off x="-1" y="-2"/>
            <a:ext cx="10801351" cy="7835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endParaRPr lang="zh-CN" altLang="en-US" sz="2500" smtClean="0">
              <a:solidFill>
                <a:prstClr val="white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04131" y="1575619"/>
            <a:ext cx="972185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pic>
        <p:nvPicPr>
          <p:cNvPr id="1031" name="图片 10" descr="图片8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155" y="291677"/>
            <a:ext cx="1008187" cy="419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7905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6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8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5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52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53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4.e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78.e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0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4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0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90.emf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0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0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0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0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0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0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0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0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0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0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0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3.png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0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0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0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0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0.png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0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ctrTitle"/>
          </p:nvPr>
        </p:nvSpPr>
        <p:spPr>
          <a:xfrm>
            <a:off x="1655763" y="4311923"/>
            <a:ext cx="7561262" cy="1800200"/>
          </a:xfrm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en-US" altLang="zh-CN" sz="3200" b="1" smtClean="0">
                <a:latin typeface="微软雅黑" pitchFamily="34" charset="-122"/>
                <a:ea typeface="微软雅黑" pitchFamily="34" charset="-122"/>
              </a:rPr>
              <a:t>149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厂三维工艺协同管理平台</a:t>
            </a:r>
            <a:r>
              <a:rPr lang="en-US" altLang="zh-CN" sz="3200" b="1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3200" b="1" smtClean="0"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系统解决方案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56259" y="6112123"/>
            <a:ext cx="7561262" cy="51911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国睿信维   曾志超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1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zh-CN" altLang="en-US" sz="2400" smtClean="0"/>
              <a:t>目   录</a:t>
            </a:r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927100"/>
            <a:ext cx="9721850" cy="468313"/>
          </a:xfrm>
          <a:prstGeom prst="rect">
            <a:avLst/>
          </a:prstGeom>
        </p:spPr>
        <p:txBody>
          <a:bodyPr/>
          <a:lstStyle/>
          <a:p>
            <a:r>
              <a:rPr lang="zh-CN" altLang="en-US" sz="2400" b="1" smtClean="0">
                <a:latin typeface="微软雅黑" pitchFamily="34" charset="-122"/>
                <a:ea typeface="微软雅黑" pitchFamily="34" charset="-122"/>
              </a:rPr>
              <a:t>汇报内容</a:t>
            </a:r>
            <a:endParaRPr lang="zh-CN" altLang="en-US" sz="2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68227" y="1160951"/>
            <a:ext cx="7329487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AutoNum type="ea1ChsPlain"/>
            </a:pP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  文档说明</a:t>
            </a:r>
            <a:endParaRPr lang="en-US" altLang="zh-CN" sz="2200" b="1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200000"/>
              </a:lnSpc>
              <a:buAutoNum type="ea1ChsPlain"/>
            </a:pP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  方案概述</a:t>
            </a:r>
            <a:endParaRPr lang="en-US" altLang="zh-CN" sz="2200" b="1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200000"/>
              </a:lnSpc>
              <a:buAutoNum type="ea1ChsPlain"/>
            </a:pP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  业务解决方案</a:t>
            </a:r>
            <a:endParaRPr lang="en-US" altLang="zh-CN" sz="2200" b="1" smtClean="0">
              <a:latin typeface="微软雅黑" pitchFamily="34" charset="-122"/>
              <a:ea typeface="微软雅黑" pitchFamily="34" charset="-122"/>
            </a:endParaRPr>
          </a:p>
          <a:p>
            <a:pPr marL="971550" lvl="1" indent="-51435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总体业务框架</a:t>
            </a:r>
            <a:endParaRPr lang="en-US" altLang="zh-CN" sz="2000" b="1" smtClean="0">
              <a:solidFill>
                <a:schemeClr val="accent5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971550" lvl="1" indent="-51435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工艺设计总体业务流程</a:t>
            </a:r>
            <a:endParaRPr lang="en-US" altLang="zh-CN" sz="2000" b="1" smtClean="0">
              <a:solidFill>
                <a:schemeClr val="accent5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971550" lvl="1" indent="-51435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未来实践设计定义</a:t>
            </a:r>
            <a:endParaRPr lang="en-US" altLang="zh-CN" sz="2000" b="1" smtClean="0">
              <a:solidFill>
                <a:schemeClr val="accent5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971550" lvl="1" indent="-514350">
              <a:lnSpc>
                <a:spcPct val="200000"/>
              </a:lnSpc>
              <a:buFont typeface="+mj-lt"/>
              <a:buAutoNum type="arabicPeriod"/>
            </a:pPr>
            <a:endParaRPr lang="en-US" altLang="zh-CN" sz="2000" b="1" smtClean="0"/>
          </a:p>
          <a:p>
            <a:pPr marL="342900" indent="-342900">
              <a:lnSpc>
                <a:spcPct val="200000"/>
              </a:lnSpc>
              <a:buAutoNum type="ea1ChsPlain"/>
            </a:pPr>
            <a:endParaRPr lang="en-US" altLang="zh-CN" b="1"/>
          </a:p>
        </p:txBody>
      </p:sp>
    </p:spTree>
    <p:extLst>
      <p:ext uri="{BB962C8B-B14F-4D97-AF65-F5344CB8AC3E}">
        <p14:creationId xmlns:p14="http://schemas.microsoft.com/office/powerpoint/2010/main" val="149939289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288107" y="1461466"/>
            <a:ext cx="9249543" cy="4733925"/>
          </a:xfrm>
        </p:spPr>
        <p:txBody>
          <a:bodyPr/>
          <a:lstStyle/>
          <a:p>
            <a:pPr marL="457200" indent="-457200">
              <a:buFont typeface="Wingdings" pitchFamily="2" charset="2"/>
              <a:buChar char="u"/>
            </a:pPr>
            <a:endParaRPr lang="en-US" altLang="zh-CN" sz="1800" smtClean="0"/>
          </a:p>
          <a:p>
            <a:pPr marL="457200" indent="-457200">
              <a:buFont typeface="Wingdings" pitchFamily="2" charset="2"/>
              <a:buChar char="u"/>
            </a:pP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u"/>
            </a:pPr>
            <a:endParaRPr lang="en-US" altLang="zh-CN" sz="1800" smtClean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u"/>
            </a:pPr>
            <a:endParaRPr lang="en-US" altLang="zh-CN" sz="1800" smtClean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u"/>
            </a:pPr>
            <a:endParaRPr lang="en-US" altLang="zh-CN" sz="18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3157538" y="2792413"/>
            <a:ext cx="5518150" cy="158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lIns="91407" tIns="45704" rIns="91407" bIns="45704" anchor="ctr">
            <a:spAutoFit/>
          </a:bodyPr>
          <a:lstStyle/>
          <a:p>
            <a:endParaRPr lang="zh-CN" alt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132138" y="2071688"/>
            <a:ext cx="2016125" cy="72072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1241425" indent="-1241425" eaLnBrk="0" hangingPunct="0">
              <a:spcBef>
                <a:spcPct val="50000"/>
              </a:spcBef>
            </a:pPr>
            <a:r>
              <a:rPr lang="zh-CN" altLang="en-US" sz="3200" b="1" i="1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文档</a:t>
            </a:r>
            <a:r>
              <a:rPr lang="zh-CN" altLang="en-US" sz="3200" b="1" i="1" smtClean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说明</a:t>
            </a:r>
            <a:endParaRPr lang="zh-CN" altLang="en-US" sz="3200" b="1" i="1">
              <a:solidFill>
                <a:schemeClr val="accent5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059113" y="3019425"/>
            <a:ext cx="5761037" cy="1202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36000" bIns="46800">
            <a:spAutoFit/>
          </a:bodyPr>
          <a:lstStyle/>
          <a:p>
            <a:pPr marL="0" lvl="1" indent="266700" eaLnBrk="0" hangingPunct="0">
              <a:spcBef>
                <a:spcPct val="50000"/>
              </a:spcBef>
              <a:buFont typeface="Wingdings" pitchFamily="2" charset="2"/>
              <a:buChar char="p"/>
            </a:pPr>
            <a:r>
              <a:rPr lang="zh-CN" altLang="en-US" sz="1800" b="0">
                <a:latin typeface="Arial" pitchFamily="34" charset="0"/>
                <a:ea typeface="黑体" pitchFamily="49" charset="-122"/>
              </a:rPr>
              <a:t> </a:t>
            </a:r>
            <a:r>
              <a:rPr lang="zh-CN" altLang="en-US" smtClean="0">
                <a:ea typeface="黑体" pitchFamily="49" charset="-122"/>
              </a:rPr>
              <a:t>文档目的</a:t>
            </a:r>
            <a:endParaRPr lang="zh-CN" altLang="en-US" sz="1800" b="0">
              <a:latin typeface="Arial" pitchFamily="34" charset="0"/>
              <a:ea typeface="黑体" pitchFamily="49" charset="-122"/>
            </a:endParaRPr>
          </a:p>
          <a:p>
            <a:pPr marL="0" lvl="1" indent="266700" eaLnBrk="0" hangingPunct="0">
              <a:spcBef>
                <a:spcPct val="50000"/>
              </a:spcBef>
              <a:buFont typeface="Wingdings" pitchFamily="2" charset="2"/>
              <a:buChar char="p"/>
            </a:pPr>
            <a:r>
              <a:rPr lang="zh-CN" altLang="en-US" sz="1800" b="0">
                <a:latin typeface="Arial" pitchFamily="34" charset="0"/>
                <a:ea typeface="黑体" pitchFamily="49" charset="-122"/>
              </a:rPr>
              <a:t> </a:t>
            </a:r>
            <a:r>
              <a:rPr lang="zh-CN" altLang="en-US" smtClean="0">
                <a:ea typeface="黑体" pitchFamily="49" charset="-122"/>
              </a:rPr>
              <a:t>文档约定</a:t>
            </a:r>
            <a:endParaRPr lang="en-US" altLang="zh-CN" sz="1800" b="0" smtClean="0">
              <a:latin typeface="Arial" pitchFamily="34" charset="0"/>
              <a:ea typeface="黑体" pitchFamily="49" charset="-122"/>
            </a:endParaRPr>
          </a:p>
          <a:p>
            <a:pPr marL="0" lvl="1" indent="266700" eaLnBrk="0" hangingPunct="0">
              <a:spcBef>
                <a:spcPct val="50000"/>
              </a:spcBef>
              <a:buFont typeface="Wingdings" pitchFamily="2" charset="2"/>
              <a:buChar char="p"/>
            </a:pPr>
            <a:r>
              <a:rPr lang="zh-CN" altLang="en-US" sz="1800" b="0" smtClean="0">
                <a:latin typeface="Arial" pitchFamily="34" charset="0"/>
                <a:ea typeface="黑体" pitchFamily="49" charset="-122"/>
              </a:rPr>
              <a:t> </a:t>
            </a:r>
            <a:r>
              <a:rPr lang="zh-CN" altLang="en-US" smtClean="0">
                <a:ea typeface="黑体" pitchFamily="49" charset="-122"/>
              </a:rPr>
              <a:t>预期读者</a:t>
            </a:r>
            <a:endParaRPr lang="zh-CN" altLang="en-US" sz="1800" b="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63745" y="1333748"/>
            <a:ext cx="1888658" cy="37702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fr-FR" altLang="zh-CN" sz="23900">
                <a:solidFill>
                  <a:srgbClr val="FF9900"/>
                </a:solidFill>
                <a:cs typeface="Arial" pitchFamily="34" charset="0"/>
              </a:rPr>
              <a:t>1</a:t>
            </a:r>
            <a:endParaRPr lang="en-US" altLang="zh-CN" sz="23900">
              <a:solidFill>
                <a:srgbClr val="FF99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24666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149</a:t>
            </a:r>
            <a:r>
              <a:rPr lang="zh-CN" altLang="en-US" smtClean="0"/>
              <a:t>厂三维工艺协同管理平台系统解决方案：</a:t>
            </a:r>
            <a:r>
              <a:rPr lang="zh-CN" altLang="en-US" smtClean="0">
                <a:solidFill>
                  <a:srgbClr val="FFFF00"/>
                </a:solidFill>
              </a:rPr>
              <a:t>文档说明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855539"/>
            <a:ext cx="9609816" cy="576064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itchFamily="2" charset="2"/>
              <a:buChar char="n"/>
            </a:pP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文档目的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marL="400050" lvl="1" indent="0">
              <a:buNone/>
            </a:pPr>
            <a:r>
              <a:rPr lang="zh-CN" altLang="zh-CN" sz="1600" b="1" smtClean="0">
                <a:solidFill>
                  <a:schemeClr val="accent5">
                    <a:lumMod val="50000"/>
                  </a:schemeClr>
                </a:solidFill>
              </a:rPr>
              <a:t>本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</a:rPr>
              <a:t>文档是在前期与上海航天设备制造总厂（以下简称“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</a:rPr>
              <a:t>149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</a:rPr>
              <a:t>厂”）业务部门业务访谈、需求分析并结合</a:t>
            </a:r>
            <a:r>
              <a:rPr lang="en-US" altLang="zh-CN" sz="1600" b="1" smtClean="0">
                <a:solidFill>
                  <a:schemeClr val="accent5">
                    <a:lumMod val="50000"/>
                  </a:schemeClr>
                </a:solidFill>
              </a:rPr>
              <a:t>Windchill 10</a:t>
            </a:r>
            <a:r>
              <a:rPr lang="zh-CN" altLang="zh-CN" sz="1600" b="1" smtClean="0">
                <a:solidFill>
                  <a:schemeClr val="accent5">
                    <a:lumMod val="50000"/>
                  </a:schemeClr>
                </a:solidFill>
              </a:rPr>
              <a:t>平台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</a:rPr>
              <a:t>特性分析的基础上，以南京国睿信维软件有限公司（以下简称“国睿信维”）的项目实施方法论为基础，依据行业最佳实践（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</a:rPr>
              <a:t>Best Practice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</a:rPr>
              <a:t>）与实施经验，形成的系统实施解决</a:t>
            </a:r>
            <a:r>
              <a:rPr lang="zh-CN" altLang="zh-CN" sz="1600" b="1" smtClean="0">
                <a:solidFill>
                  <a:schemeClr val="accent5">
                    <a:lumMod val="50000"/>
                  </a:schemeClr>
                </a:solidFill>
              </a:rPr>
              <a:t>方案</a:t>
            </a:r>
            <a:r>
              <a:rPr lang="zh-CN" altLang="en-US" sz="1600" b="1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zh-CN" altLang="zh-CN" sz="1600" b="1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n"/>
            </a:pP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文档约定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marL="400050" lvl="1" indent="0">
              <a:buNone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</a:rPr>
              <a:t>本文档中出现的所有用户界面仅仅作为功能示意，旨在形象地描述系统将提供的功能，让用户对将来的系统有直观的了解，并不代表系统实施后的实际页面。实际页面及具体实现方式，将在本业务解决方案通过后的系统详细设计过程中确定。</a:t>
            </a:r>
          </a:p>
          <a:p>
            <a:pPr>
              <a:buFont typeface="Wingdings" pitchFamily="2" charset="2"/>
              <a:buChar char="n"/>
            </a:pP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预期读者</a:t>
            </a:r>
          </a:p>
          <a:p>
            <a:pPr marL="400050" lvl="1" indent="0">
              <a:buNone/>
            </a:pP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</a:rPr>
              <a:t>本文的预期读者为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</a:rPr>
              <a:t>149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</a:rPr>
              <a:t>厂参与业务访谈、需求分析以及方案定义与决策的相关人员、项目组相关成员。本文也可以作为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</a:rPr>
              <a:t>149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</a:rPr>
              <a:t>厂系统管理员、业务管理员在后期定义业务规则时的参考文档，还可以作为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</a:rPr>
              <a:t>149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</a:rPr>
              <a:t>厂最终用户在理解最终交付系统时的参考文档。</a:t>
            </a:r>
          </a:p>
          <a:p>
            <a:pPr marL="400050" lvl="1" indent="0">
              <a:buNone/>
            </a:pPr>
            <a:endParaRPr lang="zh-CN" altLang="en-US" b="1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79401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288107" y="1461466"/>
            <a:ext cx="9249543" cy="4733925"/>
          </a:xfrm>
        </p:spPr>
        <p:txBody>
          <a:bodyPr/>
          <a:lstStyle/>
          <a:p>
            <a:pPr marL="457200" indent="-457200">
              <a:buFont typeface="Wingdings" pitchFamily="2" charset="2"/>
              <a:buChar char="u"/>
            </a:pPr>
            <a:endParaRPr lang="en-US" altLang="zh-CN" sz="1800" smtClean="0"/>
          </a:p>
          <a:p>
            <a:pPr marL="457200" indent="-457200">
              <a:buFont typeface="Wingdings" pitchFamily="2" charset="2"/>
              <a:buChar char="u"/>
            </a:pP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u"/>
            </a:pPr>
            <a:endParaRPr lang="en-US" altLang="zh-CN" sz="1800" smtClean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u"/>
            </a:pPr>
            <a:endParaRPr lang="en-US" altLang="zh-CN" sz="1800" smtClean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u"/>
            </a:pPr>
            <a:endParaRPr lang="en-US" altLang="zh-CN" sz="18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3157538" y="2792413"/>
            <a:ext cx="5518150" cy="158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lIns="91407" tIns="45704" rIns="91407" bIns="45704" anchor="ctr">
            <a:spAutoFit/>
          </a:bodyPr>
          <a:lstStyle/>
          <a:p>
            <a:endParaRPr lang="zh-CN" alt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132138" y="2071688"/>
            <a:ext cx="2016125" cy="72072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1241425" indent="-1241425" eaLnBrk="0" hangingPunct="0">
              <a:spcBef>
                <a:spcPct val="50000"/>
              </a:spcBef>
            </a:pPr>
            <a:r>
              <a:rPr lang="zh-CN" altLang="en-US" sz="3200" b="1" i="1" smtClean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方案概述</a:t>
            </a:r>
            <a:endParaRPr lang="zh-CN" altLang="en-US" sz="3200" b="1" i="1">
              <a:solidFill>
                <a:schemeClr val="accent5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059113" y="3019425"/>
            <a:ext cx="5761037" cy="787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36000" bIns="46800">
            <a:spAutoFit/>
          </a:bodyPr>
          <a:lstStyle/>
          <a:p>
            <a:pPr marL="0" lvl="1" indent="266700" eaLnBrk="0" hangingPunct="0">
              <a:spcBef>
                <a:spcPct val="50000"/>
              </a:spcBef>
              <a:buFont typeface="Wingdings" pitchFamily="2" charset="2"/>
              <a:buChar char="p"/>
            </a:pPr>
            <a:r>
              <a:rPr lang="zh-CN" altLang="en-US" sz="1800" b="0">
                <a:latin typeface="Arial" pitchFamily="34" charset="0"/>
                <a:ea typeface="黑体" pitchFamily="49" charset="-122"/>
              </a:rPr>
              <a:t> </a:t>
            </a:r>
            <a:r>
              <a:rPr lang="zh-CN" altLang="en-US" smtClean="0">
                <a:ea typeface="黑体" pitchFamily="49" charset="-122"/>
              </a:rPr>
              <a:t>项目总体目标</a:t>
            </a:r>
            <a:endParaRPr lang="zh-CN" altLang="en-US" sz="1800" b="0">
              <a:latin typeface="Arial" pitchFamily="34" charset="0"/>
              <a:ea typeface="黑体" pitchFamily="49" charset="-122"/>
            </a:endParaRPr>
          </a:p>
          <a:p>
            <a:pPr marL="0" lvl="1" indent="266700" eaLnBrk="0" hangingPunct="0">
              <a:spcBef>
                <a:spcPct val="50000"/>
              </a:spcBef>
              <a:buFont typeface="Wingdings" pitchFamily="2" charset="2"/>
              <a:buChar char="p"/>
            </a:pPr>
            <a:r>
              <a:rPr lang="zh-CN" altLang="en-US" sz="1800" b="0" smtClean="0">
                <a:latin typeface="Arial" pitchFamily="34" charset="0"/>
                <a:ea typeface="黑体" pitchFamily="49" charset="-122"/>
              </a:rPr>
              <a:t> 实施范围</a:t>
            </a:r>
            <a:endParaRPr lang="zh-CN" altLang="en-US" sz="1800" b="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63745" y="1333748"/>
            <a:ext cx="1888659" cy="37702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fr-FR" altLang="zh-CN" sz="23900" smtClean="0">
                <a:solidFill>
                  <a:srgbClr val="FF9900"/>
                </a:solidFill>
                <a:cs typeface="Arial" pitchFamily="34" charset="0"/>
              </a:rPr>
              <a:t>2</a:t>
            </a:r>
            <a:endParaRPr lang="en-US" altLang="zh-CN" sz="23900">
              <a:solidFill>
                <a:srgbClr val="FF99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10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 smtClean="0">
                <a:solidFill>
                  <a:srgbClr val="FFFF00"/>
                </a:solidFill>
              </a:rPr>
              <a:t>项目总体目标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432123" y="1143571"/>
            <a:ext cx="9793088" cy="5112568"/>
          </a:xfrm>
        </p:spPr>
        <p:txBody>
          <a:bodyPr/>
          <a:lstStyle/>
          <a:p>
            <a:pPr marL="0" indent="0">
              <a:buNone/>
            </a:pP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通过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本期项目的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建设</a:t>
            </a:r>
            <a:r>
              <a:rPr lang="zh-CN" altLang="en-US" smtClean="0"/>
              <a:t>主要实现如下总体目标：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zh-CN" smtClean="0"/>
              <a:t>通过</a:t>
            </a:r>
            <a:r>
              <a:rPr lang="zh-CN" altLang="en-US" smtClean="0"/>
              <a:t>试点型号产品</a:t>
            </a:r>
            <a:r>
              <a:rPr lang="zh-CN" altLang="zh-CN" smtClean="0"/>
              <a:t>全</a:t>
            </a:r>
            <a:r>
              <a:rPr lang="zh-CN" altLang="zh-CN"/>
              <a:t>三维数字样机构建及</a:t>
            </a:r>
            <a:r>
              <a:rPr lang="zh-CN" altLang="zh-CN">
                <a:solidFill>
                  <a:srgbClr val="0070C0"/>
                </a:solidFill>
              </a:rPr>
              <a:t>数据发放接收管理</a:t>
            </a:r>
            <a:r>
              <a:rPr lang="zh-CN" altLang="zh-CN"/>
              <a:t>，实现</a:t>
            </a:r>
            <a:r>
              <a:rPr lang="zh-CN" altLang="zh-CN">
                <a:solidFill>
                  <a:srgbClr val="0070C0"/>
                </a:solidFill>
              </a:rPr>
              <a:t>全三维模型受控下厂</a:t>
            </a:r>
            <a:r>
              <a:rPr lang="zh-CN" altLang="zh-CN"/>
              <a:t>，</a:t>
            </a:r>
            <a:r>
              <a:rPr lang="zh-CN" altLang="zh-CN" smtClean="0"/>
              <a:t>作为</a:t>
            </a:r>
            <a:r>
              <a:rPr lang="zh-CN" altLang="en-US" smtClean="0">
                <a:solidFill>
                  <a:srgbClr val="0070C0"/>
                </a:solidFill>
              </a:rPr>
              <a:t>开展三维工艺设计及</a:t>
            </a:r>
            <a:r>
              <a:rPr lang="zh-CN" altLang="zh-CN" smtClean="0">
                <a:solidFill>
                  <a:srgbClr val="0070C0"/>
                </a:solidFill>
              </a:rPr>
              <a:t>生产装配</a:t>
            </a:r>
            <a:r>
              <a:rPr lang="zh-CN" altLang="zh-CN"/>
              <a:t>的依据</a:t>
            </a:r>
            <a:r>
              <a:rPr lang="zh-CN" altLang="zh-CN" smtClean="0"/>
              <a:t>，实现</a:t>
            </a:r>
            <a:r>
              <a:rPr lang="zh-CN" altLang="zh-CN"/>
              <a:t>设计制造的一体化</a:t>
            </a:r>
            <a:r>
              <a:rPr lang="zh-CN" altLang="zh-CN" smtClean="0"/>
              <a:t>。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建立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全厂统一的工艺协同管理平台，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将</a:t>
            </a:r>
            <a:r>
              <a:rPr lang="zh-CN" altLang="zh-CN" smtClean="0">
                <a:solidFill>
                  <a:srgbClr val="0070C0"/>
                </a:solidFill>
              </a:rPr>
              <a:t>工艺</a:t>
            </a:r>
            <a:r>
              <a:rPr lang="zh-CN" altLang="zh-CN">
                <a:solidFill>
                  <a:srgbClr val="0070C0"/>
                </a:solidFill>
              </a:rPr>
              <a:t>数据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及</a:t>
            </a:r>
            <a:r>
              <a:rPr lang="zh-CN" altLang="zh-CN">
                <a:solidFill>
                  <a:srgbClr val="0070C0"/>
                </a:solidFill>
              </a:rPr>
              <a:t>自研产品数据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纳入到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Windchill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平台进行统一管控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构建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的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平台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将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作为</a:t>
            </a:r>
            <a:r>
              <a:rPr lang="zh-CN" altLang="zh-CN" smtClean="0">
                <a:solidFill>
                  <a:srgbClr val="0070C0"/>
                </a:solidFill>
              </a:rPr>
              <a:t>全厂统一</a:t>
            </a:r>
            <a:r>
              <a:rPr lang="zh-CN" altLang="en-US" smtClean="0">
                <a:solidFill>
                  <a:srgbClr val="0070C0"/>
                </a:solidFill>
              </a:rPr>
              <a:t>的数据</a:t>
            </a:r>
            <a:r>
              <a:rPr lang="zh-CN" altLang="zh-CN" smtClean="0">
                <a:solidFill>
                  <a:srgbClr val="0070C0"/>
                </a:solidFill>
              </a:rPr>
              <a:t>信息中枢</a:t>
            </a:r>
            <a:r>
              <a:rPr lang="zh-CN" altLang="en-US" smtClean="0">
                <a:solidFill>
                  <a:srgbClr val="0070C0"/>
                </a:solidFill>
              </a:rPr>
              <a:t>和集成平台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，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建立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149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厂各信息系统的集成框架，实现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Windchill</a:t>
            </a:r>
            <a:r>
              <a:rPr lang="zh-CN" altLang="en-US" smtClean="0"/>
              <a:t>与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CAPP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的集成、与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ERP</a:t>
            </a:r>
            <a:r>
              <a:rPr lang="zh-CN" altLang="en-US" smtClean="0"/>
              <a:t>的数据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信息传递。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zh-CN" altLang="en-US" smtClean="0"/>
              <a:t>建立</a:t>
            </a:r>
            <a:r>
              <a:rPr lang="zh-CN" altLang="en-US" smtClean="0">
                <a:solidFill>
                  <a:srgbClr val="0070C0"/>
                </a:solidFill>
              </a:rPr>
              <a:t>三维工程化工艺制造的标准规范体系</a:t>
            </a:r>
            <a:r>
              <a:rPr lang="zh-CN" altLang="en-US" smtClean="0"/>
              <a:t>，为后续型号产品的三维工程化应用推广打好基础。</a:t>
            </a:r>
            <a:endParaRPr lang="zh-CN" altLang="zh-CN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15684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实施</a:t>
            </a:r>
            <a:r>
              <a:rPr lang="zh-CN" altLang="en-US" smtClean="0">
                <a:solidFill>
                  <a:srgbClr val="FFFF00"/>
                </a:solidFill>
              </a:rPr>
              <a:t>范围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/>
              <a:t>本期项目主要实施内容包括：</a:t>
            </a:r>
          </a:p>
          <a:p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400675" y="1875401"/>
            <a:ext cx="3528392" cy="423672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zh-CN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工装</a:t>
            </a:r>
            <a:r>
              <a:rPr lang="zh-CN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设计管理</a:t>
            </a:r>
          </a:p>
          <a:p>
            <a:pPr marL="342900" lvl="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变更过程管理</a:t>
            </a:r>
          </a:p>
          <a:p>
            <a:pPr marL="342900" lvl="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en-US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Windchill/CAPP</a:t>
            </a:r>
            <a:r>
              <a:rPr lang="zh-CN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集成</a:t>
            </a:r>
          </a:p>
          <a:p>
            <a:pPr marL="342900" lvl="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en-US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Windchill/ERP</a:t>
            </a:r>
            <a:r>
              <a:rPr lang="zh-CN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数据传递</a:t>
            </a:r>
          </a:p>
          <a:p>
            <a:pPr marL="342900" lvl="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历史数据整理与导入</a:t>
            </a:r>
          </a:p>
          <a:p>
            <a:pPr marL="342900" lvl="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系统安全保密改造</a:t>
            </a:r>
          </a:p>
          <a:p>
            <a:pPr algn="ctr"/>
            <a:endParaRPr lang="zh-CN" altLang="en-US" sz="16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343511" y="1875401"/>
            <a:ext cx="3528392" cy="423672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设计数据接收管理 </a:t>
            </a:r>
          </a:p>
          <a:p>
            <a:pPr marL="342900" lvl="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文档管理</a:t>
            </a:r>
          </a:p>
          <a:p>
            <a:pPr marL="342900" lvl="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en-US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PBOM</a:t>
            </a:r>
            <a:r>
              <a:rPr lang="zh-CN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设计管理</a:t>
            </a:r>
          </a:p>
          <a:p>
            <a:pPr marL="342900" lvl="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工艺任务分工管理</a:t>
            </a:r>
          </a:p>
          <a:p>
            <a:pPr marL="342900" lvl="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三维工艺</a:t>
            </a:r>
            <a:r>
              <a:rPr lang="zh-CN" altLang="zh-CN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设计管理</a:t>
            </a:r>
            <a:endParaRPr lang="en-US" altLang="zh-CN" b="1" smtClean="0">
              <a:solidFill>
                <a:schemeClr val="accent5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zh-CN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自研产品</a:t>
            </a:r>
            <a:r>
              <a:rPr lang="zh-CN" altLang="zh-CN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设计管理</a:t>
            </a:r>
          </a:p>
          <a:p>
            <a:pPr algn="ctr"/>
            <a:endParaRPr lang="zh-CN" altLang="en-US" sz="1400" b="1">
              <a:solidFill>
                <a:schemeClr val="accent5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858936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实施</a:t>
            </a:r>
            <a:r>
              <a:rPr lang="zh-CN" altLang="en-US" smtClean="0">
                <a:solidFill>
                  <a:srgbClr val="FFFF00"/>
                </a:solidFill>
              </a:rPr>
              <a:t>范围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/>
              <a:t>本期</a:t>
            </a:r>
            <a:r>
              <a:rPr lang="zh-CN" altLang="zh-CN" smtClean="0"/>
              <a:t>项目</a:t>
            </a:r>
            <a:r>
              <a:rPr lang="zh-CN" altLang="en-US"/>
              <a:t>涉及</a:t>
            </a:r>
            <a:r>
              <a:rPr lang="zh-CN" altLang="en-US" smtClean="0"/>
              <a:t>的软件模块及主要功能</a:t>
            </a:r>
            <a:r>
              <a:rPr lang="zh-CN" altLang="zh-CN" smtClean="0"/>
              <a:t>：</a:t>
            </a:r>
            <a:endParaRPr lang="en-US" altLang="zh-CN" smtClean="0"/>
          </a:p>
        </p:txBody>
      </p:sp>
      <p:sp>
        <p:nvSpPr>
          <p:cNvPr id="5" name="圆角矩形 4"/>
          <p:cNvSpPr/>
          <p:nvPr/>
        </p:nvSpPr>
        <p:spPr>
          <a:xfrm>
            <a:off x="288107" y="1935659"/>
            <a:ext cx="3312368" cy="4536504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>
                <a:solidFill>
                  <a:srgbClr val="FFFF00"/>
                </a:solidFill>
              </a:rPr>
              <a:t>Windchill10 </a:t>
            </a:r>
            <a:r>
              <a:rPr lang="en-US" altLang="zh-CN" sz="2400" b="1" smtClean="0">
                <a:solidFill>
                  <a:srgbClr val="FFFF00"/>
                </a:solidFill>
              </a:rPr>
              <a:t>PDMLink</a:t>
            </a:r>
          </a:p>
          <a:p>
            <a:pPr algn="ctr">
              <a:lnSpc>
                <a:spcPct val="150000"/>
              </a:lnSpc>
            </a:pPr>
            <a:r>
              <a:rPr lang="zh-CN" altLang="en-US" sz="2000" b="1" smtClean="0">
                <a:solidFill>
                  <a:srgbClr val="FFFF00"/>
                </a:solidFill>
              </a:rPr>
              <a:t>产品数据管理</a:t>
            </a:r>
            <a:endParaRPr lang="en-US" altLang="zh-CN" sz="2000" b="1" smtClean="0">
              <a:solidFill>
                <a:srgbClr val="FFFF00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b="1" smtClean="0">
                <a:solidFill>
                  <a:schemeClr val="bg1"/>
                </a:solidFill>
              </a:rPr>
              <a:t>文档管理</a:t>
            </a:r>
            <a:endParaRPr lang="en-US" altLang="zh-CN" sz="2000" b="1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b="1" smtClean="0">
                <a:solidFill>
                  <a:schemeClr val="bg1"/>
                </a:solidFill>
              </a:rPr>
              <a:t>工作流（电子签审流程）</a:t>
            </a:r>
            <a:endParaRPr lang="en-US" altLang="zh-CN" sz="2000" b="1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</a:rPr>
              <a:t>变更</a:t>
            </a:r>
            <a:r>
              <a:rPr lang="zh-CN" altLang="en-US" sz="2000" b="1" smtClean="0">
                <a:solidFill>
                  <a:schemeClr val="bg1"/>
                </a:solidFill>
              </a:rPr>
              <a:t>管理</a:t>
            </a:r>
            <a:endParaRPr lang="en-US" altLang="zh-CN" sz="2000" b="1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b="1" smtClean="0">
                <a:solidFill>
                  <a:schemeClr val="bg1"/>
                </a:solidFill>
              </a:rPr>
              <a:t>权限管理</a:t>
            </a:r>
            <a:endParaRPr lang="en-US" altLang="zh-CN" sz="2000" b="1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</a:rPr>
              <a:t>报表管理</a:t>
            </a:r>
            <a:endParaRPr lang="en-US" altLang="zh-CN" sz="2000" b="1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000" b="1">
                <a:solidFill>
                  <a:schemeClr val="bg1"/>
                </a:solidFill>
              </a:rPr>
              <a:t>……</a:t>
            </a:r>
          </a:p>
          <a:p>
            <a:pPr algn="ctr"/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744491" y="1935659"/>
            <a:ext cx="3312368" cy="4536504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>
                <a:solidFill>
                  <a:srgbClr val="FFFF00"/>
                </a:solidFill>
              </a:rPr>
              <a:t>Windchill10 </a:t>
            </a:r>
            <a:r>
              <a:rPr lang="en-US" altLang="zh-CN" sz="2400" b="1" smtClean="0">
                <a:solidFill>
                  <a:srgbClr val="FFFF00"/>
                </a:solidFill>
              </a:rPr>
              <a:t>MPMLink</a:t>
            </a:r>
          </a:p>
          <a:p>
            <a:pPr algn="ctr">
              <a:lnSpc>
                <a:spcPct val="150000"/>
              </a:lnSpc>
            </a:pPr>
            <a:r>
              <a:rPr lang="zh-CN" altLang="en-US" sz="2000" b="1" smtClean="0">
                <a:solidFill>
                  <a:srgbClr val="FFFF00"/>
                </a:solidFill>
              </a:rPr>
              <a:t>制造过程管理</a:t>
            </a:r>
            <a:endParaRPr lang="en-US" altLang="zh-CN" sz="2000" b="1" smtClean="0">
              <a:solidFill>
                <a:srgbClr val="FFFF00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000" b="1" smtClean="0">
                <a:solidFill>
                  <a:schemeClr val="bg1"/>
                </a:solidFill>
              </a:rPr>
              <a:t>PBOM</a:t>
            </a:r>
            <a:r>
              <a:rPr lang="zh-CN" altLang="en-US" sz="2000" b="1" smtClean="0">
                <a:solidFill>
                  <a:schemeClr val="bg1"/>
                </a:solidFill>
              </a:rPr>
              <a:t>设计管理</a:t>
            </a:r>
            <a:endParaRPr lang="en-US" altLang="zh-CN" sz="2000" b="1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b="1" smtClean="0">
                <a:solidFill>
                  <a:schemeClr val="bg1"/>
                </a:solidFill>
              </a:rPr>
              <a:t>工艺任务分工</a:t>
            </a:r>
            <a:endParaRPr lang="en-US" altLang="zh-CN" sz="2000" b="1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b="1" smtClean="0">
                <a:solidFill>
                  <a:schemeClr val="bg1"/>
                </a:solidFill>
              </a:rPr>
              <a:t>结构化工艺设计</a:t>
            </a:r>
            <a:endParaRPr lang="en-US" altLang="zh-CN" sz="2000" b="1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b="1" smtClean="0">
                <a:solidFill>
                  <a:schemeClr val="bg1"/>
                </a:solidFill>
              </a:rPr>
              <a:t>工艺资源管理</a:t>
            </a:r>
            <a:endParaRPr lang="en-US" altLang="zh-CN" sz="2000" b="1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000" b="1" smtClean="0">
                <a:solidFill>
                  <a:schemeClr val="bg1"/>
                </a:solidFill>
              </a:rPr>
              <a:t>CreoView</a:t>
            </a:r>
            <a:r>
              <a:rPr lang="zh-CN" altLang="en-US" sz="2000" b="1" smtClean="0">
                <a:solidFill>
                  <a:schemeClr val="bg1"/>
                </a:solidFill>
              </a:rPr>
              <a:t>集成</a:t>
            </a:r>
            <a:endParaRPr lang="en-US" altLang="zh-CN" sz="2000" b="1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000" b="1">
                <a:solidFill>
                  <a:schemeClr val="bg1"/>
                </a:solidFill>
              </a:rPr>
              <a:t>……</a:t>
            </a:r>
          </a:p>
          <a:p>
            <a:pPr algn="ctr"/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200875" y="1935659"/>
            <a:ext cx="3312368" cy="4536504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smtClean="0">
                <a:solidFill>
                  <a:srgbClr val="FFFF00"/>
                </a:solidFill>
              </a:rPr>
              <a:t>CreoView2.0</a:t>
            </a:r>
          </a:p>
          <a:p>
            <a:pPr algn="ctr">
              <a:lnSpc>
                <a:spcPct val="150000"/>
              </a:lnSpc>
            </a:pPr>
            <a:r>
              <a:rPr lang="zh-CN" altLang="en-US" sz="2000" b="1" smtClean="0">
                <a:solidFill>
                  <a:srgbClr val="FFFF00"/>
                </a:solidFill>
              </a:rPr>
              <a:t>可视化查看软件</a:t>
            </a:r>
            <a:endParaRPr lang="en-US" altLang="zh-CN" sz="2000" b="1" smtClean="0">
              <a:solidFill>
                <a:srgbClr val="FFFF00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b="1" smtClean="0">
                <a:solidFill>
                  <a:schemeClr val="bg1"/>
                </a:solidFill>
              </a:rPr>
              <a:t>可视化查看</a:t>
            </a:r>
            <a:endParaRPr lang="en-US" altLang="zh-CN" sz="2000" b="1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</a:rPr>
              <a:t>可视化</a:t>
            </a:r>
            <a:r>
              <a:rPr lang="zh-CN" altLang="en-US" sz="2000" b="1" smtClean="0">
                <a:solidFill>
                  <a:schemeClr val="bg1"/>
                </a:solidFill>
              </a:rPr>
              <a:t>批注</a:t>
            </a:r>
            <a:endParaRPr lang="en-US" altLang="zh-CN" sz="2000" b="1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b="1" smtClean="0">
                <a:solidFill>
                  <a:schemeClr val="bg1"/>
                </a:solidFill>
              </a:rPr>
              <a:t>三维仿真动画</a:t>
            </a:r>
            <a:endParaRPr lang="en-US" altLang="zh-CN" sz="2000" b="1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000" b="1">
                <a:solidFill>
                  <a:schemeClr val="bg1"/>
                </a:solidFill>
              </a:rPr>
              <a:t>……</a:t>
            </a:r>
          </a:p>
          <a:p>
            <a:pPr algn="ctr"/>
            <a:endParaRPr lang="zh-CN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74315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288107" y="1461466"/>
            <a:ext cx="9249543" cy="4733925"/>
          </a:xfrm>
        </p:spPr>
        <p:txBody>
          <a:bodyPr/>
          <a:lstStyle/>
          <a:p>
            <a:pPr marL="457200" indent="-457200">
              <a:buFont typeface="Wingdings" pitchFamily="2" charset="2"/>
              <a:buChar char="u"/>
            </a:pPr>
            <a:endParaRPr lang="en-US" altLang="zh-CN" sz="1800" smtClean="0"/>
          </a:p>
          <a:p>
            <a:pPr marL="457200" indent="-457200">
              <a:buFont typeface="Wingdings" pitchFamily="2" charset="2"/>
              <a:buChar char="u"/>
            </a:pP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u"/>
            </a:pPr>
            <a:endParaRPr lang="en-US" altLang="zh-CN" sz="1800" smtClean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u"/>
            </a:pPr>
            <a:endParaRPr lang="en-US" altLang="zh-CN" sz="1800" smtClean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u"/>
            </a:pPr>
            <a:endParaRPr lang="en-US" altLang="zh-CN" sz="18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3157538" y="2792413"/>
            <a:ext cx="5518150" cy="158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lIns="91407" tIns="45704" rIns="91407" bIns="45704" anchor="ctr">
            <a:spAutoFit/>
          </a:bodyPr>
          <a:lstStyle/>
          <a:p>
            <a:endParaRPr lang="zh-CN" alt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132138" y="2071688"/>
            <a:ext cx="3132633" cy="72072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1241425" indent="-1241425" eaLnBrk="0" hangingPunct="0">
              <a:spcBef>
                <a:spcPct val="50000"/>
              </a:spcBef>
            </a:pPr>
            <a:r>
              <a:rPr lang="zh-CN" altLang="en-US" sz="3200" b="1" i="1" smtClean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业务解决方案</a:t>
            </a:r>
            <a:endParaRPr lang="zh-CN" altLang="en-US" sz="3200" b="1" i="1">
              <a:solidFill>
                <a:schemeClr val="accent5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059113" y="3019425"/>
            <a:ext cx="5761037" cy="1202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36000" bIns="46800">
            <a:spAutoFit/>
          </a:bodyPr>
          <a:lstStyle/>
          <a:p>
            <a:pPr marL="0" lvl="1" indent="266700" eaLnBrk="0" hangingPunct="0">
              <a:spcBef>
                <a:spcPct val="50000"/>
              </a:spcBef>
              <a:buFont typeface="Wingdings" pitchFamily="2" charset="2"/>
              <a:buChar char="p"/>
            </a:pPr>
            <a:r>
              <a:rPr lang="zh-CN" altLang="en-US" sz="1800" b="0">
                <a:latin typeface="Arial" pitchFamily="34" charset="0"/>
                <a:ea typeface="黑体" pitchFamily="49" charset="-122"/>
              </a:rPr>
              <a:t> </a:t>
            </a:r>
            <a:r>
              <a:rPr lang="zh-CN" altLang="en-US" sz="1800" b="0" smtClean="0">
                <a:latin typeface="Arial" pitchFamily="34" charset="0"/>
                <a:ea typeface="黑体" pitchFamily="49" charset="-122"/>
              </a:rPr>
              <a:t>总体业务框架</a:t>
            </a:r>
            <a:endParaRPr lang="en-US" altLang="zh-CN" sz="1800" b="0" smtClean="0">
              <a:latin typeface="Arial" pitchFamily="34" charset="0"/>
              <a:ea typeface="黑体" pitchFamily="49" charset="-122"/>
            </a:endParaRPr>
          </a:p>
          <a:p>
            <a:pPr marL="0" lvl="1" indent="266700" eaLnBrk="0" hangingPunct="0">
              <a:spcBef>
                <a:spcPct val="50000"/>
              </a:spcBef>
              <a:buFont typeface="Wingdings" pitchFamily="2" charset="2"/>
              <a:buChar char="p"/>
            </a:pPr>
            <a:r>
              <a:rPr lang="zh-CN" altLang="en-US" sz="1800" b="0" smtClean="0">
                <a:latin typeface="Arial" pitchFamily="34" charset="0"/>
                <a:ea typeface="黑体" pitchFamily="49" charset="-122"/>
              </a:rPr>
              <a:t> 工艺设计总体业务流程</a:t>
            </a:r>
            <a:endParaRPr lang="zh-CN" altLang="en-US" sz="1800" b="0">
              <a:latin typeface="Arial" pitchFamily="34" charset="0"/>
              <a:ea typeface="黑体" pitchFamily="49" charset="-122"/>
            </a:endParaRPr>
          </a:p>
          <a:p>
            <a:pPr marL="0" lvl="1" indent="266700" eaLnBrk="0" hangingPunct="0">
              <a:spcBef>
                <a:spcPct val="50000"/>
              </a:spcBef>
              <a:buFont typeface="Wingdings" pitchFamily="2" charset="2"/>
              <a:buChar char="p"/>
            </a:pPr>
            <a:r>
              <a:rPr lang="zh-CN" altLang="en-US" sz="1800" b="0">
                <a:latin typeface="Arial" pitchFamily="34" charset="0"/>
                <a:ea typeface="黑体" pitchFamily="49" charset="-122"/>
              </a:rPr>
              <a:t> </a:t>
            </a:r>
            <a:r>
              <a:rPr lang="zh-CN" altLang="en-US" smtClean="0">
                <a:ea typeface="黑体" pitchFamily="49" charset="-122"/>
              </a:rPr>
              <a:t>未来实践设计定义</a:t>
            </a:r>
            <a:endParaRPr lang="zh-CN" altLang="en-US" sz="1800" b="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63745" y="1333748"/>
            <a:ext cx="1888659" cy="37702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fr-FR" altLang="zh-CN" sz="23900" smtClean="0">
                <a:solidFill>
                  <a:srgbClr val="FF9900"/>
                </a:solidFill>
                <a:cs typeface="Arial" pitchFamily="34" charset="0"/>
              </a:rPr>
              <a:t>3</a:t>
            </a:r>
            <a:endParaRPr lang="en-US" altLang="zh-CN" sz="23900">
              <a:solidFill>
                <a:srgbClr val="FF99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00153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总体</a:t>
            </a:r>
            <a:r>
              <a:rPr lang="zh-CN" altLang="en-US" smtClean="0">
                <a:solidFill>
                  <a:srgbClr val="FFFF00"/>
                </a:solidFill>
              </a:rPr>
              <a:t>业务框架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023243"/>
              </p:ext>
            </p:extLst>
          </p:nvPr>
        </p:nvGraphicFramePr>
        <p:xfrm>
          <a:off x="288107" y="855539"/>
          <a:ext cx="9865096" cy="5849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" name="Visio" r:id="rId3" imgW="9081891" imgH="5410009" progId="Visio.Drawing.11">
                  <p:embed/>
                </p:oleObj>
              </mc:Choice>
              <mc:Fallback>
                <p:oleObj name="Visio" r:id="rId3" imgW="9081891" imgH="541000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07" y="855539"/>
                        <a:ext cx="9865096" cy="58494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88107" y="1431602"/>
            <a:ext cx="1656184" cy="5244969"/>
          </a:xfrm>
          <a:prstGeom prst="rect">
            <a:avLst/>
          </a:prstGeom>
          <a:solidFill>
            <a:srgbClr val="FFFF00">
              <a:alpha val="18039"/>
            </a:srgbClr>
          </a:solidFill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525486" y="1431602"/>
            <a:ext cx="5395469" cy="672969"/>
          </a:xfrm>
          <a:prstGeom prst="rect">
            <a:avLst/>
          </a:prstGeom>
          <a:solidFill>
            <a:srgbClr val="FFFF00">
              <a:alpha val="18039"/>
            </a:srgbClr>
          </a:solidFill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68427" y="3015779"/>
            <a:ext cx="4176464" cy="13681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smtClean="0">
                <a:solidFill>
                  <a:schemeClr val="tx1"/>
                </a:solidFill>
              </a:rPr>
              <a:t>设计制造协同</a:t>
            </a:r>
            <a:endParaRPr lang="zh-CN" altLang="en-US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08032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总体</a:t>
            </a:r>
            <a:r>
              <a:rPr lang="zh-CN" altLang="en-US" smtClean="0">
                <a:solidFill>
                  <a:srgbClr val="FFFF00"/>
                </a:solidFill>
              </a:rPr>
              <a:t>业务框架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154912"/>
              </p:ext>
            </p:extLst>
          </p:nvPr>
        </p:nvGraphicFramePr>
        <p:xfrm>
          <a:off x="288107" y="855539"/>
          <a:ext cx="9865096" cy="5849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1" name="Visio" r:id="rId3" imgW="9081891" imgH="5410009" progId="Visio.Drawing.11">
                  <p:embed/>
                </p:oleObj>
              </mc:Choice>
              <mc:Fallback>
                <p:oleObj name="Visio" r:id="rId3" imgW="9081891" imgH="541000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07" y="855539"/>
                        <a:ext cx="9865096" cy="58494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554514" y="2079674"/>
            <a:ext cx="5366441" cy="1440161"/>
          </a:xfrm>
          <a:prstGeom prst="rect">
            <a:avLst/>
          </a:prstGeom>
          <a:solidFill>
            <a:srgbClr val="FFFF00">
              <a:alpha val="18039"/>
            </a:srgbClr>
          </a:solidFill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45695" y="3699855"/>
            <a:ext cx="4176464" cy="13681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smtClean="0">
                <a:solidFill>
                  <a:schemeClr val="tx1"/>
                </a:solidFill>
              </a:rPr>
              <a:t>工艺设计管理</a:t>
            </a:r>
            <a:endParaRPr lang="zh-CN" altLang="en-US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81572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总体</a:t>
            </a:r>
            <a:r>
              <a:rPr lang="zh-CN" altLang="en-US" smtClean="0">
                <a:solidFill>
                  <a:srgbClr val="FFFF00"/>
                </a:solidFill>
              </a:rPr>
              <a:t>业务框架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058344"/>
              </p:ext>
            </p:extLst>
          </p:nvPr>
        </p:nvGraphicFramePr>
        <p:xfrm>
          <a:off x="288107" y="855539"/>
          <a:ext cx="9865096" cy="5849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5" name="Visio" r:id="rId3" imgW="9081891" imgH="5410009" progId="Visio.Drawing.11">
                  <p:embed/>
                </p:oleObj>
              </mc:Choice>
              <mc:Fallback>
                <p:oleObj name="Visio" r:id="rId3" imgW="9081891" imgH="541000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07" y="855539"/>
                        <a:ext cx="9865096" cy="58494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554514" y="3519836"/>
            <a:ext cx="5366441" cy="1224136"/>
          </a:xfrm>
          <a:prstGeom prst="rect">
            <a:avLst/>
          </a:prstGeom>
          <a:solidFill>
            <a:srgbClr val="FFFF00">
              <a:alpha val="18039"/>
            </a:srgbClr>
          </a:solidFill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312443" y="1863651"/>
            <a:ext cx="4176464" cy="13681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自</a:t>
            </a:r>
            <a:r>
              <a:rPr lang="zh-CN" altLang="en-US" sz="2400" b="1" smtClean="0">
                <a:solidFill>
                  <a:schemeClr val="tx1"/>
                </a:solidFill>
              </a:rPr>
              <a:t>研产品设计数据管理</a:t>
            </a:r>
            <a:endParaRPr lang="zh-CN" altLang="en-US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55983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总体</a:t>
            </a:r>
            <a:r>
              <a:rPr lang="zh-CN" altLang="en-US" smtClean="0">
                <a:solidFill>
                  <a:srgbClr val="FFFF00"/>
                </a:solidFill>
              </a:rPr>
              <a:t>业务框架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328604"/>
              </p:ext>
            </p:extLst>
          </p:nvPr>
        </p:nvGraphicFramePr>
        <p:xfrm>
          <a:off x="288107" y="855539"/>
          <a:ext cx="9865096" cy="5849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8" name="Visio" r:id="rId3" imgW="9081891" imgH="5410009" progId="Visio.Drawing.11">
                  <p:embed/>
                </p:oleObj>
              </mc:Choice>
              <mc:Fallback>
                <p:oleObj name="Visio" r:id="rId3" imgW="9081891" imgH="541000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07" y="855539"/>
                        <a:ext cx="9865096" cy="58494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554513" y="4671963"/>
            <a:ext cx="5366441" cy="792088"/>
          </a:xfrm>
          <a:prstGeom prst="rect">
            <a:avLst/>
          </a:prstGeom>
          <a:solidFill>
            <a:srgbClr val="FFFF00">
              <a:alpha val="18039"/>
            </a:srgbClr>
          </a:solidFill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312443" y="2547727"/>
            <a:ext cx="4176464" cy="13681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smtClean="0">
                <a:solidFill>
                  <a:schemeClr val="tx1"/>
                </a:solidFill>
              </a:rPr>
              <a:t>知识管理</a:t>
            </a:r>
            <a:endParaRPr lang="en-US" altLang="zh-CN" sz="2400" b="1" smtClean="0">
              <a:solidFill>
                <a:schemeClr val="tx1"/>
              </a:solidFill>
            </a:endParaRPr>
          </a:p>
          <a:p>
            <a:pPr algn="ctr"/>
            <a:r>
              <a:rPr lang="zh-CN" altLang="en-US" sz="2400" b="1" smtClean="0">
                <a:solidFill>
                  <a:schemeClr val="tx1"/>
                </a:solidFill>
              </a:rPr>
              <a:t>（标准件管理、数据查询）</a:t>
            </a:r>
            <a:endParaRPr lang="zh-CN" altLang="en-US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76508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总体</a:t>
            </a:r>
            <a:r>
              <a:rPr lang="zh-CN" altLang="en-US" smtClean="0">
                <a:solidFill>
                  <a:srgbClr val="FFFF00"/>
                </a:solidFill>
              </a:rPr>
              <a:t>业务框架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577905"/>
              </p:ext>
            </p:extLst>
          </p:nvPr>
        </p:nvGraphicFramePr>
        <p:xfrm>
          <a:off x="288107" y="855539"/>
          <a:ext cx="9865096" cy="5849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2" name="Visio" r:id="rId3" imgW="9081891" imgH="5410009" progId="Visio.Drawing.11">
                  <p:embed/>
                </p:oleObj>
              </mc:Choice>
              <mc:Fallback>
                <p:oleObj name="Visio" r:id="rId3" imgW="9081891" imgH="541000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07" y="855539"/>
                        <a:ext cx="9865096" cy="58494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554513" y="5464051"/>
            <a:ext cx="5366441" cy="792088"/>
          </a:xfrm>
          <a:prstGeom prst="rect">
            <a:avLst/>
          </a:prstGeom>
          <a:solidFill>
            <a:srgbClr val="FFFF00">
              <a:alpha val="18039"/>
            </a:srgbClr>
          </a:solidFill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312443" y="2547727"/>
            <a:ext cx="4176464" cy="13681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smtClean="0">
                <a:solidFill>
                  <a:schemeClr val="tx1"/>
                </a:solidFill>
              </a:rPr>
              <a:t>系统集成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497019" y="1431602"/>
            <a:ext cx="1584176" cy="5259483"/>
          </a:xfrm>
          <a:prstGeom prst="rect">
            <a:avLst/>
          </a:prstGeom>
          <a:solidFill>
            <a:srgbClr val="FFFF00">
              <a:alpha val="18039"/>
            </a:srgbClr>
          </a:solidFill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98396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工艺设计总体业务</a:t>
            </a:r>
            <a:r>
              <a:rPr lang="zh-CN" altLang="en-US" smtClean="0">
                <a:solidFill>
                  <a:srgbClr val="FFFF00"/>
                </a:solidFill>
              </a:rPr>
              <a:t>过程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2160315" y="1588719"/>
            <a:ext cx="6048672" cy="4745406"/>
          </a:xfrm>
          <a:prstGeom prst="rect">
            <a:avLst/>
          </a:prstGeom>
          <a:gradFill rotWithShape="1">
            <a:gsLst>
              <a:gs pos="0">
                <a:srgbClr val="6FAEAB">
                  <a:tint val="50000"/>
                  <a:satMod val="300000"/>
                </a:srgbClr>
              </a:gs>
              <a:gs pos="35000">
                <a:srgbClr val="6FAEAB">
                  <a:tint val="37000"/>
                  <a:satMod val="300000"/>
                </a:srgbClr>
              </a:gs>
              <a:gs pos="100000">
                <a:srgbClr val="6FAEA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6FAEAB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1200" b="0" i="0" u="none" strike="noStrike" kern="0" cap="none" spc="0" normalizeH="0" baseline="0" noProof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3312443" y="1660078"/>
            <a:ext cx="4781434" cy="35159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zh-CN" altLang="en-US" sz="1400" b="1" smtClean="0">
                <a:solidFill>
                  <a:schemeClr val="tx1"/>
                </a:solidFill>
              </a:rPr>
              <a:t>三维工艺设计管理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51791" y="2317215"/>
            <a:ext cx="1017036" cy="110101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smtClean="0">
              <a:solidFill>
                <a:schemeClr val="bg1"/>
              </a:solidFill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48147" y="1588719"/>
            <a:ext cx="1296988" cy="4745406"/>
          </a:xfrm>
          <a:prstGeom prst="rect">
            <a:avLst/>
          </a:prstGeom>
          <a:gradFill rotWithShape="1">
            <a:gsLst>
              <a:gs pos="0">
                <a:srgbClr val="4D4D4F">
                  <a:tint val="50000"/>
                  <a:satMod val="300000"/>
                </a:srgbClr>
              </a:gs>
              <a:gs pos="35000">
                <a:srgbClr val="4D4D4F">
                  <a:tint val="37000"/>
                  <a:satMod val="300000"/>
                </a:srgbClr>
              </a:gs>
              <a:gs pos="100000">
                <a:srgbClr val="4D4D4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D4D4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1200" b="0" i="0" u="none" strike="noStrike" kern="0" cap="none" spc="0" normalizeH="0" baseline="0" noProof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686078" y="4582818"/>
            <a:ext cx="1008062" cy="29368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rgbClr val="BFBFB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技术单</a:t>
            </a:r>
            <a:r>
              <a:rPr kumimoji="0" lang="en-US" altLang="zh-CN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/</a:t>
            </a:r>
            <a:r>
              <a:rPr kumimoji="0" lang="zh-CN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更改单</a:t>
            </a:r>
            <a:endParaRPr kumimoji="0" lang="zh-CN" altLang="en-GB" sz="1100" b="1" i="0" u="none" strike="noStrike" kern="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686078" y="3504526"/>
            <a:ext cx="1008062" cy="27593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rgbClr val="BFBFB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smtClean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设计数据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677200" y="2552409"/>
            <a:ext cx="1008062" cy="26705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rgbClr val="BFBFB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noProof="0" smtClean="0">
                <a:solidFill>
                  <a:srgbClr val="4D4D4F"/>
                </a:solidFill>
                <a:latin typeface="黑体"/>
                <a:ea typeface="黑体"/>
              </a:rPr>
              <a:t>设计数据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48147" y="6421487"/>
            <a:ext cx="1296988" cy="266700"/>
          </a:xfrm>
          <a:prstGeom prst="rect">
            <a:avLst/>
          </a:prstGeom>
          <a:gradFill rotWithShape="1">
            <a:gsLst>
              <a:gs pos="0">
                <a:srgbClr val="4D4D4F">
                  <a:tint val="50000"/>
                  <a:satMod val="300000"/>
                </a:srgbClr>
              </a:gs>
              <a:gs pos="35000">
                <a:srgbClr val="4D4D4F">
                  <a:tint val="37000"/>
                  <a:satMod val="300000"/>
                </a:srgbClr>
              </a:gs>
              <a:gs pos="100000">
                <a:srgbClr val="4D4D4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D4D4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lvl="0" indent="-85725" algn="ctr">
              <a:spcAft>
                <a:spcPct val="10000"/>
              </a:spcAft>
              <a:defRPr/>
            </a:pPr>
            <a:r>
              <a:rPr lang="en-US" altLang="zh-CN" sz="1200" b="1" kern="0" dirty="0" smtClean="0">
                <a:solidFill>
                  <a:srgbClr val="4D4D4F"/>
                </a:solidFill>
                <a:latin typeface="Arial"/>
                <a:ea typeface="黑体"/>
              </a:rPr>
              <a:t>805</a:t>
            </a:r>
            <a:r>
              <a:rPr lang="zh-CN" altLang="en-US" sz="1200" b="1" kern="0" dirty="0" smtClean="0">
                <a:solidFill>
                  <a:srgbClr val="4D4D4F"/>
                </a:solidFill>
                <a:latin typeface="Arial"/>
                <a:ea typeface="黑体"/>
              </a:rPr>
              <a:t>所</a:t>
            </a:r>
            <a:r>
              <a:rPr lang="en-US" altLang="zh-CN" sz="1200" b="1" kern="0" dirty="0" smtClean="0">
                <a:solidFill>
                  <a:srgbClr val="4D4D4F"/>
                </a:solidFill>
                <a:latin typeface="Arial"/>
                <a:ea typeface="黑体"/>
              </a:rPr>
              <a:t>PDS</a:t>
            </a:r>
            <a:endParaRPr lang="zh-CN" altLang="en-GB" sz="1200" b="1" kern="0" dirty="0">
              <a:solidFill>
                <a:srgbClr val="4D4D4F"/>
              </a:solidFill>
              <a:latin typeface="Arial"/>
              <a:ea typeface="黑体"/>
            </a:endParaRPr>
          </a:p>
        </p:txBody>
      </p:sp>
      <p:sp>
        <p:nvSpPr>
          <p:cNvPr id="11" name="Rectangle 22"/>
          <p:cNvSpPr>
            <a:spLocks noChangeArrowheads="1"/>
          </p:cNvSpPr>
          <p:nvPr/>
        </p:nvSpPr>
        <p:spPr bwMode="auto">
          <a:xfrm>
            <a:off x="2388907" y="2763942"/>
            <a:ext cx="792163" cy="380187"/>
          </a:xfrm>
          <a:prstGeom prst="rect">
            <a:avLst/>
          </a:prstGeom>
          <a:gradFill rotWithShape="1">
            <a:gsLst>
              <a:gs pos="0">
                <a:srgbClr val="0067B4">
                  <a:shade val="51000"/>
                  <a:satMod val="130000"/>
                </a:srgbClr>
              </a:gs>
              <a:gs pos="80000">
                <a:srgbClr val="0067B4">
                  <a:shade val="93000"/>
                  <a:satMod val="130000"/>
                </a:srgbClr>
              </a:gs>
              <a:gs pos="100000">
                <a:srgbClr val="0067B4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67B4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45720" rIns="45720" anchor="ctr"/>
          <a:lstStyle/>
          <a:p>
            <a:pPr marL="85725" lvl="0" indent="-85725" algn="ctr">
              <a:spcAft>
                <a:spcPct val="10000"/>
              </a:spcAft>
              <a:defRPr/>
            </a:pPr>
            <a:r>
              <a:rPr lang="zh-CN" altLang="en-US" sz="1200" b="1" kern="0" smtClean="0">
                <a:solidFill>
                  <a:srgbClr val="FFFFFF"/>
                </a:solidFill>
                <a:latin typeface="Arial"/>
                <a:ea typeface="黑体"/>
              </a:rPr>
              <a:t>工艺</a:t>
            </a:r>
            <a:r>
              <a:rPr lang="zh-CN" altLang="en-US" sz="1200" b="1" kern="0">
                <a:solidFill>
                  <a:srgbClr val="FFFFFF"/>
                </a:solidFill>
                <a:latin typeface="Arial"/>
                <a:ea typeface="黑体"/>
              </a:rPr>
              <a:t>会签</a:t>
            </a:r>
            <a:endParaRPr lang="zh-CN" altLang="en-GB" sz="1200" b="1" kern="0" dirty="0">
              <a:solidFill>
                <a:srgbClr val="FFFFFF"/>
              </a:solidFill>
              <a:latin typeface="Arial"/>
              <a:ea typeface="黑体"/>
            </a:endParaRPr>
          </a:p>
        </p:txBody>
      </p:sp>
      <p:sp>
        <p:nvSpPr>
          <p:cNvPr id="12" name="Rectangle 32"/>
          <p:cNvSpPr>
            <a:spLocks noChangeArrowheads="1"/>
          </p:cNvSpPr>
          <p:nvPr/>
        </p:nvSpPr>
        <p:spPr bwMode="auto">
          <a:xfrm>
            <a:off x="2372429" y="6412156"/>
            <a:ext cx="5756275" cy="266700"/>
          </a:xfrm>
          <a:prstGeom prst="rect">
            <a:avLst/>
          </a:prstGeom>
          <a:gradFill rotWithShape="1">
            <a:gsLst>
              <a:gs pos="0">
                <a:srgbClr val="4D4D4F">
                  <a:tint val="50000"/>
                  <a:satMod val="300000"/>
                </a:srgbClr>
              </a:gs>
              <a:gs pos="35000">
                <a:srgbClr val="4D4D4F">
                  <a:tint val="37000"/>
                  <a:satMod val="300000"/>
                </a:srgbClr>
              </a:gs>
              <a:gs pos="100000">
                <a:srgbClr val="4D4D4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D4D4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indent="-85725" algn="ctr" defTabSz="914400" eaLnBrk="1" latinLnBrk="0" hangingPunct="1">
              <a:lnSpc>
                <a:spcPct val="100000"/>
              </a:lnSpc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0" dirty="0" smtClean="0">
                <a:solidFill>
                  <a:srgbClr val="4D4D4F"/>
                </a:solidFill>
                <a:latin typeface="Arial"/>
                <a:ea typeface="黑体"/>
              </a:rPr>
              <a:t>149</a:t>
            </a:r>
            <a:r>
              <a:rPr lang="zh-CN" altLang="en-US" sz="1200" b="1" kern="0" dirty="0" smtClean="0">
                <a:solidFill>
                  <a:srgbClr val="4D4D4F"/>
                </a:solidFill>
                <a:latin typeface="Arial"/>
                <a:ea typeface="黑体"/>
              </a:rPr>
              <a:t>厂</a:t>
            </a:r>
            <a:r>
              <a:rPr lang="en-US" altLang="zh-CN" sz="1200" b="1" kern="0" dirty="0" smtClean="0">
                <a:solidFill>
                  <a:srgbClr val="4D4D4F"/>
                </a:solidFill>
                <a:latin typeface="Arial"/>
                <a:ea typeface="黑体"/>
              </a:rPr>
              <a:t>Windchill</a:t>
            </a:r>
            <a:r>
              <a:rPr lang="zh-CN" altLang="en-US" sz="1200" b="1" kern="0" dirty="0" smtClean="0">
                <a:solidFill>
                  <a:srgbClr val="4D4D4F"/>
                </a:solidFill>
                <a:latin typeface="Arial"/>
                <a:ea typeface="黑体"/>
              </a:rPr>
              <a:t>平台</a:t>
            </a:r>
            <a:endParaRPr lang="zh-CN" altLang="en-GB" sz="1200" b="1" kern="0" dirty="0">
              <a:solidFill>
                <a:srgbClr val="4D4D4F"/>
              </a:solidFill>
              <a:latin typeface="Arial"/>
              <a:ea typeface="黑体"/>
            </a:endParaRPr>
          </a:p>
        </p:txBody>
      </p:sp>
      <p:sp>
        <p:nvSpPr>
          <p:cNvPr id="14" name="Line 44"/>
          <p:cNvSpPr>
            <a:spLocks noChangeShapeType="1"/>
          </p:cNvSpPr>
          <p:nvPr/>
        </p:nvSpPr>
        <p:spPr bwMode="auto">
          <a:xfrm>
            <a:off x="5745023" y="3437252"/>
            <a:ext cx="28892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rgbClr val="4D4D4F"/>
              </a:solidFill>
              <a:ea typeface="宋体" pitchFamily="2" charset="-122"/>
            </a:endParaRP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792610" y="4780731"/>
            <a:ext cx="1008062" cy="395288"/>
          </a:xfrm>
          <a:prstGeom prst="rect">
            <a:avLst/>
          </a:prstGeom>
          <a:gradFill rotWithShape="1">
            <a:gsLst>
              <a:gs pos="0">
                <a:srgbClr val="BFBFBF">
                  <a:tint val="50000"/>
                  <a:satMod val="300000"/>
                </a:srgbClr>
              </a:gs>
              <a:gs pos="35000">
                <a:srgbClr val="BFBFBF">
                  <a:tint val="37000"/>
                  <a:satMod val="300000"/>
                </a:srgbClr>
              </a:gs>
              <a:gs pos="100000">
                <a:srgbClr val="BFBFB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FBFB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设计更改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792610" y="2755687"/>
            <a:ext cx="1008062" cy="395287"/>
          </a:xfrm>
          <a:prstGeom prst="rect">
            <a:avLst/>
          </a:prstGeom>
          <a:gradFill rotWithShape="1">
            <a:gsLst>
              <a:gs pos="0">
                <a:srgbClr val="BFBFBF">
                  <a:tint val="50000"/>
                  <a:satMod val="300000"/>
                </a:srgbClr>
              </a:gs>
              <a:gs pos="35000">
                <a:srgbClr val="BFBFBF">
                  <a:tint val="37000"/>
                  <a:satMod val="300000"/>
                </a:srgbClr>
              </a:gs>
              <a:gs pos="100000">
                <a:srgbClr val="BFBFB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FBFB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noProof="0">
                <a:solidFill>
                  <a:srgbClr val="4D4D4F"/>
                </a:solidFill>
                <a:latin typeface="黑体"/>
                <a:ea typeface="黑体"/>
              </a:rPr>
              <a:t>正式</a:t>
            </a:r>
            <a:r>
              <a:rPr lang="zh-CN" altLang="en-US" sz="1200" b="1" kern="0" noProof="0" smtClean="0">
                <a:solidFill>
                  <a:srgbClr val="4D4D4F"/>
                </a:solidFill>
                <a:latin typeface="黑体"/>
                <a:ea typeface="黑体"/>
              </a:rPr>
              <a:t>签审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</p:txBody>
      </p:sp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801487" y="3725465"/>
            <a:ext cx="1008062" cy="396875"/>
          </a:xfrm>
          <a:prstGeom prst="rect">
            <a:avLst/>
          </a:prstGeom>
          <a:gradFill rotWithShape="1">
            <a:gsLst>
              <a:gs pos="0">
                <a:srgbClr val="BFBFBF">
                  <a:tint val="50000"/>
                  <a:satMod val="300000"/>
                </a:srgbClr>
              </a:gs>
              <a:gs pos="35000">
                <a:srgbClr val="BFBFBF">
                  <a:tint val="37000"/>
                  <a:satMod val="300000"/>
                </a:srgbClr>
              </a:gs>
              <a:gs pos="100000">
                <a:srgbClr val="BFBFB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FBFB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smtClean="0">
                <a:solidFill>
                  <a:srgbClr val="4D4D4F"/>
                </a:solidFill>
                <a:latin typeface="黑体"/>
                <a:ea typeface="黑体"/>
              </a:rPr>
              <a:t>正式发放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8569027" y="1564547"/>
            <a:ext cx="1296987" cy="4759694"/>
          </a:xfrm>
          <a:prstGeom prst="rect">
            <a:avLst/>
          </a:prstGeom>
          <a:gradFill rotWithShape="1">
            <a:gsLst>
              <a:gs pos="0">
                <a:srgbClr val="4D4D4F">
                  <a:tint val="50000"/>
                  <a:satMod val="300000"/>
                </a:srgbClr>
              </a:gs>
              <a:gs pos="35000">
                <a:srgbClr val="4D4D4F">
                  <a:tint val="37000"/>
                  <a:satMod val="300000"/>
                </a:srgbClr>
              </a:gs>
              <a:gs pos="100000">
                <a:srgbClr val="4D4D4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D4D4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1200" b="0" i="0" u="none" strike="noStrike" kern="0" cap="none" spc="0" normalizeH="0" baseline="0" noProof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8569027" y="6407199"/>
            <a:ext cx="1296987" cy="266700"/>
          </a:xfrm>
          <a:prstGeom prst="rect">
            <a:avLst/>
          </a:prstGeom>
          <a:gradFill rotWithShape="1">
            <a:gsLst>
              <a:gs pos="0">
                <a:srgbClr val="4D4D4F">
                  <a:tint val="50000"/>
                  <a:satMod val="300000"/>
                </a:srgbClr>
              </a:gs>
              <a:gs pos="35000">
                <a:srgbClr val="4D4D4F">
                  <a:tint val="37000"/>
                  <a:satMod val="300000"/>
                </a:srgbClr>
              </a:gs>
              <a:gs pos="100000">
                <a:srgbClr val="4D4D4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D4D4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dirty="0" smtClean="0">
                <a:solidFill>
                  <a:srgbClr val="4D4D4F"/>
                </a:solidFill>
                <a:latin typeface="Arial"/>
                <a:ea typeface="黑体"/>
              </a:rPr>
              <a:t>制造管理</a:t>
            </a:r>
            <a:r>
              <a:rPr kumimoji="0" lang="zh-CN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系统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8705675" y="3256590"/>
            <a:ext cx="1008063" cy="428625"/>
          </a:xfrm>
          <a:prstGeom prst="rect">
            <a:avLst/>
          </a:prstGeom>
          <a:gradFill rotWithShape="1">
            <a:gsLst>
              <a:gs pos="0">
                <a:srgbClr val="BFBFBF">
                  <a:tint val="50000"/>
                  <a:satMod val="300000"/>
                </a:srgbClr>
              </a:gs>
              <a:gs pos="35000">
                <a:srgbClr val="BFBFBF">
                  <a:tint val="37000"/>
                  <a:satMod val="300000"/>
                </a:srgbClr>
              </a:gs>
              <a:gs pos="100000">
                <a:srgbClr val="BFBFB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FBFB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smtClean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ERP</a:t>
            </a:r>
            <a:r>
              <a:rPr kumimoji="0" lang="zh-CN" altLang="en-US" sz="1200" b="1" i="0" u="none" strike="noStrike" kern="0" cap="none" spc="0" normalizeH="0" baseline="0" noProof="0" smtClean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系统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cxnSp>
        <p:nvCxnSpPr>
          <p:cNvPr id="26" name="AutoShape 43"/>
          <p:cNvCxnSpPr>
            <a:cxnSpLocks noChangeShapeType="1"/>
            <a:stCxn id="19" idx="3"/>
            <a:endCxn id="11" idx="1"/>
          </p:cNvCxnSpPr>
          <p:nvPr/>
        </p:nvCxnSpPr>
        <p:spPr bwMode="auto">
          <a:xfrm>
            <a:off x="1800672" y="2953331"/>
            <a:ext cx="588235" cy="70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0067B4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2390086" y="3727053"/>
            <a:ext cx="792163" cy="395287"/>
          </a:xfrm>
          <a:prstGeom prst="rect">
            <a:avLst/>
          </a:prstGeom>
          <a:gradFill rotWithShape="1">
            <a:gsLst>
              <a:gs pos="0">
                <a:srgbClr val="0067B4">
                  <a:shade val="51000"/>
                  <a:satMod val="130000"/>
                </a:srgbClr>
              </a:gs>
              <a:gs pos="80000">
                <a:srgbClr val="0067B4">
                  <a:shade val="93000"/>
                  <a:satMod val="130000"/>
                </a:srgbClr>
              </a:gs>
              <a:gs pos="100000">
                <a:srgbClr val="0067B4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67B4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45720" rIns="45720" anchor="ctr"/>
          <a:lstStyle/>
          <a:p>
            <a:pPr marL="85725" marR="0" indent="-85725" algn="ctr" defTabSz="914400" eaLnBrk="1" latinLnBrk="0" hangingPunct="1">
              <a:lnSpc>
                <a:spcPct val="100000"/>
              </a:lnSpc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smtClean="0">
                <a:solidFill>
                  <a:srgbClr val="FFFFFF"/>
                </a:solidFill>
                <a:latin typeface="Arial"/>
                <a:ea typeface="黑体"/>
              </a:rPr>
              <a:t>数据接收管理形成</a:t>
            </a:r>
            <a:r>
              <a:rPr lang="en-US" altLang="zh-CN" sz="900" b="1" kern="0" smtClean="0">
                <a:solidFill>
                  <a:srgbClr val="FFFFFF"/>
                </a:solidFill>
                <a:latin typeface="Arial"/>
                <a:ea typeface="黑体"/>
              </a:rPr>
              <a:t>EBOM</a:t>
            </a:r>
            <a:endParaRPr lang="zh-CN" altLang="en-GB" sz="900" b="1" kern="0" dirty="0">
              <a:solidFill>
                <a:srgbClr val="FFFFFF"/>
              </a:solidFill>
              <a:latin typeface="Arial"/>
              <a:ea typeface="黑体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5864426" y="2391090"/>
            <a:ext cx="792162" cy="395287"/>
          </a:xfrm>
          <a:prstGeom prst="rect">
            <a:avLst/>
          </a:prstGeom>
          <a:gradFill rotWithShape="1">
            <a:gsLst>
              <a:gs pos="0">
                <a:srgbClr val="0067B4">
                  <a:shade val="51000"/>
                  <a:satMod val="130000"/>
                </a:srgbClr>
              </a:gs>
              <a:gs pos="80000">
                <a:srgbClr val="0067B4">
                  <a:shade val="93000"/>
                  <a:satMod val="130000"/>
                </a:srgbClr>
              </a:gs>
              <a:gs pos="100000">
                <a:srgbClr val="0067B4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67B4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smtClean="0">
                <a:solidFill>
                  <a:srgbClr val="FFFFFF"/>
                </a:solidFill>
                <a:latin typeface="Arial"/>
                <a:ea typeface="黑体"/>
              </a:rPr>
              <a:t>数控零件</a:t>
            </a:r>
            <a:endParaRPr lang="en-US" altLang="zh-CN" sz="1200" b="1" kern="0" smtClean="0">
              <a:solidFill>
                <a:srgbClr val="FFFFFF"/>
              </a:solidFill>
              <a:latin typeface="Arial"/>
              <a:ea typeface="黑体"/>
            </a:endParaRPr>
          </a:p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工艺</a:t>
            </a:r>
            <a:r>
              <a:rPr kumimoji="0" lang="zh-CN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设计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cxnSp>
        <p:nvCxnSpPr>
          <p:cNvPr id="30" name="AutoShape 43"/>
          <p:cNvCxnSpPr>
            <a:cxnSpLocks noChangeShapeType="1"/>
            <a:stCxn id="57" idx="3"/>
            <a:endCxn id="29" idx="1"/>
          </p:cNvCxnSpPr>
          <p:nvPr/>
        </p:nvCxnSpPr>
        <p:spPr bwMode="auto">
          <a:xfrm flipV="1">
            <a:off x="5328667" y="2588734"/>
            <a:ext cx="535759" cy="133437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0067B4"/>
            </a:solidFill>
            <a:prstDash val="solid"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1" name="AutoShape 43"/>
          <p:cNvCxnSpPr>
            <a:cxnSpLocks noChangeShapeType="1"/>
            <a:stCxn id="5" idx="0"/>
            <a:endCxn id="40" idx="2"/>
          </p:cNvCxnSpPr>
          <p:nvPr/>
        </p:nvCxnSpPr>
        <p:spPr bwMode="auto">
          <a:xfrm rot="5400000" flipH="1" flipV="1">
            <a:off x="6146114" y="2200780"/>
            <a:ext cx="230630" cy="224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0067B4"/>
            </a:solidFill>
            <a:prstDash val="solid"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5865061" y="4369432"/>
            <a:ext cx="792162" cy="395288"/>
          </a:xfrm>
          <a:prstGeom prst="rect">
            <a:avLst/>
          </a:prstGeom>
          <a:gradFill rotWithShape="1">
            <a:gsLst>
              <a:gs pos="0">
                <a:srgbClr val="0067B4">
                  <a:shade val="51000"/>
                  <a:satMod val="130000"/>
                </a:srgbClr>
              </a:gs>
              <a:gs pos="80000">
                <a:srgbClr val="0067B4">
                  <a:shade val="93000"/>
                  <a:satMod val="130000"/>
                </a:srgbClr>
              </a:gs>
              <a:gs pos="100000">
                <a:srgbClr val="0067B4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67B4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45720" rIns="45720" anchor="ctr"/>
          <a:lstStyle/>
          <a:p>
            <a:pPr marL="85725" marR="0" indent="-85725" algn="ctr" defTabSz="914400" eaLnBrk="1" latinLnBrk="0" hangingPunct="1">
              <a:lnSpc>
                <a:spcPct val="100000"/>
              </a:lnSpc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smtClean="0">
                <a:solidFill>
                  <a:srgbClr val="FFFFFF"/>
                </a:solidFill>
                <a:latin typeface="Arial"/>
                <a:ea typeface="黑体"/>
              </a:rPr>
              <a:t>装配</a:t>
            </a:r>
            <a:r>
              <a:rPr lang="zh-CN" altLang="en-US" sz="1200" b="1" kern="0" dirty="0" smtClean="0">
                <a:solidFill>
                  <a:srgbClr val="FFFFFF"/>
                </a:solidFill>
                <a:latin typeface="Arial"/>
                <a:ea typeface="黑体"/>
              </a:rPr>
              <a:t>工艺设计</a:t>
            </a:r>
            <a:endParaRPr lang="zh-CN" altLang="en-GB" sz="1200" b="1" kern="0" dirty="0">
              <a:solidFill>
                <a:srgbClr val="FFFFFF"/>
              </a:solidFill>
              <a:latin typeface="Arial"/>
              <a:ea typeface="黑体"/>
            </a:endParaRPr>
          </a:p>
        </p:txBody>
      </p:sp>
      <p:sp>
        <p:nvSpPr>
          <p:cNvPr id="33" name="Rectangle 22"/>
          <p:cNvSpPr>
            <a:spLocks noChangeArrowheads="1"/>
          </p:cNvSpPr>
          <p:nvPr/>
        </p:nvSpPr>
        <p:spPr bwMode="auto">
          <a:xfrm>
            <a:off x="5844423" y="3685044"/>
            <a:ext cx="833120" cy="395288"/>
          </a:xfrm>
          <a:prstGeom prst="rect">
            <a:avLst/>
          </a:prstGeom>
          <a:gradFill rotWithShape="1">
            <a:gsLst>
              <a:gs pos="0">
                <a:srgbClr val="0067B4">
                  <a:shade val="51000"/>
                  <a:satMod val="130000"/>
                </a:srgbClr>
              </a:gs>
              <a:gs pos="80000">
                <a:srgbClr val="0067B4">
                  <a:shade val="93000"/>
                  <a:satMod val="130000"/>
                </a:srgbClr>
              </a:gs>
              <a:gs pos="100000">
                <a:srgbClr val="0067B4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67B4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45720" rIns="45720" anchor="ctr"/>
          <a:lstStyle/>
          <a:p>
            <a:pPr marL="85725" marR="0" indent="-85725" algn="ctr" defTabSz="914400" eaLnBrk="1" latinLnBrk="0" hangingPunct="1">
              <a:lnSpc>
                <a:spcPct val="100000"/>
              </a:lnSpc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smtClean="0">
                <a:solidFill>
                  <a:srgbClr val="FFFFFF"/>
                </a:solidFill>
                <a:latin typeface="Arial"/>
                <a:ea typeface="黑体"/>
              </a:rPr>
              <a:t>工装设计</a:t>
            </a:r>
            <a:endParaRPr lang="zh-CN" altLang="en-GB" sz="1200" b="1" kern="0" dirty="0">
              <a:solidFill>
                <a:srgbClr val="FFFFFF"/>
              </a:solidFill>
              <a:latin typeface="Arial"/>
              <a:ea typeface="黑体"/>
            </a:endParaRPr>
          </a:p>
        </p:txBody>
      </p:sp>
      <p:graphicFrame>
        <p:nvGraphicFramePr>
          <p:cNvPr id="37" name="图示 36"/>
          <p:cNvGraphicFramePr/>
          <p:nvPr>
            <p:extLst>
              <p:ext uri="{D42A27DB-BD31-4B8C-83A1-F6EECF244321}">
                <p14:modId xmlns:p14="http://schemas.microsoft.com/office/powerpoint/2010/main" val="1458143403"/>
              </p:ext>
            </p:extLst>
          </p:nvPr>
        </p:nvGraphicFramePr>
        <p:xfrm>
          <a:off x="648147" y="883548"/>
          <a:ext cx="9577064" cy="282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8" name="Rectangle 9"/>
          <p:cNvSpPr>
            <a:spLocks noChangeArrowheads="1"/>
          </p:cNvSpPr>
          <p:nvPr/>
        </p:nvSpPr>
        <p:spPr bwMode="auto">
          <a:xfrm>
            <a:off x="664022" y="1188932"/>
            <a:ext cx="1333500" cy="305489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9525" cap="flat" cmpd="sng" algn="ctr">
            <a:solidFill>
              <a:srgbClr val="BFBFB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dirty="0" smtClean="0">
                <a:solidFill>
                  <a:schemeClr val="bg1"/>
                </a:solidFill>
                <a:latin typeface="黑体"/>
                <a:ea typeface="黑体"/>
              </a:rPr>
              <a:t>设计环节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</p:txBody>
      </p:sp>
      <p:sp>
        <p:nvSpPr>
          <p:cNvPr id="39" name="Rectangle 9"/>
          <p:cNvSpPr>
            <a:spLocks noChangeArrowheads="1"/>
          </p:cNvSpPr>
          <p:nvPr/>
        </p:nvSpPr>
        <p:spPr bwMode="auto">
          <a:xfrm>
            <a:off x="2307658" y="1188932"/>
            <a:ext cx="7558355" cy="3054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rgbClr val="BFBFB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dirty="0" smtClean="0">
                <a:solidFill>
                  <a:schemeClr val="accent1"/>
                </a:solidFill>
                <a:latin typeface="黑体"/>
                <a:ea typeface="黑体"/>
              </a:rPr>
              <a:t>工艺制造环节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</p:txBody>
      </p:sp>
      <p:sp>
        <p:nvSpPr>
          <p:cNvPr id="40" name="Rectangle 22"/>
          <p:cNvSpPr>
            <a:spLocks noChangeArrowheads="1"/>
          </p:cNvSpPr>
          <p:nvPr/>
        </p:nvSpPr>
        <p:spPr bwMode="auto">
          <a:xfrm>
            <a:off x="5864426" y="1691297"/>
            <a:ext cx="796248" cy="395288"/>
          </a:xfrm>
          <a:prstGeom prst="rect">
            <a:avLst/>
          </a:prstGeom>
          <a:gradFill rotWithShape="1">
            <a:gsLst>
              <a:gs pos="0">
                <a:srgbClr val="0067B4">
                  <a:shade val="51000"/>
                  <a:satMod val="130000"/>
                </a:srgbClr>
              </a:gs>
              <a:gs pos="80000">
                <a:srgbClr val="0067B4">
                  <a:shade val="93000"/>
                  <a:satMod val="130000"/>
                </a:srgbClr>
              </a:gs>
              <a:gs pos="100000">
                <a:srgbClr val="0067B4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67B4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45720" rIns="45720" anchor="ctr"/>
          <a:lstStyle/>
          <a:p>
            <a:pPr marL="85725" marR="0" indent="-85725" algn="ctr" defTabSz="914400" eaLnBrk="1" latinLnBrk="0" hangingPunct="1">
              <a:lnSpc>
                <a:spcPct val="100000"/>
              </a:lnSpc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dirty="0" smtClean="0">
                <a:solidFill>
                  <a:srgbClr val="FFFFFF"/>
                </a:solidFill>
                <a:latin typeface="Arial"/>
                <a:ea typeface="黑体"/>
              </a:rPr>
              <a:t>材料定额</a:t>
            </a:r>
            <a:endParaRPr lang="zh-CN" altLang="en-GB" sz="1200" b="1" kern="0" dirty="0">
              <a:solidFill>
                <a:srgbClr val="FFFFFF"/>
              </a:solidFill>
              <a:latin typeface="Arial"/>
              <a:ea typeface="黑体"/>
            </a:endParaRPr>
          </a:p>
        </p:txBody>
      </p:sp>
      <p:sp>
        <p:nvSpPr>
          <p:cNvPr id="43" name="Rectangle 22"/>
          <p:cNvSpPr>
            <a:spLocks noChangeArrowheads="1"/>
          </p:cNvSpPr>
          <p:nvPr/>
        </p:nvSpPr>
        <p:spPr bwMode="auto">
          <a:xfrm>
            <a:off x="7128792" y="2669282"/>
            <a:ext cx="792163" cy="396875"/>
          </a:xfrm>
          <a:prstGeom prst="rect">
            <a:avLst/>
          </a:prstGeom>
          <a:gradFill rotWithShape="1">
            <a:gsLst>
              <a:gs pos="0">
                <a:srgbClr val="0067B4">
                  <a:shade val="51000"/>
                  <a:satMod val="130000"/>
                </a:srgbClr>
              </a:gs>
              <a:gs pos="80000">
                <a:srgbClr val="0067B4">
                  <a:shade val="93000"/>
                  <a:satMod val="130000"/>
                </a:srgbClr>
              </a:gs>
              <a:gs pos="100000">
                <a:srgbClr val="0067B4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67B4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45720" rIns="45720" anchor="ctr"/>
          <a:lstStyle/>
          <a:p>
            <a:pPr marL="85725" marR="0" indent="-85725" algn="ctr" defTabSz="914400" eaLnBrk="1" latinLnBrk="0" hangingPunct="1">
              <a:lnSpc>
                <a:spcPct val="100000"/>
              </a:lnSpc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smtClean="0">
                <a:solidFill>
                  <a:srgbClr val="FFFFFF"/>
                </a:solidFill>
                <a:latin typeface="Arial"/>
                <a:ea typeface="黑体"/>
              </a:rPr>
              <a:t>三维零件</a:t>
            </a:r>
            <a:endParaRPr lang="en-US" altLang="zh-CN" sz="1200" b="1" kern="0" smtClean="0">
              <a:solidFill>
                <a:srgbClr val="FFFFFF"/>
              </a:solidFill>
              <a:latin typeface="Arial"/>
              <a:ea typeface="黑体"/>
            </a:endParaRPr>
          </a:p>
          <a:p>
            <a:pPr marL="85725" marR="0" indent="-85725" algn="ctr" defTabSz="914400" eaLnBrk="1" latinLnBrk="0" hangingPunct="1">
              <a:lnSpc>
                <a:spcPct val="100000"/>
              </a:lnSpc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smtClean="0">
                <a:solidFill>
                  <a:srgbClr val="FFFFFF"/>
                </a:solidFill>
                <a:latin typeface="Arial"/>
                <a:ea typeface="黑体"/>
              </a:rPr>
              <a:t>工艺</a:t>
            </a:r>
            <a:r>
              <a:rPr lang="zh-CN" altLang="en-US" sz="1200" b="1" kern="0" dirty="0" smtClean="0">
                <a:solidFill>
                  <a:srgbClr val="FFFFFF"/>
                </a:solidFill>
                <a:latin typeface="Arial"/>
                <a:ea typeface="黑体"/>
              </a:rPr>
              <a:t>规程</a:t>
            </a:r>
            <a:endParaRPr lang="zh-CN" altLang="en-GB" sz="1200" b="1" kern="0" dirty="0">
              <a:solidFill>
                <a:srgbClr val="FFFFFF"/>
              </a:solidFill>
              <a:latin typeface="Arial"/>
              <a:ea typeface="黑体"/>
            </a:endParaRPr>
          </a:p>
        </p:txBody>
      </p:sp>
      <p:sp>
        <p:nvSpPr>
          <p:cNvPr id="45" name="Rectangle 22"/>
          <p:cNvSpPr>
            <a:spLocks noChangeArrowheads="1"/>
          </p:cNvSpPr>
          <p:nvPr/>
        </p:nvSpPr>
        <p:spPr bwMode="auto">
          <a:xfrm>
            <a:off x="7128791" y="4367845"/>
            <a:ext cx="792163" cy="396875"/>
          </a:xfrm>
          <a:prstGeom prst="rect">
            <a:avLst/>
          </a:prstGeom>
          <a:gradFill rotWithShape="1">
            <a:gsLst>
              <a:gs pos="0">
                <a:srgbClr val="0067B4">
                  <a:shade val="51000"/>
                  <a:satMod val="130000"/>
                </a:srgbClr>
              </a:gs>
              <a:gs pos="80000">
                <a:srgbClr val="0067B4">
                  <a:shade val="93000"/>
                  <a:satMod val="130000"/>
                </a:srgbClr>
              </a:gs>
              <a:gs pos="100000">
                <a:srgbClr val="0067B4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67B4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45720" rIns="45720" anchor="ctr"/>
          <a:lstStyle/>
          <a:p>
            <a:pPr marL="85725" marR="0" indent="-85725" algn="ctr" defTabSz="914400" eaLnBrk="1" latinLnBrk="0" hangingPunct="1">
              <a:lnSpc>
                <a:spcPct val="100000"/>
              </a:lnSpc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smtClean="0">
                <a:solidFill>
                  <a:srgbClr val="FFFFFF"/>
                </a:solidFill>
                <a:latin typeface="Arial"/>
                <a:ea typeface="黑体"/>
              </a:rPr>
              <a:t>三维装配</a:t>
            </a:r>
            <a:endParaRPr lang="en-US" altLang="zh-CN" sz="1200" b="1" kern="0" smtClean="0">
              <a:solidFill>
                <a:srgbClr val="FFFFFF"/>
              </a:solidFill>
              <a:latin typeface="Arial"/>
              <a:ea typeface="黑体"/>
            </a:endParaRPr>
          </a:p>
          <a:p>
            <a:pPr marL="85725" marR="0" indent="-85725" algn="ctr" defTabSz="914400" eaLnBrk="1" latinLnBrk="0" hangingPunct="1">
              <a:lnSpc>
                <a:spcPct val="100000"/>
              </a:lnSpc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smtClean="0">
                <a:solidFill>
                  <a:srgbClr val="FFFFFF"/>
                </a:solidFill>
                <a:latin typeface="Arial"/>
                <a:ea typeface="黑体"/>
              </a:rPr>
              <a:t>工艺</a:t>
            </a:r>
            <a:r>
              <a:rPr lang="zh-CN" altLang="en-US" sz="1200" b="1" kern="0" dirty="0" smtClean="0">
                <a:solidFill>
                  <a:srgbClr val="FFFFFF"/>
                </a:solidFill>
                <a:latin typeface="Arial"/>
                <a:ea typeface="黑体"/>
              </a:rPr>
              <a:t>规程</a:t>
            </a:r>
            <a:endParaRPr lang="zh-CN" altLang="en-GB" sz="1200" b="1" kern="0" dirty="0">
              <a:solidFill>
                <a:srgbClr val="FFFFFF"/>
              </a:solidFill>
              <a:latin typeface="Arial"/>
              <a:ea typeface="黑体"/>
            </a:endParaRPr>
          </a:p>
        </p:txBody>
      </p:sp>
      <p:cxnSp>
        <p:nvCxnSpPr>
          <p:cNvPr id="46" name="AutoShape 43"/>
          <p:cNvCxnSpPr>
            <a:cxnSpLocks noChangeShapeType="1"/>
            <a:stCxn id="57" idx="3"/>
            <a:endCxn id="32" idx="1"/>
          </p:cNvCxnSpPr>
          <p:nvPr/>
        </p:nvCxnSpPr>
        <p:spPr bwMode="auto">
          <a:xfrm>
            <a:off x="5328667" y="3923109"/>
            <a:ext cx="536394" cy="643967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0067B4"/>
            </a:solidFill>
            <a:prstDash val="solid"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7" name="AutoShape 43"/>
          <p:cNvCxnSpPr>
            <a:cxnSpLocks noChangeShapeType="1"/>
            <a:stCxn id="5" idx="2"/>
            <a:endCxn id="33" idx="0"/>
          </p:cNvCxnSpPr>
          <p:nvPr/>
        </p:nvCxnSpPr>
        <p:spPr bwMode="auto">
          <a:xfrm rot="16200000" flipH="1">
            <a:off x="6127238" y="3551298"/>
            <a:ext cx="266817" cy="67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0067B4"/>
            </a:solidFill>
            <a:prstDash val="solid"/>
            <a:headEnd type="triangle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8" name="AutoShape 43"/>
          <p:cNvCxnSpPr>
            <a:cxnSpLocks noChangeShapeType="1"/>
            <a:stCxn id="33" idx="2"/>
            <a:endCxn id="32" idx="0"/>
          </p:cNvCxnSpPr>
          <p:nvPr/>
        </p:nvCxnSpPr>
        <p:spPr bwMode="auto">
          <a:xfrm rot="16200000" flipH="1">
            <a:off x="6116512" y="4224802"/>
            <a:ext cx="289100" cy="15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0067B4"/>
            </a:solidFill>
            <a:prstDash val="solid"/>
            <a:headEnd type="triangle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9" name="AutoShape 43"/>
          <p:cNvCxnSpPr>
            <a:cxnSpLocks noChangeShapeType="1"/>
            <a:stCxn id="32" idx="3"/>
            <a:endCxn id="45" idx="1"/>
          </p:cNvCxnSpPr>
          <p:nvPr/>
        </p:nvCxnSpPr>
        <p:spPr bwMode="auto">
          <a:xfrm flipV="1">
            <a:off x="6657223" y="4566283"/>
            <a:ext cx="471568" cy="79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0067B4"/>
            </a:solidFill>
            <a:prstDash val="solid"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7" name="Rectangle 22"/>
          <p:cNvSpPr>
            <a:spLocks noChangeArrowheads="1"/>
          </p:cNvSpPr>
          <p:nvPr/>
        </p:nvSpPr>
        <p:spPr bwMode="auto">
          <a:xfrm>
            <a:off x="4536505" y="3725465"/>
            <a:ext cx="792162" cy="395288"/>
          </a:xfrm>
          <a:prstGeom prst="rect">
            <a:avLst/>
          </a:prstGeom>
          <a:gradFill rotWithShape="1">
            <a:gsLst>
              <a:gs pos="0">
                <a:srgbClr val="0067B4">
                  <a:shade val="51000"/>
                  <a:satMod val="130000"/>
                </a:srgbClr>
              </a:gs>
              <a:gs pos="80000">
                <a:srgbClr val="0067B4">
                  <a:shade val="93000"/>
                  <a:satMod val="130000"/>
                </a:srgbClr>
              </a:gs>
              <a:gs pos="100000">
                <a:srgbClr val="0067B4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67B4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45720" rIns="45720" anchor="ctr"/>
          <a:lstStyle/>
          <a:p>
            <a:pPr marL="85725" marR="0" indent="-85725" algn="ctr" defTabSz="914400" eaLnBrk="1" latinLnBrk="0" hangingPunct="1">
              <a:lnSpc>
                <a:spcPct val="100000"/>
              </a:lnSpc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smtClean="0">
                <a:solidFill>
                  <a:srgbClr val="FFFFFF"/>
                </a:solidFill>
                <a:latin typeface="Arial"/>
                <a:ea typeface="黑体"/>
              </a:rPr>
              <a:t>工艺任务分工</a:t>
            </a:r>
            <a:endParaRPr lang="zh-CN" altLang="en-GB" sz="1200" b="1" kern="0" dirty="0">
              <a:solidFill>
                <a:srgbClr val="FFFFFF"/>
              </a:solidFill>
              <a:latin typeface="Arial"/>
              <a:ea typeface="黑体"/>
            </a:endParaRPr>
          </a:p>
        </p:txBody>
      </p:sp>
      <p:sp>
        <p:nvSpPr>
          <p:cNvPr id="64" name="Rectangle 22"/>
          <p:cNvSpPr>
            <a:spLocks noChangeArrowheads="1"/>
          </p:cNvSpPr>
          <p:nvPr/>
        </p:nvSpPr>
        <p:spPr bwMode="auto">
          <a:xfrm>
            <a:off x="2376339" y="1988796"/>
            <a:ext cx="831915" cy="395287"/>
          </a:xfrm>
          <a:prstGeom prst="rect">
            <a:avLst/>
          </a:prstGeom>
          <a:gradFill rotWithShape="1">
            <a:gsLst>
              <a:gs pos="0">
                <a:srgbClr val="0067B4">
                  <a:shade val="51000"/>
                  <a:satMod val="130000"/>
                </a:srgbClr>
              </a:gs>
              <a:gs pos="80000">
                <a:srgbClr val="0067B4">
                  <a:shade val="93000"/>
                  <a:satMod val="130000"/>
                </a:srgbClr>
              </a:gs>
              <a:gs pos="100000">
                <a:srgbClr val="0067B4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67B4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45720" rIns="45720" anchor="ctr"/>
          <a:lstStyle/>
          <a:p>
            <a:pPr marL="85725" lvl="0" indent="-85725" algn="ctr">
              <a:spcAft>
                <a:spcPct val="10000"/>
              </a:spcAft>
              <a:defRPr/>
            </a:pPr>
            <a:r>
              <a:rPr lang="zh-CN" altLang="en-US" sz="1200" b="1" kern="0" smtClean="0">
                <a:solidFill>
                  <a:srgbClr val="FFFFFF"/>
                </a:solidFill>
                <a:latin typeface="Arial"/>
                <a:ea typeface="黑体"/>
              </a:rPr>
              <a:t>工艺审查</a:t>
            </a:r>
            <a:endParaRPr lang="zh-CN" altLang="en-GB" sz="1200" b="1" kern="0" dirty="0">
              <a:solidFill>
                <a:srgbClr val="FFFFFF"/>
              </a:solidFill>
              <a:latin typeface="Arial"/>
              <a:ea typeface="黑体"/>
            </a:endParaRPr>
          </a:p>
        </p:txBody>
      </p:sp>
      <p:sp>
        <p:nvSpPr>
          <p:cNvPr id="65" name="Rectangle 9"/>
          <p:cNvSpPr>
            <a:spLocks noChangeArrowheads="1"/>
          </p:cNvSpPr>
          <p:nvPr/>
        </p:nvSpPr>
        <p:spPr bwMode="auto">
          <a:xfrm>
            <a:off x="745957" y="1988800"/>
            <a:ext cx="1008062" cy="395287"/>
          </a:xfrm>
          <a:prstGeom prst="rect">
            <a:avLst/>
          </a:prstGeom>
          <a:gradFill rotWithShape="1">
            <a:gsLst>
              <a:gs pos="0">
                <a:srgbClr val="BFBFBF">
                  <a:tint val="50000"/>
                  <a:satMod val="300000"/>
                </a:srgbClr>
              </a:gs>
              <a:gs pos="35000">
                <a:srgbClr val="BFBFBF">
                  <a:tint val="37000"/>
                  <a:satMod val="300000"/>
                </a:srgbClr>
              </a:gs>
              <a:gs pos="100000">
                <a:srgbClr val="BFBFB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FBFB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smtClean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设计方案预审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</p:txBody>
      </p:sp>
      <p:cxnSp>
        <p:nvCxnSpPr>
          <p:cNvPr id="66" name="AutoShape 43"/>
          <p:cNvCxnSpPr>
            <a:cxnSpLocks noChangeShapeType="1"/>
            <a:stCxn id="65" idx="3"/>
            <a:endCxn id="64" idx="1"/>
          </p:cNvCxnSpPr>
          <p:nvPr/>
        </p:nvCxnSpPr>
        <p:spPr bwMode="auto">
          <a:xfrm flipV="1">
            <a:off x="1754019" y="2186440"/>
            <a:ext cx="622320" cy="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0067B4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1" name="Rectangle 22"/>
          <p:cNvSpPr>
            <a:spLocks noChangeArrowheads="1"/>
          </p:cNvSpPr>
          <p:nvPr/>
        </p:nvSpPr>
        <p:spPr bwMode="auto">
          <a:xfrm>
            <a:off x="5864227" y="2941598"/>
            <a:ext cx="792162" cy="395287"/>
          </a:xfrm>
          <a:prstGeom prst="rect">
            <a:avLst/>
          </a:prstGeom>
          <a:gradFill rotWithShape="1">
            <a:gsLst>
              <a:gs pos="0">
                <a:srgbClr val="0067B4">
                  <a:shade val="51000"/>
                  <a:satMod val="130000"/>
                </a:srgbClr>
              </a:gs>
              <a:gs pos="80000">
                <a:srgbClr val="0067B4">
                  <a:shade val="93000"/>
                  <a:satMod val="130000"/>
                </a:srgbClr>
              </a:gs>
              <a:gs pos="100000">
                <a:srgbClr val="0067B4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67B4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非数控零件工艺设计</a:t>
            </a:r>
            <a:endParaRPr kumimoji="0" lang="zh-CN" altLang="en-GB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cxnSp>
        <p:nvCxnSpPr>
          <p:cNvPr id="72" name="AutoShape 43"/>
          <p:cNvCxnSpPr>
            <a:cxnSpLocks noChangeShapeType="1"/>
            <a:stCxn id="5" idx="3"/>
            <a:endCxn id="43" idx="1"/>
          </p:cNvCxnSpPr>
          <p:nvPr/>
        </p:nvCxnSpPr>
        <p:spPr bwMode="auto">
          <a:xfrm flipV="1">
            <a:off x="6768827" y="2867720"/>
            <a:ext cx="359965" cy="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0067B4"/>
            </a:solidFill>
            <a:prstDash val="solid"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9" name="肘形连接符 118"/>
          <p:cNvCxnSpPr>
            <a:stCxn id="11" idx="2"/>
            <a:endCxn id="28" idx="0"/>
          </p:cNvCxnSpPr>
          <p:nvPr/>
        </p:nvCxnSpPr>
        <p:spPr>
          <a:xfrm rot="16200000" flipH="1">
            <a:off x="2494116" y="3435001"/>
            <a:ext cx="582924" cy="117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0067B4"/>
            </a:solidFill>
            <a:prstDash val="solid"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1" name="肘形连接符 120"/>
          <p:cNvCxnSpPr>
            <a:stCxn id="17" idx="3"/>
            <a:endCxn id="28" idx="2"/>
          </p:cNvCxnSpPr>
          <p:nvPr/>
        </p:nvCxnSpPr>
        <p:spPr>
          <a:xfrm flipV="1">
            <a:off x="1800672" y="4122340"/>
            <a:ext cx="985496" cy="856035"/>
          </a:xfrm>
          <a:prstGeom prst="bentConnector2">
            <a:avLst/>
          </a:prstGeom>
          <a:noFill/>
          <a:ln w="25400" cap="flat" cmpd="sng" algn="ctr">
            <a:solidFill>
              <a:srgbClr val="0067B4"/>
            </a:solidFill>
            <a:prstDash val="solid"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3" name="直接箭头连接符 122"/>
          <p:cNvCxnSpPr>
            <a:stCxn id="20" idx="3"/>
            <a:endCxn id="28" idx="1"/>
          </p:cNvCxnSpPr>
          <p:nvPr/>
        </p:nvCxnSpPr>
        <p:spPr>
          <a:xfrm>
            <a:off x="1809549" y="3923903"/>
            <a:ext cx="580537" cy="794"/>
          </a:xfrm>
          <a:prstGeom prst="straightConnector1">
            <a:avLst/>
          </a:prstGeom>
          <a:noFill/>
          <a:ln w="25400" cap="flat" cmpd="sng" algn="ctr">
            <a:solidFill>
              <a:srgbClr val="0067B4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8" name="矩形 147"/>
          <p:cNvSpPr/>
          <p:nvPr/>
        </p:nvSpPr>
        <p:spPr>
          <a:xfrm>
            <a:off x="5472682" y="5753100"/>
            <a:ext cx="2621196" cy="53706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smtClean="0"/>
              <a:t>天河</a:t>
            </a:r>
            <a:r>
              <a:rPr lang="en-US" altLang="zh-CN" sz="1400" b="1" smtClean="0"/>
              <a:t>CAPP</a:t>
            </a:r>
          </a:p>
          <a:p>
            <a:pPr algn="ctr"/>
            <a:r>
              <a:rPr lang="zh-CN" altLang="en-US" sz="1400" b="1" smtClean="0"/>
              <a:t>二维工艺设计</a:t>
            </a:r>
            <a:endParaRPr lang="zh-CN" altLang="en-US" sz="1400" b="1"/>
          </a:p>
        </p:txBody>
      </p:sp>
      <p:sp>
        <p:nvSpPr>
          <p:cNvPr id="75" name="Rectangle 22"/>
          <p:cNvSpPr>
            <a:spLocks noChangeArrowheads="1"/>
          </p:cNvSpPr>
          <p:nvPr/>
        </p:nvSpPr>
        <p:spPr bwMode="auto">
          <a:xfrm>
            <a:off x="3456385" y="3725465"/>
            <a:ext cx="792162" cy="396876"/>
          </a:xfrm>
          <a:prstGeom prst="rect">
            <a:avLst/>
          </a:prstGeom>
          <a:gradFill rotWithShape="1">
            <a:gsLst>
              <a:gs pos="0">
                <a:srgbClr val="0067B4">
                  <a:shade val="51000"/>
                  <a:satMod val="130000"/>
                </a:srgbClr>
              </a:gs>
              <a:gs pos="80000">
                <a:srgbClr val="0067B4">
                  <a:shade val="93000"/>
                  <a:satMod val="130000"/>
                </a:srgbClr>
              </a:gs>
              <a:gs pos="100000">
                <a:srgbClr val="0067B4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67B4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45720" rIns="45720" anchor="ctr"/>
          <a:lstStyle/>
          <a:p>
            <a:pPr marL="85725" marR="0" indent="-85725" algn="ctr" defTabSz="914400" eaLnBrk="1" latinLnBrk="0" hangingPunct="1">
              <a:lnSpc>
                <a:spcPct val="100000"/>
              </a:lnSpc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0" smtClean="0">
                <a:solidFill>
                  <a:srgbClr val="FFFFFF"/>
                </a:solidFill>
                <a:latin typeface="Arial"/>
                <a:ea typeface="黑体"/>
              </a:rPr>
              <a:t>PBOM</a:t>
            </a:r>
            <a:r>
              <a:rPr lang="zh-CN" altLang="en-US" sz="1200" b="1" kern="0" smtClean="0">
                <a:solidFill>
                  <a:srgbClr val="FFFFFF"/>
                </a:solidFill>
                <a:latin typeface="Arial"/>
                <a:ea typeface="黑体"/>
              </a:rPr>
              <a:t>设计管理</a:t>
            </a:r>
            <a:endParaRPr lang="zh-CN" altLang="en-GB" sz="1200" b="1" kern="0" dirty="0">
              <a:solidFill>
                <a:srgbClr val="FFFFFF"/>
              </a:solidFill>
              <a:latin typeface="Arial"/>
              <a:ea typeface="黑体"/>
            </a:endParaRPr>
          </a:p>
        </p:txBody>
      </p:sp>
      <p:cxnSp>
        <p:nvCxnSpPr>
          <p:cNvPr id="53" name="肘形连接符 52"/>
          <p:cNvCxnSpPr>
            <a:stCxn id="28" idx="3"/>
            <a:endCxn id="75" idx="1"/>
          </p:cNvCxnSpPr>
          <p:nvPr/>
        </p:nvCxnSpPr>
        <p:spPr>
          <a:xfrm flipV="1">
            <a:off x="3182249" y="3923903"/>
            <a:ext cx="274136" cy="794"/>
          </a:xfrm>
          <a:prstGeom prst="bentConnector3">
            <a:avLst/>
          </a:prstGeom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肘形连接符 119"/>
          <p:cNvCxnSpPr>
            <a:stCxn id="75" idx="3"/>
            <a:endCxn id="57" idx="1"/>
          </p:cNvCxnSpPr>
          <p:nvPr/>
        </p:nvCxnSpPr>
        <p:spPr>
          <a:xfrm flipV="1">
            <a:off x="4248547" y="3923109"/>
            <a:ext cx="287958" cy="794"/>
          </a:xfrm>
          <a:prstGeom prst="bentConnector3">
            <a:avLst>
              <a:gd name="adj1" fmla="val 50000"/>
            </a:avLst>
          </a:prstGeom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肘形连接符 124"/>
          <p:cNvCxnSpPr>
            <a:stCxn id="75" idx="2"/>
            <a:endCxn id="148" idx="1"/>
          </p:cNvCxnSpPr>
          <p:nvPr/>
        </p:nvCxnSpPr>
        <p:spPr>
          <a:xfrm rot="16200000" flipH="1">
            <a:off x="3712929" y="4261878"/>
            <a:ext cx="1899290" cy="1620216"/>
          </a:xfrm>
          <a:prstGeom prst="bentConnector2">
            <a:avLst/>
          </a:prstGeom>
          <a:noFill/>
          <a:ln w="25400" cap="flat" cmpd="sng" algn="ctr">
            <a:solidFill>
              <a:srgbClr val="0067B4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8" name="肘形连接符 137"/>
          <p:cNvCxnSpPr>
            <a:stCxn id="57" idx="2"/>
            <a:endCxn id="148" idx="1"/>
          </p:cNvCxnSpPr>
          <p:nvPr/>
        </p:nvCxnSpPr>
        <p:spPr>
          <a:xfrm rot="16200000" flipH="1">
            <a:off x="4252195" y="4801144"/>
            <a:ext cx="1900878" cy="540096"/>
          </a:xfrm>
          <a:prstGeom prst="bentConnector2">
            <a:avLst/>
          </a:prstGeom>
          <a:noFill/>
          <a:ln w="25400" cap="flat" cmpd="sng" algn="ctr">
            <a:solidFill>
              <a:srgbClr val="0067B4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9" name="TextBox 138"/>
          <p:cNvSpPr txBox="1"/>
          <p:nvPr/>
        </p:nvSpPr>
        <p:spPr>
          <a:xfrm>
            <a:off x="2376339" y="4352609"/>
            <a:ext cx="849828" cy="272415"/>
          </a:xfrm>
          <a:prstGeom prst="round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00" b="1"/>
            </a:lvl1pPr>
          </a:lstStyle>
          <a:p>
            <a:r>
              <a:rPr lang="zh-CN" altLang="en-US" smtClean="0"/>
              <a:t>更改数据包</a:t>
            </a:r>
            <a:endParaRPr lang="zh-CN" altLang="en-US"/>
          </a:p>
        </p:txBody>
      </p:sp>
      <p:sp>
        <p:nvSpPr>
          <p:cNvPr id="147" name="TextBox 146"/>
          <p:cNvSpPr txBox="1"/>
          <p:nvPr/>
        </p:nvSpPr>
        <p:spPr>
          <a:xfrm>
            <a:off x="2365318" y="3299382"/>
            <a:ext cx="849828" cy="272415"/>
          </a:xfrm>
          <a:prstGeom prst="round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1000" b="1" smtClean="0"/>
              <a:t>设计数据包</a:t>
            </a:r>
            <a:endParaRPr lang="zh-CN" altLang="en-US" sz="1000" b="1"/>
          </a:p>
        </p:txBody>
      </p:sp>
      <p:sp>
        <p:nvSpPr>
          <p:cNvPr id="149" name="TextBox 148"/>
          <p:cNvSpPr txBox="1"/>
          <p:nvPr/>
        </p:nvSpPr>
        <p:spPr>
          <a:xfrm>
            <a:off x="1919406" y="3490036"/>
            <a:ext cx="350766" cy="895112"/>
          </a:xfrm>
          <a:prstGeom prst="round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000" b="1"/>
            </a:lvl1pPr>
          </a:lstStyle>
          <a:p>
            <a:r>
              <a:rPr lang="zh-CN" altLang="en-US"/>
              <a:t>设计数据包</a:t>
            </a:r>
          </a:p>
        </p:txBody>
      </p:sp>
      <p:sp>
        <p:nvSpPr>
          <p:cNvPr id="140" name="线形标注 1(带强调线) 139"/>
          <p:cNvSpPr/>
          <p:nvPr/>
        </p:nvSpPr>
        <p:spPr>
          <a:xfrm>
            <a:off x="3823410" y="2967908"/>
            <a:ext cx="1073209" cy="479919"/>
          </a:xfrm>
          <a:prstGeom prst="accentCallout1">
            <a:avLst>
              <a:gd name="adj1" fmla="val 18750"/>
              <a:gd name="adj2" fmla="val -8333"/>
              <a:gd name="adj3" fmla="val 198240"/>
              <a:gd name="adj4" fmla="val -53243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>
                <a:solidFill>
                  <a:schemeClr val="tx1"/>
                </a:solidFill>
              </a:rPr>
              <a:t>基于</a:t>
            </a:r>
            <a:r>
              <a:rPr lang="en-US" altLang="zh-CN" sz="1000" b="1" smtClean="0">
                <a:solidFill>
                  <a:schemeClr val="tx1"/>
                </a:solidFill>
              </a:rPr>
              <a:t>EBOM</a:t>
            </a:r>
            <a:r>
              <a:rPr lang="zh-CN" altLang="en-US" sz="1000" b="1">
                <a:solidFill>
                  <a:schemeClr val="tx1"/>
                </a:solidFill>
              </a:rPr>
              <a:t>构建</a:t>
            </a:r>
            <a:r>
              <a:rPr lang="en-US" altLang="zh-CN" sz="1000" b="1" smtClean="0">
                <a:solidFill>
                  <a:schemeClr val="tx1"/>
                </a:solidFill>
              </a:rPr>
              <a:t>PBOM</a:t>
            </a:r>
            <a:r>
              <a:rPr lang="zh-CN" altLang="en-US" sz="1000" b="1" smtClean="0">
                <a:solidFill>
                  <a:schemeClr val="tx1"/>
                </a:solidFill>
              </a:rPr>
              <a:t>，继承可视化信息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919406" y="1738883"/>
            <a:ext cx="350766" cy="895112"/>
          </a:xfrm>
          <a:prstGeom prst="round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000" b="1"/>
            </a:lvl1pPr>
          </a:lstStyle>
          <a:p>
            <a:r>
              <a:rPr lang="zh-CN" altLang="en-US"/>
              <a:t>预审</a:t>
            </a:r>
            <a:r>
              <a:rPr lang="zh-CN" altLang="en-US" smtClean="0"/>
              <a:t>数据包</a:t>
            </a:r>
            <a:endParaRPr lang="zh-CN" altLang="en-US"/>
          </a:p>
        </p:txBody>
      </p:sp>
      <p:sp>
        <p:nvSpPr>
          <p:cNvPr id="152" name="线形标注 1(带强调线) 151"/>
          <p:cNvSpPr/>
          <p:nvPr/>
        </p:nvSpPr>
        <p:spPr>
          <a:xfrm>
            <a:off x="3926183" y="4360642"/>
            <a:ext cx="932686" cy="641025"/>
          </a:xfrm>
          <a:prstGeom prst="accentCallout1">
            <a:avLst>
              <a:gd name="adj1" fmla="val -9830"/>
              <a:gd name="adj2" fmla="val 32195"/>
              <a:gd name="adj3" fmla="val -63040"/>
              <a:gd name="adj4" fmla="val 4632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smtClean="0">
                <a:solidFill>
                  <a:schemeClr val="tx1"/>
                </a:solidFill>
              </a:rPr>
              <a:t>基于</a:t>
            </a:r>
            <a:r>
              <a:rPr lang="en-US" altLang="zh-CN" sz="1000" b="1" smtClean="0">
                <a:solidFill>
                  <a:schemeClr val="tx1"/>
                </a:solidFill>
              </a:rPr>
              <a:t>PBOM</a:t>
            </a:r>
            <a:r>
              <a:rPr lang="zh-CN" altLang="en-US" sz="1000" b="1" smtClean="0">
                <a:solidFill>
                  <a:schemeClr val="tx1"/>
                </a:solidFill>
              </a:rPr>
              <a:t>填写主制</a:t>
            </a:r>
            <a:r>
              <a:rPr lang="en-US" altLang="zh-CN" sz="1000" b="1" smtClean="0">
                <a:solidFill>
                  <a:schemeClr val="tx1"/>
                </a:solidFill>
              </a:rPr>
              <a:t>/</a:t>
            </a:r>
            <a:r>
              <a:rPr lang="zh-CN" altLang="en-US" sz="1000" b="1" smtClean="0">
                <a:solidFill>
                  <a:schemeClr val="tx1"/>
                </a:solidFill>
              </a:rPr>
              <a:t>辅制车间进行工艺任务分工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3312443" y="5317492"/>
            <a:ext cx="1204591" cy="272415"/>
          </a:xfrm>
          <a:prstGeom prst="round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00" b="1"/>
            </a:lvl1pPr>
          </a:lstStyle>
          <a:p>
            <a:r>
              <a:rPr lang="en-US" altLang="zh-CN" smtClean="0"/>
              <a:t>PBOM</a:t>
            </a:r>
            <a:r>
              <a:rPr lang="zh-CN" altLang="en-US" smtClean="0"/>
              <a:t>导入</a:t>
            </a:r>
            <a:r>
              <a:rPr lang="en-US" altLang="zh-CN" smtClean="0"/>
              <a:t>CAPP</a:t>
            </a:r>
            <a:endParaRPr lang="zh-CN" altLang="en-US"/>
          </a:p>
        </p:txBody>
      </p:sp>
      <p:cxnSp>
        <p:nvCxnSpPr>
          <p:cNvPr id="145" name="直接箭头连接符 144"/>
          <p:cNvCxnSpPr>
            <a:stCxn id="148" idx="0"/>
          </p:cNvCxnSpPr>
          <p:nvPr/>
        </p:nvCxnSpPr>
        <p:spPr>
          <a:xfrm flipH="1" flipV="1">
            <a:off x="6768827" y="5176019"/>
            <a:ext cx="14453" cy="577081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6048747" y="5335652"/>
            <a:ext cx="1481257" cy="272415"/>
          </a:xfrm>
          <a:prstGeom prst="round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00" b="1"/>
            </a:lvl1pPr>
          </a:lstStyle>
          <a:p>
            <a:r>
              <a:rPr lang="zh-CN" altLang="en-US" smtClean="0"/>
              <a:t>二维工艺文件</a:t>
            </a:r>
            <a:r>
              <a:rPr lang="zh-CN" altLang="en-US"/>
              <a:t>集成</a:t>
            </a:r>
            <a:r>
              <a:rPr lang="zh-CN" altLang="en-US" smtClean="0"/>
              <a:t>检入</a:t>
            </a:r>
            <a:endParaRPr lang="zh-CN" altLang="en-US"/>
          </a:p>
        </p:txBody>
      </p:sp>
      <p:sp>
        <p:nvSpPr>
          <p:cNvPr id="161" name="右箭头 160"/>
          <p:cNvSpPr/>
          <p:nvPr/>
        </p:nvSpPr>
        <p:spPr>
          <a:xfrm>
            <a:off x="8059511" y="3299382"/>
            <a:ext cx="509516" cy="339275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TextBox 161"/>
          <p:cNvSpPr txBox="1"/>
          <p:nvPr/>
        </p:nvSpPr>
        <p:spPr>
          <a:xfrm>
            <a:off x="8113438" y="2770270"/>
            <a:ext cx="911177" cy="442674"/>
          </a:xfrm>
          <a:prstGeom prst="round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00" b="1"/>
            </a:lvl1pPr>
          </a:lstStyle>
          <a:p>
            <a:r>
              <a:rPr lang="zh-CN" altLang="en-US" smtClean="0"/>
              <a:t>生产</a:t>
            </a:r>
            <a:r>
              <a:rPr lang="en-US" altLang="zh-CN" smtClean="0"/>
              <a:t>BOM</a:t>
            </a:r>
            <a:r>
              <a:rPr lang="zh-CN" altLang="en-US" smtClean="0"/>
              <a:t>表</a:t>
            </a:r>
            <a:endParaRPr lang="en-US" altLang="zh-CN" smtClean="0"/>
          </a:p>
          <a:p>
            <a:r>
              <a:rPr lang="zh-CN" altLang="en-US" smtClean="0"/>
              <a:t>存货管理表</a:t>
            </a:r>
            <a:endParaRPr lang="zh-CN" altLang="en-US"/>
          </a:p>
        </p:txBody>
      </p:sp>
      <p:sp>
        <p:nvSpPr>
          <p:cNvPr id="63" name="Rectangle 9"/>
          <p:cNvSpPr>
            <a:spLocks noChangeArrowheads="1"/>
          </p:cNvSpPr>
          <p:nvPr/>
        </p:nvSpPr>
        <p:spPr bwMode="auto">
          <a:xfrm>
            <a:off x="8705675" y="3780459"/>
            <a:ext cx="1008063" cy="428625"/>
          </a:xfrm>
          <a:prstGeom prst="rect">
            <a:avLst/>
          </a:prstGeom>
          <a:gradFill rotWithShape="1">
            <a:gsLst>
              <a:gs pos="0">
                <a:srgbClr val="BFBFBF">
                  <a:tint val="50000"/>
                  <a:satMod val="300000"/>
                </a:srgbClr>
              </a:gs>
              <a:gs pos="35000">
                <a:srgbClr val="BFBFBF">
                  <a:tint val="37000"/>
                  <a:satMod val="300000"/>
                </a:srgbClr>
              </a:gs>
              <a:gs pos="100000">
                <a:srgbClr val="BFBFB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FBFBF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anchor="ctr"/>
          <a:lstStyle/>
          <a:p>
            <a:pPr marL="85725" marR="0" lvl="0" indent="-85725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0" dirty="0" smtClean="0">
                <a:solidFill>
                  <a:srgbClr val="4D4D4F"/>
                </a:solidFill>
                <a:latin typeface="Arial"/>
                <a:ea typeface="黑体"/>
              </a:rPr>
              <a:t>MES</a:t>
            </a:r>
            <a:r>
              <a:rPr kumimoji="0" lang="zh-CN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系统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5558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nimBg="1"/>
      <p:bldP spid="147" grpId="0" animBg="1"/>
      <p:bldP spid="149" grpId="0" animBg="1"/>
      <p:bldP spid="140" grpId="0" animBg="1"/>
      <p:bldP spid="151" grpId="0" animBg="1"/>
      <p:bldP spid="152" grpId="0" animBg="1"/>
      <p:bldP spid="153" grpId="0" animBg="1"/>
      <p:bldP spid="160" grpId="0" animBg="1"/>
      <p:bldP spid="16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</a:t>
            </a:r>
            <a:r>
              <a:rPr lang="zh-CN" altLang="en-US" smtClean="0">
                <a:solidFill>
                  <a:srgbClr val="FFFF00"/>
                </a:solidFill>
              </a:rPr>
              <a:t>实践设计定义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76139" y="1503611"/>
            <a:ext cx="2448272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smtClean="0">
                <a:solidFill>
                  <a:schemeClr val="tx1"/>
                </a:solidFill>
              </a:rPr>
              <a:t>1. </a:t>
            </a:r>
            <a:r>
              <a:rPr lang="zh-CN" altLang="en-US" b="1" smtClean="0">
                <a:solidFill>
                  <a:schemeClr val="tx1"/>
                </a:solidFill>
              </a:rPr>
              <a:t>基础业务环境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76139" y="2439715"/>
            <a:ext cx="2448272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smtClean="0">
                <a:solidFill>
                  <a:schemeClr val="tx1"/>
                </a:solidFill>
              </a:rPr>
              <a:t>2. </a:t>
            </a:r>
            <a:r>
              <a:rPr lang="zh-CN" altLang="en-US" b="1" smtClean="0">
                <a:solidFill>
                  <a:schemeClr val="tx1"/>
                </a:solidFill>
              </a:rPr>
              <a:t>产品库环境定义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76139" y="3447827"/>
            <a:ext cx="2448272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smtClean="0">
                <a:solidFill>
                  <a:schemeClr val="tx1"/>
                </a:solidFill>
              </a:rPr>
              <a:t>3. </a:t>
            </a:r>
            <a:r>
              <a:rPr lang="zh-CN" altLang="en-US" b="1" smtClean="0">
                <a:solidFill>
                  <a:schemeClr val="tx1"/>
                </a:solidFill>
              </a:rPr>
              <a:t>存储库管理规划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76139" y="4455939"/>
            <a:ext cx="2448272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smtClean="0">
                <a:solidFill>
                  <a:schemeClr val="tx1"/>
                </a:solidFill>
              </a:rPr>
              <a:t>4. </a:t>
            </a:r>
            <a:r>
              <a:rPr lang="zh-CN" altLang="en-US" b="1" smtClean="0">
                <a:solidFill>
                  <a:schemeClr val="tx1"/>
                </a:solidFill>
              </a:rPr>
              <a:t>文档管理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76139" y="5464051"/>
            <a:ext cx="2448272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smtClean="0">
                <a:solidFill>
                  <a:schemeClr val="tx1"/>
                </a:solidFill>
              </a:rPr>
              <a:t>5. </a:t>
            </a:r>
            <a:r>
              <a:rPr lang="zh-CN" altLang="en-US" b="1" smtClean="0">
                <a:solidFill>
                  <a:schemeClr val="tx1"/>
                </a:solidFill>
              </a:rPr>
              <a:t>设计数据接收管理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960515" y="1503611"/>
            <a:ext cx="2448272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>
                <a:solidFill>
                  <a:schemeClr val="tx1"/>
                </a:solidFill>
              </a:rPr>
              <a:t>6</a:t>
            </a:r>
            <a:r>
              <a:rPr lang="en-US" altLang="zh-CN" b="1" smtClean="0">
                <a:solidFill>
                  <a:schemeClr val="tx1"/>
                </a:solidFill>
              </a:rPr>
              <a:t>. PBOM</a:t>
            </a:r>
            <a:r>
              <a:rPr lang="zh-CN" altLang="en-US" b="1" smtClean="0">
                <a:solidFill>
                  <a:schemeClr val="tx1"/>
                </a:solidFill>
              </a:rPr>
              <a:t>设计管理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960515" y="2439715"/>
            <a:ext cx="2448272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>
                <a:solidFill>
                  <a:schemeClr val="tx1"/>
                </a:solidFill>
              </a:rPr>
              <a:t>7</a:t>
            </a:r>
            <a:r>
              <a:rPr lang="en-US" altLang="zh-CN" b="1" smtClean="0">
                <a:solidFill>
                  <a:schemeClr val="tx1"/>
                </a:solidFill>
              </a:rPr>
              <a:t>. </a:t>
            </a:r>
            <a:r>
              <a:rPr lang="zh-CN" altLang="en-US" b="1" smtClean="0">
                <a:solidFill>
                  <a:schemeClr val="tx1"/>
                </a:solidFill>
              </a:rPr>
              <a:t>工艺任务分工管理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960515" y="3447827"/>
            <a:ext cx="2448272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>
                <a:solidFill>
                  <a:schemeClr val="tx1"/>
                </a:solidFill>
              </a:rPr>
              <a:t>8</a:t>
            </a:r>
            <a:r>
              <a:rPr lang="en-US" altLang="zh-CN" b="1" smtClean="0">
                <a:solidFill>
                  <a:schemeClr val="tx1"/>
                </a:solidFill>
              </a:rPr>
              <a:t>. </a:t>
            </a:r>
            <a:r>
              <a:rPr lang="zh-CN" altLang="en-US" b="1" smtClean="0">
                <a:solidFill>
                  <a:schemeClr val="tx1"/>
                </a:solidFill>
              </a:rPr>
              <a:t>三维工艺设计管理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960515" y="4455939"/>
            <a:ext cx="2952328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>
                <a:solidFill>
                  <a:schemeClr val="tx1"/>
                </a:solidFill>
              </a:rPr>
              <a:t>9</a:t>
            </a:r>
            <a:r>
              <a:rPr lang="en-US" altLang="zh-CN" b="1" smtClean="0">
                <a:solidFill>
                  <a:schemeClr val="tx1"/>
                </a:solidFill>
              </a:rPr>
              <a:t>. </a:t>
            </a:r>
            <a:r>
              <a:rPr lang="zh-CN" altLang="en-US" b="1">
                <a:solidFill>
                  <a:schemeClr val="tx1"/>
                </a:solidFill>
              </a:rPr>
              <a:t>自研</a:t>
            </a:r>
            <a:r>
              <a:rPr lang="zh-CN" altLang="en-US" b="1" smtClean="0">
                <a:solidFill>
                  <a:schemeClr val="tx1"/>
                </a:solidFill>
              </a:rPr>
              <a:t>产品</a:t>
            </a:r>
            <a:r>
              <a:rPr lang="en-US" altLang="zh-CN" b="1" smtClean="0">
                <a:solidFill>
                  <a:schemeClr val="tx1"/>
                </a:solidFill>
              </a:rPr>
              <a:t>/</a:t>
            </a:r>
            <a:r>
              <a:rPr lang="zh-CN" altLang="en-US" b="1" smtClean="0">
                <a:solidFill>
                  <a:schemeClr val="tx1"/>
                </a:solidFill>
              </a:rPr>
              <a:t>工装设计管理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960515" y="5464051"/>
            <a:ext cx="2448272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smtClean="0">
                <a:solidFill>
                  <a:schemeClr val="tx1"/>
                </a:solidFill>
              </a:rPr>
              <a:t>10. </a:t>
            </a:r>
            <a:r>
              <a:rPr lang="zh-CN" altLang="en-US" b="1" smtClean="0">
                <a:solidFill>
                  <a:schemeClr val="tx1"/>
                </a:solidFill>
              </a:rPr>
              <a:t>变更过程管理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416899" y="1503611"/>
            <a:ext cx="2448272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smtClean="0">
                <a:solidFill>
                  <a:schemeClr val="tx1"/>
                </a:solidFill>
              </a:rPr>
              <a:t>11. </a:t>
            </a:r>
            <a:r>
              <a:rPr lang="zh-CN" altLang="en-US" b="1" smtClean="0">
                <a:solidFill>
                  <a:schemeClr val="tx1"/>
                </a:solidFill>
              </a:rPr>
              <a:t>系统集成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416899" y="2439715"/>
            <a:ext cx="2448272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smtClean="0">
                <a:solidFill>
                  <a:schemeClr val="tx1"/>
                </a:solidFill>
              </a:rPr>
              <a:t>12. </a:t>
            </a:r>
            <a:r>
              <a:rPr lang="zh-CN" altLang="en-US" b="1" smtClean="0">
                <a:solidFill>
                  <a:schemeClr val="tx1"/>
                </a:solidFill>
              </a:rPr>
              <a:t>数据搜索管理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7416899" y="3447827"/>
            <a:ext cx="2448272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smtClean="0">
                <a:solidFill>
                  <a:schemeClr val="tx1"/>
                </a:solidFill>
              </a:rPr>
              <a:t>13. </a:t>
            </a:r>
            <a:r>
              <a:rPr lang="zh-CN" altLang="en-US" b="1" smtClean="0">
                <a:solidFill>
                  <a:schemeClr val="tx1"/>
                </a:solidFill>
              </a:rPr>
              <a:t>历史数据整理导入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416899" y="4455939"/>
            <a:ext cx="2448272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smtClean="0">
                <a:solidFill>
                  <a:schemeClr val="tx1"/>
                </a:solidFill>
              </a:rPr>
              <a:t>14. </a:t>
            </a:r>
            <a:r>
              <a:rPr lang="zh-CN" altLang="en-US" b="1" smtClean="0">
                <a:solidFill>
                  <a:schemeClr val="tx1"/>
                </a:solidFill>
              </a:rPr>
              <a:t>系统安全管理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3498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未来实践设计</a:t>
            </a:r>
            <a:r>
              <a:rPr lang="zh-CN" altLang="en-US" smtClean="0">
                <a:solidFill>
                  <a:srgbClr val="FFFF00"/>
                </a:solidFill>
              </a:rPr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5904656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28750" lvl="2" indent="-514350">
              <a:lnSpc>
                <a:spcPct val="150000"/>
              </a:lnSpc>
              <a:buAutoNum type="arabicPeriod"/>
            </a:pPr>
            <a:r>
              <a:rPr lang="zh-CN" altLang="en-US" sz="2800" b="1" smtClean="0">
                <a:solidFill>
                  <a:schemeClr val="bg1"/>
                </a:solidFill>
              </a:rPr>
              <a:t>基础业务环境</a:t>
            </a:r>
            <a:endParaRPr lang="en-US" altLang="zh-CN" sz="2800" b="1" smtClean="0">
              <a:solidFill>
                <a:schemeClr val="bg1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用户登录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系统页面说明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权限规划原则</a:t>
            </a:r>
            <a:endParaRPr lang="zh-CN" altLang="en-US" b="1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9500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基础业务环境： </a:t>
            </a:r>
            <a:r>
              <a:rPr lang="zh-CN" altLang="en-US" smtClean="0">
                <a:solidFill>
                  <a:srgbClr val="FFFF00"/>
                </a:solidFill>
              </a:rPr>
              <a:t>章节说明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折角形 3"/>
          <p:cNvSpPr/>
          <p:nvPr/>
        </p:nvSpPr>
        <p:spPr>
          <a:xfrm>
            <a:off x="1728267" y="1791643"/>
            <a:ext cx="7128792" cy="3600400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本</a:t>
            </a:r>
            <a:r>
              <a:rPr lang="zh-CN" altLang="en-US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章节主要说明未来</a:t>
            </a:r>
            <a:r>
              <a:rPr lang="en-US" altLang="zh-CN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Windchill</a:t>
            </a:r>
            <a:r>
              <a:rPr lang="zh-CN" altLang="en-US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平台的基础业务环境，包括：</a:t>
            </a:r>
            <a:endParaRPr lang="en-US" altLang="zh-CN" b="1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用户登录：说明用户登陆系统的方式</a:t>
            </a:r>
            <a:endParaRPr lang="en-US" altLang="zh-CN" b="1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系统页面说明：说明用户登录系统后常用</a:t>
            </a:r>
            <a:r>
              <a:rPr lang="zh-CN" altLang="en-US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页面功能</a:t>
            </a:r>
            <a:endParaRPr lang="en-US" altLang="zh-CN" b="1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权限规划原则：说明系统权限规划的总体原则</a:t>
            </a:r>
            <a:endParaRPr lang="zh-CN" altLang="en-US" b="1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659974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1. </a:t>
            </a:r>
            <a:r>
              <a:rPr lang="zh-CN" altLang="en-US" smtClean="0"/>
              <a:t>基础业务环境： </a:t>
            </a:r>
            <a:r>
              <a:rPr lang="zh-CN" altLang="en-US" smtClean="0">
                <a:solidFill>
                  <a:srgbClr val="FFFF00"/>
                </a:solidFill>
              </a:rPr>
              <a:t>用户登录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144091" y="1143571"/>
            <a:ext cx="4320480" cy="511256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用户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登陆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使用</a:t>
            </a: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IE8.0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浏览器</a:t>
            </a:r>
          </a:p>
          <a:p>
            <a:pPr lvl="0">
              <a:lnSpc>
                <a:spcPct val="200000"/>
              </a:lnSpc>
            </a:pP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输入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Windchill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系统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URL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地址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pPr lvl="0">
              <a:lnSpc>
                <a:spcPct val="200000"/>
              </a:lnSpc>
            </a:pP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登陆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时需要进行身份认证</a:t>
            </a:r>
          </a:p>
          <a:p>
            <a:pPr lvl="0">
              <a:lnSpc>
                <a:spcPct val="200000"/>
              </a:lnSpc>
            </a:pP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登陆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时能够自动记住密码</a:t>
            </a:r>
          </a:p>
          <a:p>
            <a:pPr lvl="0">
              <a:lnSpc>
                <a:spcPct val="200000"/>
              </a:lnSpc>
            </a:pP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只能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在内网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登陆系统</a:t>
            </a:r>
            <a:endParaRPr lang="zh-CN" altLang="zh-CN" sz="1800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64571" y="1287587"/>
            <a:ext cx="4032448" cy="22322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图片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9443" y="3807867"/>
            <a:ext cx="4067575" cy="20162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202199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1. </a:t>
            </a:r>
            <a:r>
              <a:rPr lang="zh-CN" altLang="en-US" smtClean="0"/>
              <a:t>基础业务环境： </a:t>
            </a:r>
            <a:r>
              <a:rPr lang="zh-CN" altLang="en-US" smtClean="0">
                <a:solidFill>
                  <a:srgbClr val="FFFF00"/>
                </a:solidFill>
              </a:rPr>
              <a:t>系统页面说明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16099" y="1248402"/>
            <a:ext cx="4032448" cy="51125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Windchill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系统是按照导航的形式组织功能页面的，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包括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：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zh-CN" sz="1800" smtClean="0">
                <a:solidFill>
                  <a:srgbClr val="00B050"/>
                </a:solidFill>
              </a:rPr>
              <a:t>导航器</a:t>
            </a:r>
            <a:endParaRPr lang="en-US" altLang="zh-CN" sz="1800" smtClean="0">
              <a:solidFill>
                <a:srgbClr val="00B050"/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主页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r>
              <a:rPr lang="zh-CN" altLang="en-US" sz="1800" smtClean="0">
                <a:solidFill>
                  <a:srgbClr val="0070C0"/>
                </a:solidFill>
              </a:rPr>
              <a:t>搜索</a:t>
            </a:r>
            <a:endParaRPr lang="en-US" altLang="zh-CN" sz="1800">
              <a:solidFill>
                <a:srgbClr val="0070C0"/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最近</a:t>
            </a:r>
            <a:r>
              <a:rPr lang="zh-CN" altLang="zh-CN" sz="1800">
                <a:solidFill>
                  <a:srgbClr val="0070C0"/>
                </a:solidFill>
              </a:rPr>
              <a:t>访问</a:t>
            </a:r>
            <a:r>
              <a:rPr lang="zh-CN" altLang="zh-CN" sz="1800" smtClean="0">
                <a:solidFill>
                  <a:srgbClr val="0070C0"/>
                </a:solidFill>
              </a:rPr>
              <a:t>的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快速链接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通过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导航器快速进入搜索和浏览页面。</a:t>
            </a:r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27612" y="1359595"/>
            <a:ext cx="4824536" cy="2846368"/>
          </a:xfrm>
          <a:prstGeom prst="rect">
            <a:avLst/>
          </a:prstGeom>
          <a:ln w="9525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矩形 3"/>
          <p:cNvSpPr/>
          <p:nvPr/>
        </p:nvSpPr>
        <p:spPr>
          <a:xfrm>
            <a:off x="4600800" y="4264072"/>
            <a:ext cx="5768427" cy="1285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b="1"/>
              <a:t>导航器的浏览</a:t>
            </a:r>
            <a:r>
              <a:rPr lang="en-US" altLang="zh-CN" b="1"/>
              <a:t>Tab</a:t>
            </a:r>
            <a:r>
              <a:rPr lang="zh-CN" altLang="zh-CN" b="1"/>
              <a:t>包含</a:t>
            </a:r>
            <a:r>
              <a:rPr lang="zh-CN" altLang="en-US" b="1"/>
              <a:t>：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zh-CN" altLang="en-US" b="1" smtClean="0"/>
              <a:t>“</a:t>
            </a:r>
            <a:r>
              <a:rPr lang="zh-CN" altLang="zh-CN" b="1" smtClean="0"/>
              <a:t>最近</a:t>
            </a:r>
            <a:r>
              <a:rPr lang="zh-CN" altLang="zh-CN" b="1"/>
              <a:t>访问的</a:t>
            </a:r>
            <a:r>
              <a:rPr lang="zh-CN" altLang="en-US" b="1"/>
              <a:t>、</a:t>
            </a:r>
            <a:r>
              <a:rPr lang="zh-CN" altLang="zh-CN" b="1"/>
              <a:t>产品库</a:t>
            </a:r>
            <a:r>
              <a:rPr lang="zh-CN" altLang="en-US" b="1"/>
              <a:t>、</a:t>
            </a:r>
            <a:r>
              <a:rPr lang="zh-CN" altLang="zh-CN" b="1"/>
              <a:t>存储库</a:t>
            </a:r>
            <a:r>
              <a:rPr lang="zh-CN" altLang="en-US" b="1"/>
              <a:t>、</a:t>
            </a:r>
            <a:r>
              <a:rPr lang="zh-CN" altLang="zh-CN" b="1"/>
              <a:t>变更</a:t>
            </a:r>
            <a:r>
              <a:rPr lang="zh-CN" altLang="en-US" b="1"/>
              <a:t>、</a:t>
            </a:r>
            <a:r>
              <a:rPr lang="zh-CN" altLang="zh-CN" b="1"/>
              <a:t>组织</a:t>
            </a:r>
            <a:r>
              <a:rPr lang="zh-CN" altLang="en-US" b="1"/>
              <a:t>、</a:t>
            </a:r>
            <a:r>
              <a:rPr lang="zh-CN" altLang="zh-CN" b="1" smtClean="0"/>
              <a:t>站点</a:t>
            </a:r>
            <a:r>
              <a:rPr lang="zh-CN" altLang="en-US" b="1" smtClean="0"/>
              <a:t>”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zh-CN" altLang="zh-CN" b="1"/>
              <a:t>用户登陆系统后</a:t>
            </a:r>
            <a:r>
              <a:rPr lang="zh-CN" altLang="en-US" b="1"/>
              <a:t>根据</a:t>
            </a:r>
            <a:r>
              <a:rPr lang="zh-CN" altLang="zh-CN" b="1"/>
              <a:t>用户权限的不同动态生成</a:t>
            </a:r>
          </a:p>
        </p:txBody>
      </p:sp>
    </p:spTree>
    <p:extLst>
      <p:ext uri="{BB962C8B-B14F-4D97-AF65-F5344CB8AC3E}">
        <p14:creationId xmlns:p14="http://schemas.microsoft.com/office/powerpoint/2010/main" val="33522223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6331" y="1423474"/>
            <a:ext cx="5872530" cy="1364759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1. </a:t>
            </a:r>
            <a:r>
              <a:rPr lang="zh-CN" altLang="en-US" smtClean="0"/>
              <a:t>基础业务环境： </a:t>
            </a:r>
            <a:r>
              <a:rPr lang="zh-CN" altLang="en-US" smtClean="0">
                <a:solidFill>
                  <a:srgbClr val="FFFF00"/>
                </a:solidFill>
              </a:rPr>
              <a:t>系统页面说明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16099" y="1248402"/>
            <a:ext cx="4032448" cy="51125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Windchill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系统是按照导航的形式组织功能页面的，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包括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：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导航器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r>
              <a:rPr lang="zh-CN" altLang="zh-CN" sz="1800" smtClean="0">
                <a:solidFill>
                  <a:srgbClr val="00B050"/>
                </a:solidFill>
              </a:rPr>
              <a:t>主页</a:t>
            </a:r>
            <a:endParaRPr lang="en-US" altLang="zh-CN" sz="1800" smtClean="0">
              <a:solidFill>
                <a:srgbClr val="00B050"/>
              </a:solidFill>
            </a:endParaRPr>
          </a:p>
          <a:p>
            <a:r>
              <a:rPr lang="zh-CN" altLang="en-US" sz="1800" smtClean="0">
                <a:solidFill>
                  <a:srgbClr val="0070C0"/>
                </a:solidFill>
              </a:rPr>
              <a:t>搜索</a:t>
            </a:r>
            <a:endParaRPr lang="en-US" altLang="zh-CN" sz="1800">
              <a:solidFill>
                <a:srgbClr val="0070C0"/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最近</a:t>
            </a:r>
            <a:r>
              <a:rPr lang="zh-CN" altLang="zh-CN" sz="1800">
                <a:solidFill>
                  <a:srgbClr val="0070C0"/>
                </a:solidFill>
              </a:rPr>
              <a:t>访问</a:t>
            </a:r>
            <a:r>
              <a:rPr lang="zh-CN" altLang="zh-CN" sz="1800" smtClean="0">
                <a:solidFill>
                  <a:srgbClr val="0070C0"/>
                </a:solidFill>
              </a:rPr>
              <a:t>的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快速链接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通过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导航器快速进入搜索和浏览页面。</a:t>
            </a:r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16" name="图片 1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43399" y="1791507"/>
            <a:ext cx="6272136" cy="1993451"/>
          </a:xfrm>
          <a:prstGeom prst="rect">
            <a:avLst/>
          </a:prstGeom>
          <a:ln w="9525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图片 16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49277" y="2175154"/>
            <a:ext cx="5832722" cy="2630144"/>
          </a:xfrm>
          <a:prstGeom prst="rect">
            <a:avLst/>
          </a:prstGeom>
          <a:ln w="9525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矩形 3"/>
          <p:cNvSpPr/>
          <p:nvPr/>
        </p:nvSpPr>
        <p:spPr>
          <a:xfrm>
            <a:off x="4544809" y="5074601"/>
            <a:ext cx="60469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/>
              <a:t>主页主要包含：我的工作分配、更新、已检出工作等。</a:t>
            </a:r>
          </a:p>
        </p:txBody>
      </p:sp>
    </p:spTree>
    <p:extLst>
      <p:ext uri="{BB962C8B-B14F-4D97-AF65-F5344CB8AC3E}">
        <p14:creationId xmlns:p14="http://schemas.microsoft.com/office/powerpoint/2010/main" val="284660108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1. </a:t>
            </a:r>
            <a:r>
              <a:rPr lang="zh-CN" altLang="en-US" smtClean="0"/>
              <a:t>基础业务环境： </a:t>
            </a:r>
            <a:r>
              <a:rPr lang="zh-CN" altLang="en-US" smtClean="0">
                <a:solidFill>
                  <a:srgbClr val="FFFF00"/>
                </a:solidFill>
              </a:rPr>
              <a:t>系统页面说明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16099" y="1248402"/>
            <a:ext cx="4032448" cy="51125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Windchill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系统是按照导航的形式组织功能页面的，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包括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：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导航器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主页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r>
              <a:rPr lang="zh-CN" altLang="en-US" sz="1800" smtClean="0">
                <a:solidFill>
                  <a:srgbClr val="00B050"/>
                </a:solidFill>
              </a:rPr>
              <a:t>搜索</a:t>
            </a:r>
            <a:endParaRPr lang="en-US" altLang="zh-CN" sz="1800">
              <a:solidFill>
                <a:srgbClr val="00B050"/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最近</a:t>
            </a:r>
            <a:r>
              <a:rPr lang="zh-CN" altLang="zh-CN" sz="1800">
                <a:solidFill>
                  <a:srgbClr val="0070C0"/>
                </a:solidFill>
              </a:rPr>
              <a:t>访问</a:t>
            </a:r>
            <a:r>
              <a:rPr lang="zh-CN" altLang="zh-CN" sz="1800" smtClean="0">
                <a:solidFill>
                  <a:srgbClr val="0070C0"/>
                </a:solidFill>
              </a:rPr>
              <a:t>的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快速链接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通过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导航器快速进入搜索和浏览页面。</a:t>
            </a:r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18" name="图片 1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92563" y="1394573"/>
            <a:ext cx="5544691" cy="2384447"/>
          </a:xfrm>
          <a:prstGeom prst="rect">
            <a:avLst/>
          </a:prstGeom>
          <a:ln w="9525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图片 18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96102" y="1863651"/>
            <a:ext cx="5734097" cy="3353803"/>
          </a:xfrm>
          <a:prstGeom prst="rect">
            <a:avLst/>
          </a:prstGeom>
          <a:ln w="9525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矩形 9"/>
          <p:cNvSpPr/>
          <p:nvPr/>
        </p:nvSpPr>
        <p:spPr>
          <a:xfrm>
            <a:off x="4539655" y="5467563"/>
            <a:ext cx="60469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smtClean="0"/>
              <a:t>搜索</a:t>
            </a:r>
            <a:r>
              <a:rPr lang="zh-CN" altLang="zh-CN" b="1" smtClean="0"/>
              <a:t>包含：</a:t>
            </a:r>
            <a:r>
              <a:rPr lang="zh-CN" altLang="en-US" b="1" smtClean="0"/>
              <a:t>通用搜索、高级搜索</a:t>
            </a:r>
            <a:endParaRPr lang="zh-CN" altLang="zh-CN" b="1"/>
          </a:p>
        </p:txBody>
      </p:sp>
    </p:spTree>
    <p:extLst>
      <p:ext uri="{BB962C8B-B14F-4D97-AF65-F5344CB8AC3E}">
        <p14:creationId xmlns:p14="http://schemas.microsoft.com/office/powerpoint/2010/main" val="4072146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1. </a:t>
            </a:r>
            <a:r>
              <a:rPr lang="zh-CN" altLang="en-US" smtClean="0"/>
              <a:t>基础业务环境： </a:t>
            </a:r>
            <a:r>
              <a:rPr lang="zh-CN" altLang="en-US" smtClean="0">
                <a:solidFill>
                  <a:srgbClr val="FFFF00"/>
                </a:solidFill>
              </a:rPr>
              <a:t>系统页面说明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16099" y="1248402"/>
            <a:ext cx="4032448" cy="51125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Windchill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系统是按照导航的形式组织功能页面的，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包括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：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导航器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主页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r>
              <a:rPr lang="zh-CN" altLang="en-US" sz="1800" smtClean="0">
                <a:solidFill>
                  <a:srgbClr val="0070C0"/>
                </a:solidFill>
              </a:rPr>
              <a:t>搜索</a:t>
            </a:r>
            <a:endParaRPr lang="en-US" altLang="zh-CN" sz="1800">
              <a:solidFill>
                <a:srgbClr val="0070C0"/>
              </a:solidFill>
            </a:endParaRPr>
          </a:p>
          <a:p>
            <a:r>
              <a:rPr lang="zh-CN" altLang="zh-CN" sz="1800" smtClean="0">
                <a:solidFill>
                  <a:srgbClr val="00B050"/>
                </a:solidFill>
              </a:rPr>
              <a:t>最近</a:t>
            </a:r>
            <a:r>
              <a:rPr lang="zh-CN" altLang="zh-CN" sz="1800">
                <a:solidFill>
                  <a:srgbClr val="00B050"/>
                </a:solidFill>
              </a:rPr>
              <a:t>访问</a:t>
            </a:r>
            <a:r>
              <a:rPr lang="zh-CN" altLang="zh-CN" sz="1800" smtClean="0">
                <a:solidFill>
                  <a:srgbClr val="00B050"/>
                </a:solidFill>
              </a:rPr>
              <a:t>的</a:t>
            </a:r>
            <a:endParaRPr lang="en-US" altLang="zh-CN" sz="1800" smtClean="0">
              <a:solidFill>
                <a:srgbClr val="00B050"/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快速链接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通过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导航器快速进入搜索和浏览页面。</a:t>
            </a:r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8" name="图片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2603" y="1390340"/>
            <a:ext cx="3456384" cy="3959187"/>
          </a:xfrm>
          <a:prstGeom prst="rect">
            <a:avLst/>
          </a:prstGeom>
          <a:ln w="9525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矩形 3"/>
          <p:cNvSpPr/>
          <p:nvPr/>
        </p:nvSpPr>
        <p:spPr>
          <a:xfrm>
            <a:off x="4608587" y="5370157"/>
            <a:ext cx="59766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/>
              <a:t>最近访问的：系统会自动记录用户在系统中访问过的数据对象，并把最新访问过的数据对象放在最近访问列表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262429569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1. </a:t>
            </a:r>
            <a:r>
              <a:rPr lang="zh-CN" altLang="en-US" smtClean="0"/>
              <a:t>基础业务环境： </a:t>
            </a:r>
            <a:r>
              <a:rPr lang="zh-CN" altLang="en-US" smtClean="0">
                <a:solidFill>
                  <a:srgbClr val="FFFF00"/>
                </a:solidFill>
              </a:rPr>
              <a:t>系统页面说明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16099" y="1248402"/>
            <a:ext cx="4032448" cy="51125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Windchill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系统是按照导航的形式组织功能页面的，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包括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：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导航器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主页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r>
              <a:rPr lang="zh-CN" altLang="en-US" sz="1800" smtClean="0">
                <a:solidFill>
                  <a:srgbClr val="0070C0"/>
                </a:solidFill>
              </a:rPr>
              <a:t>搜索</a:t>
            </a:r>
            <a:endParaRPr lang="en-US" altLang="zh-CN" sz="1800">
              <a:solidFill>
                <a:srgbClr val="0070C0"/>
              </a:solidFill>
            </a:endParaRPr>
          </a:p>
          <a:p>
            <a:r>
              <a:rPr lang="zh-CN" altLang="zh-CN" sz="1800" smtClean="0">
                <a:solidFill>
                  <a:srgbClr val="0070C0"/>
                </a:solidFill>
              </a:rPr>
              <a:t>最近</a:t>
            </a:r>
            <a:r>
              <a:rPr lang="zh-CN" altLang="zh-CN" sz="1800">
                <a:solidFill>
                  <a:srgbClr val="0070C0"/>
                </a:solidFill>
              </a:rPr>
              <a:t>访问</a:t>
            </a:r>
            <a:r>
              <a:rPr lang="zh-CN" altLang="zh-CN" sz="1800" smtClean="0">
                <a:solidFill>
                  <a:srgbClr val="0070C0"/>
                </a:solidFill>
              </a:rPr>
              <a:t>的</a:t>
            </a:r>
            <a:endParaRPr lang="en-US" altLang="zh-CN" sz="1800" smtClean="0">
              <a:solidFill>
                <a:srgbClr val="0070C0"/>
              </a:solidFill>
            </a:endParaRPr>
          </a:p>
          <a:p>
            <a:r>
              <a:rPr lang="zh-CN" altLang="zh-CN" sz="1800" smtClean="0">
                <a:solidFill>
                  <a:srgbClr val="00B050"/>
                </a:solidFill>
              </a:rPr>
              <a:t>快速链接</a:t>
            </a:r>
            <a:endParaRPr lang="en-US" altLang="zh-CN" sz="180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通过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导航器快速进入搜索和浏览页面。</a:t>
            </a:r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8" name="图片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36579" y="1431603"/>
            <a:ext cx="4680520" cy="3391794"/>
          </a:xfrm>
          <a:prstGeom prst="rect">
            <a:avLst/>
          </a:prstGeom>
          <a:ln w="9525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矩形 3"/>
          <p:cNvSpPr/>
          <p:nvPr/>
        </p:nvSpPr>
        <p:spPr>
          <a:xfrm>
            <a:off x="4555835" y="5032003"/>
            <a:ext cx="5400675" cy="12850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b="1"/>
              <a:t>快速链接：相当于</a:t>
            </a:r>
            <a:r>
              <a:rPr lang="en-US" altLang="zh-CN" b="1"/>
              <a:t>Windows</a:t>
            </a:r>
            <a:r>
              <a:rPr lang="zh-CN" altLang="zh-CN" b="1"/>
              <a:t>平台的快捷方式。通过快捷方式，可以直接找到相应的用户功能，比如帮助、设置、下载等</a:t>
            </a:r>
          </a:p>
        </p:txBody>
      </p:sp>
    </p:spTree>
    <p:extLst>
      <p:ext uri="{BB962C8B-B14F-4D97-AF65-F5344CB8AC3E}">
        <p14:creationId xmlns:p14="http://schemas.microsoft.com/office/powerpoint/2010/main" val="102634455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基础业务环境： </a:t>
            </a:r>
            <a:r>
              <a:rPr lang="zh-CN" altLang="en-US" smtClean="0">
                <a:solidFill>
                  <a:srgbClr val="FFFF00"/>
                </a:solidFill>
              </a:rPr>
              <a:t>权限规划基本原则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五边形 3"/>
          <p:cNvSpPr/>
          <p:nvPr/>
        </p:nvSpPr>
        <p:spPr>
          <a:xfrm>
            <a:off x="1126654" y="2347425"/>
            <a:ext cx="8352928" cy="663795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2000" b="1"/>
              <a:t>厂领导可以查阅所有内部公开的产品数据</a:t>
            </a:r>
            <a:endParaRPr lang="zh-CN" altLang="en-US" sz="2000" b="1"/>
          </a:p>
        </p:txBody>
      </p:sp>
      <p:sp>
        <p:nvSpPr>
          <p:cNvPr id="5" name="五边形 4"/>
          <p:cNvSpPr/>
          <p:nvPr/>
        </p:nvSpPr>
        <p:spPr>
          <a:xfrm>
            <a:off x="1126654" y="3119231"/>
            <a:ext cx="8352928" cy="663795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2000" b="1" smtClean="0"/>
              <a:t>默认</a:t>
            </a:r>
            <a:r>
              <a:rPr lang="zh-CN" altLang="en-US" sz="2000" b="1" smtClean="0"/>
              <a:t>用户</a:t>
            </a:r>
            <a:r>
              <a:rPr lang="zh-CN" altLang="zh-CN" sz="2000" b="1" smtClean="0"/>
              <a:t>只能</a:t>
            </a:r>
            <a:r>
              <a:rPr lang="zh-CN" altLang="zh-CN" sz="2000" b="1"/>
              <a:t>修改自己创建的在</a:t>
            </a:r>
            <a:r>
              <a:rPr lang="zh-CN" altLang="zh-CN" sz="2000" b="1" smtClean="0"/>
              <a:t>“正在工作</a:t>
            </a:r>
            <a:r>
              <a:rPr lang="zh-CN" altLang="en-US" sz="2000" b="1" smtClean="0"/>
              <a:t>中</a:t>
            </a:r>
            <a:r>
              <a:rPr lang="zh-CN" altLang="zh-CN" sz="2000" b="1" smtClean="0"/>
              <a:t>”</a:t>
            </a:r>
            <a:r>
              <a:rPr lang="zh-CN" altLang="zh-CN" sz="2000" b="1"/>
              <a:t>和“驳回”状态 的</a:t>
            </a:r>
            <a:r>
              <a:rPr lang="zh-CN" altLang="zh-CN" sz="2000" b="1" smtClean="0"/>
              <a:t>数据</a:t>
            </a:r>
            <a:endParaRPr lang="zh-CN" altLang="en-US" sz="2000" b="1"/>
          </a:p>
        </p:txBody>
      </p:sp>
      <p:sp>
        <p:nvSpPr>
          <p:cNvPr id="6" name="五边形 5"/>
          <p:cNvSpPr/>
          <p:nvPr/>
        </p:nvSpPr>
        <p:spPr>
          <a:xfrm>
            <a:off x="1126654" y="3915878"/>
            <a:ext cx="8352928" cy="663795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smtClean="0"/>
              <a:t>用户需要被赋予数据的“修改”权限才可修改他人创建的数据</a:t>
            </a:r>
            <a:endParaRPr lang="zh-CN" altLang="en-US" sz="2000" b="1"/>
          </a:p>
        </p:txBody>
      </p:sp>
      <p:sp>
        <p:nvSpPr>
          <p:cNvPr id="7" name="五边形 6"/>
          <p:cNvSpPr/>
          <p:nvPr/>
        </p:nvSpPr>
        <p:spPr>
          <a:xfrm>
            <a:off x="1126654" y="4687684"/>
            <a:ext cx="8352928" cy="663795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2000" b="1" smtClean="0"/>
              <a:t>产品团队中</a:t>
            </a:r>
            <a:r>
              <a:rPr lang="zh-CN" altLang="zh-CN" sz="2000" b="1"/>
              <a:t>的成员可以查看产品库中所有非“正在工作”</a:t>
            </a:r>
            <a:r>
              <a:rPr lang="zh-CN" altLang="zh-CN" sz="2000" b="1" smtClean="0"/>
              <a:t>状态</a:t>
            </a:r>
            <a:r>
              <a:rPr lang="zh-CN" altLang="en-US" sz="2000" b="1" smtClean="0"/>
              <a:t>的数据</a:t>
            </a:r>
            <a:endParaRPr lang="zh-CN" altLang="en-US" sz="2000" b="1"/>
          </a:p>
        </p:txBody>
      </p:sp>
      <p:sp>
        <p:nvSpPr>
          <p:cNvPr id="8" name="五边形 7"/>
          <p:cNvSpPr/>
          <p:nvPr/>
        </p:nvSpPr>
        <p:spPr>
          <a:xfrm>
            <a:off x="1126654" y="5423486"/>
            <a:ext cx="8352928" cy="663795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zh-CN" sz="2000" b="1" smtClean="0"/>
              <a:t>标准件</a:t>
            </a:r>
            <a:r>
              <a:rPr lang="zh-CN" altLang="en-US" sz="2000" b="1" smtClean="0"/>
              <a:t>创建</a:t>
            </a:r>
            <a:r>
              <a:rPr lang="zh-CN" altLang="zh-CN" sz="2000" b="1" smtClean="0"/>
              <a:t>及</a:t>
            </a:r>
            <a:r>
              <a:rPr lang="zh-CN" altLang="zh-CN" sz="2000" b="1"/>
              <a:t>更新权限</a:t>
            </a:r>
            <a:r>
              <a:rPr lang="zh-CN" altLang="zh-CN" sz="2000" b="1" smtClean="0"/>
              <a:t>，</a:t>
            </a:r>
            <a:r>
              <a:rPr lang="zh-CN" altLang="en-US" sz="2000" b="1" smtClean="0"/>
              <a:t>通过</a:t>
            </a:r>
            <a:r>
              <a:rPr lang="zh-CN" altLang="zh-CN" sz="2000" b="1" smtClean="0"/>
              <a:t>入库</a:t>
            </a:r>
            <a:r>
              <a:rPr lang="en-US" altLang="zh-CN" sz="2000" b="1"/>
              <a:t>/</a:t>
            </a:r>
            <a:r>
              <a:rPr lang="zh-CN" altLang="zh-CN" sz="2000" b="1"/>
              <a:t>变更</a:t>
            </a:r>
            <a:r>
              <a:rPr lang="zh-CN" altLang="zh-CN" sz="2000" b="1" smtClean="0"/>
              <a:t>流程</a:t>
            </a:r>
            <a:r>
              <a:rPr lang="zh-CN" altLang="en-US" sz="2000" b="1" smtClean="0"/>
              <a:t>实现，需经过外部会签</a:t>
            </a:r>
            <a:endParaRPr lang="zh-CN" altLang="zh-CN" sz="2000" b="1"/>
          </a:p>
        </p:txBody>
      </p:sp>
      <p:sp>
        <p:nvSpPr>
          <p:cNvPr id="9" name="五边形 8"/>
          <p:cNvSpPr/>
          <p:nvPr/>
        </p:nvSpPr>
        <p:spPr>
          <a:xfrm>
            <a:off x="1126654" y="1575619"/>
            <a:ext cx="8352928" cy="663795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smtClean="0"/>
              <a:t>型号设计数据所有用户只允许查看，不允许修改</a:t>
            </a:r>
            <a:endParaRPr lang="zh-CN" altLang="en-US" sz="2000" b="1"/>
          </a:p>
        </p:txBody>
      </p:sp>
    </p:spTree>
    <p:extLst>
      <p:ext uri="{BB962C8B-B14F-4D97-AF65-F5344CB8AC3E}">
        <p14:creationId xmlns:p14="http://schemas.microsoft.com/office/powerpoint/2010/main" val="179476142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厂三维工艺协同管理平台系统解决方案：未来实践设计</a:t>
            </a:r>
            <a:r>
              <a:rPr lang="zh-CN" altLang="en-US" smtClean="0"/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5904656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>
              <a:lnSpc>
                <a:spcPct val="150000"/>
              </a:lnSpc>
            </a:pPr>
            <a:r>
              <a:rPr lang="en-US" altLang="zh-CN" sz="2800" b="1" smtClean="0">
                <a:solidFill>
                  <a:schemeClr val="bg1"/>
                </a:solidFill>
              </a:rPr>
              <a:t>2.  </a:t>
            </a:r>
            <a:r>
              <a:rPr lang="zh-CN" altLang="en-US" sz="2800" b="1" smtClean="0">
                <a:solidFill>
                  <a:schemeClr val="bg1"/>
                </a:solidFill>
              </a:rPr>
              <a:t>产品库环境定义</a:t>
            </a:r>
            <a:endParaRPr lang="en-US" altLang="zh-CN" sz="2800" b="1" smtClean="0">
              <a:solidFill>
                <a:schemeClr val="bg1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文件夹存储管理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产品团队管理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产品访问权限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产品类型及模板定义</a:t>
            </a:r>
            <a:endParaRPr lang="zh-CN" altLang="en-US" b="1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75565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en-US"/>
              <a:t>产品库环境</a:t>
            </a:r>
            <a:r>
              <a:rPr lang="zh-CN" altLang="en-US" smtClean="0"/>
              <a:t>定义</a:t>
            </a:r>
            <a:r>
              <a:rPr lang="zh-CN" altLang="en-US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章节说明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折角形 3"/>
          <p:cNvSpPr/>
          <p:nvPr/>
        </p:nvSpPr>
        <p:spPr>
          <a:xfrm>
            <a:off x="1728267" y="1791643"/>
            <a:ext cx="7128792" cy="3600400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产品库业务环境是用户协作开发成品的集中环境、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是产品相关团队的一个共同的工作空间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产品库业务环境定义的诸如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文件夹存储划分、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访问权限规则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、团队和角色等将直接影响用户对Windchill系统的使用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b="1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441454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2. </a:t>
            </a:r>
            <a:r>
              <a:rPr lang="zh-CN" altLang="en-US" smtClean="0"/>
              <a:t>产品库环境定义</a:t>
            </a:r>
            <a:r>
              <a:rPr lang="en-US" altLang="zh-CN" smtClean="0"/>
              <a:t>:</a:t>
            </a:r>
            <a:r>
              <a:rPr lang="zh-CN" altLang="en-US" smtClean="0">
                <a:solidFill>
                  <a:srgbClr val="FFFF00"/>
                </a:solidFill>
              </a:rPr>
              <a:t>文件夹存储管理</a:t>
            </a:r>
            <a:endParaRPr lang="zh-CN" altLang="en-US">
              <a:solidFill>
                <a:srgbClr val="FFFF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223934"/>
              </p:ext>
            </p:extLst>
          </p:nvPr>
        </p:nvGraphicFramePr>
        <p:xfrm>
          <a:off x="432123" y="1359595"/>
          <a:ext cx="4248472" cy="4896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1942"/>
                <a:gridCol w="1868418"/>
                <a:gridCol w="1008112"/>
              </a:tblGrid>
              <a:tr h="3712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一级文件夹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二级文件夹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三级文件夹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rowSpan="7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01</a:t>
                      </a:r>
                      <a:r>
                        <a:rPr lang="zh-CN" sz="1200">
                          <a:effectLst/>
                        </a:rPr>
                        <a:t>设计文件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01</a:t>
                      </a:r>
                      <a:r>
                        <a:rPr lang="zh-CN" sz="1200">
                          <a:effectLst/>
                        </a:rPr>
                        <a:t>图样及数模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02</a:t>
                      </a:r>
                      <a:r>
                        <a:rPr lang="zh-CN" sz="1200">
                          <a:effectLst/>
                        </a:rPr>
                        <a:t>文字或表格类设计文件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03</a:t>
                      </a:r>
                      <a:r>
                        <a:rPr lang="zh-CN" sz="1200">
                          <a:effectLst/>
                        </a:rPr>
                        <a:t>技术通知单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04</a:t>
                      </a:r>
                      <a:r>
                        <a:rPr lang="zh-CN" sz="1200">
                          <a:effectLst/>
                        </a:rPr>
                        <a:t>研试文件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05</a:t>
                      </a:r>
                      <a:r>
                        <a:rPr lang="zh-CN" sz="1200">
                          <a:effectLst/>
                        </a:rPr>
                        <a:t>软件文档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06</a:t>
                      </a:r>
                      <a:r>
                        <a:rPr lang="zh-CN" sz="1200">
                          <a:effectLst/>
                        </a:rPr>
                        <a:t>协调纪要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r>
                        <a:rPr lang="zh-CN" sz="1200">
                          <a:effectLst/>
                        </a:rPr>
                        <a:t>其他文档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rowSpan="10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02</a:t>
                      </a:r>
                      <a:r>
                        <a:rPr lang="zh-CN" sz="1200">
                          <a:effectLst/>
                        </a:rPr>
                        <a:t>工艺文件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01PBOM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02</a:t>
                      </a:r>
                      <a:r>
                        <a:rPr lang="zh-CN" sz="1200">
                          <a:effectLst/>
                        </a:rPr>
                        <a:t>工艺总方案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03</a:t>
                      </a:r>
                      <a:r>
                        <a:rPr lang="zh-CN" sz="1200">
                          <a:effectLst/>
                        </a:rPr>
                        <a:t>工艺规程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04</a:t>
                      </a:r>
                      <a:r>
                        <a:rPr lang="zh-CN" sz="1200">
                          <a:effectLst/>
                        </a:rPr>
                        <a:t>工艺技术通知单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05</a:t>
                      </a:r>
                      <a:r>
                        <a:rPr lang="zh-CN" sz="1200">
                          <a:effectLst/>
                        </a:rPr>
                        <a:t>工艺更改单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06</a:t>
                      </a:r>
                      <a:r>
                        <a:rPr lang="zh-CN" sz="1200">
                          <a:effectLst/>
                        </a:rPr>
                        <a:t>工艺技术协议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07</a:t>
                      </a:r>
                      <a:r>
                        <a:rPr lang="zh-CN" sz="1200">
                          <a:effectLst/>
                        </a:rPr>
                        <a:t>外来工艺文件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r>
                        <a:rPr lang="zh-CN" sz="1200">
                          <a:effectLst/>
                        </a:rPr>
                        <a:t>其他文档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08</a:t>
                      </a:r>
                      <a:r>
                        <a:rPr lang="zh-CN" sz="1200">
                          <a:effectLst/>
                        </a:rPr>
                        <a:t>工艺工作计划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09</a:t>
                      </a:r>
                      <a:r>
                        <a:rPr lang="zh-CN" sz="1200">
                          <a:effectLst/>
                        </a:rPr>
                        <a:t>工艺标准化大纲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03</a:t>
                      </a:r>
                      <a:r>
                        <a:rPr lang="zh-CN" sz="1200">
                          <a:effectLst/>
                        </a:rPr>
                        <a:t>质量报告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04</a:t>
                      </a:r>
                      <a:r>
                        <a:rPr lang="zh-CN" sz="1200">
                          <a:effectLst/>
                        </a:rPr>
                        <a:t>工装数据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xx-01</a:t>
                      </a:r>
                      <a:r>
                        <a:rPr lang="zh-CN" sz="1200">
                          <a:effectLst/>
                        </a:rPr>
                        <a:t>工装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xx-02</a:t>
                      </a:r>
                      <a:r>
                        <a:rPr lang="zh-CN" sz="1200">
                          <a:effectLst/>
                        </a:rPr>
                        <a:t>工装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xx-03</a:t>
                      </a:r>
                      <a:r>
                        <a:rPr lang="zh-CN" sz="1200">
                          <a:effectLst/>
                        </a:rPr>
                        <a:t>工装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……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05</a:t>
                      </a:r>
                      <a:r>
                        <a:rPr lang="zh-CN" sz="1200">
                          <a:effectLst/>
                        </a:rPr>
                        <a:t>外来</a:t>
                      </a:r>
                      <a:r>
                        <a:rPr lang="zh-CN" sz="1200" smtClean="0">
                          <a:effectLst/>
                        </a:rPr>
                        <a:t>文件</a:t>
                      </a: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01</a:t>
                      </a:r>
                      <a:r>
                        <a:rPr lang="zh-CN" sz="1200">
                          <a:effectLst/>
                        </a:rPr>
                        <a:t>工艺方案预审单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88555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CN" sz="1200" dirty="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02</a:t>
                      </a:r>
                      <a:r>
                        <a:rPr lang="zh-CN" sz="1200">
                          <a:effectLst/>
                        </a:rPr>
                        <a:t>数据接收单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</a:tbl>
          </a:graphicData>
        </a:graphic>
      </p:graphicFrame>
      <p:sp>
        <p:nvSpPr>
          <p:cNvPr id="5" name="圆角矩形 4"/>
          <p:cNvSpPr/>
          <p:nvPr/>
        </p:nvSpPr>
        <p:spPr>
          <a:xfrm>
            <a:off x="432123" y="966218"/>
            <a:ext cx="1944216" cy="36004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smtClean="0"/>
              <a:t>型号产品库文件夹</a:t>
            </a:r>
            <a:endParaRPr lang="zh-CN" altLang="en-US" sz="1600" b="1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079901"/>
              </p:ext>
            </p:extLst>
          </p:nvPr>
        </p:nvGraphicFramePr>
        <p:xfrm>
          <a:off x="5184651" y="1359595"/>
          <a:ext cx="4896544" cy="48965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9069"/>
                <a:gridCol w="2329616"/>
                <a:gridCol w="997859"/>
              </a:tblGrid>
              <a:tr h="3634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一级文件夹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二级文件夹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三级文件夹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6656">
                <a:tc rowSpan="8"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</a:rPr>
                        <a:t>01</a:t>
                      </a:r>
                      <a:r>
                        <a:rPr lang="zh-CN" sz="1200">
                          <a:effectLst/>
                        </a:rPr>
                        <a:t>设计文件</a:t>
                      </a:r>
                    </a:p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01 EBOM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02</a:t>
                      </a:r>
                      <a:r>
                        <a:rPr lang="zh-CN" sz="1200">
                          <a:effectLst/>
                        </a:rPr>
                        <a:t>图样及数模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03</a:t>
                      </a:r>
                      <a:r>
                        <a:rPr lang="zh-CN" sz="1200">
                          <a:effectLst/>
                        </a:rPr>
                        <a:t>文字或表格类设计文件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04</a:t>
                      </a:r>
                      <a:r>
                        <a:rPr lang="zh-CN" sz="1200">
                          <a:effectLst/>
                        </a:rPr>
                        <a:t>技术通知单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05</a:t>
                      </a:r>
                      <a:r>
                        <a:rPr lang="zh-CN" sz="1200">
                          <a:effectLst/>
                        </a:rPr>
                        <a:t>软件文档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06</a:t>
                      </a:r>
                      <a:r>
                        <a:rPr lang="zh-CN" sz="1200">
                          <a:effectLst/>
                        </a:rPr>
                        <a:t>协调纪要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r>
                        <a:rPr lang="zh-CN" sz="1200">
                          <a:effectLst/>
                        </a:rPr>
                        <a:t>其他文档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smtClean="0">
                          <a:effectLst/>
                        </a:rPr>
                        <a:t>02</a:t>
                      </a:r>
                      <a:r>
                        <a:rPr lang="zh-CN" altLang="zh-CN" sz="1200" smtClean="0">
                          <a:effectLst/>
                        </a:rPr>
                        <a:t>研试文件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smtClean="0">
                          <a:effectLst/>
                        </a:rPr>
                        <a:t>03</a:t>
                      </a:r>
                      <a:r>
                        <a:rPr lang="zh-CN" altLang="zh-CN" sz="1200" smtClean="0">
                          <a:effectLst/>
                        </a:rPr>
                        <a:t>质量报告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rowSpan="10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r>
                        <a:rPr lang="zh-CN" sz="12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工艺文件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01 PBOM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02</a:t>
                      </a:r>
                      <a:r>
                        <a:rPr lang="zh-CN" sz="1200">
                          <a:effectLst/>
                        </a:rPr>
                        <a:t>工艺总方案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03</a:t>
                      </a:r>
                      <a:r>
                        <a:rPr lang="zh-CN" sz="1200">
                          <a:effectLst/>
                        </a:rPr>
                        <a:t>工艺规程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04</a:t>
                      </a:r>
                      <a:r>
                        <a:rPr lang="zh-CN" sz="1200">
                          <a:effectLst/>
                        </a:rPr>
                        <a:t>工艺技术通知单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05</a:t>
                      </a:r>
                      <a:r>
                        <a:rPr lang="zh-CN" sz="1200">
                          <a:effectLst/>
                        </a:rPr>
                        <a:t>工艺更改单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06</a:t>
                      </a:r>
                      <a:r>
                        <a:rPr lang="zh-CN" sz="1200">
                          <a:effectLst/>
                        </a:rPr>
                        <a:t>工艺技术协议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07</a:t>
                      </a:r>
                      <a:r>
                        <a:rPr lang="zh-CN" sz="1200">
                          <a:effectLst/>
                        </a:rPr>
                        <a:t>外来工艺文件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r>
                        <a:rPr lang="zh-CN" sz="1200">
                          <a:effectLst/>
                        </a:rPr>
                        <a:t>其他文档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08</a:t>
                      </a:r>
                      <a:r>
                        <a:rPr lang="zh-CN" sz="1200">
                          <a:effectLst/>
                        </a:rPr>
                        <a:t>工艺工作计划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2266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09</a:t>
                      </a:r>
                      <a:r>
                        <a:rPr lang="zh-CN" sz="1200">
                          <a:effectLst/>
                        </a:rPr>
                        <a:t>工艺标准化大纲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　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7" name="圆角矩形 6"/>
          <p:cNvSpPr/>
          <p:nvPr/>
        </p:nvSpPr>
        <p:spPr>
          <a:xfrm>
            <a:off x="5184651" y="966218"/>
            <a:ext cx="2016224" cy="36004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smtClean="0"/>
              <a:t>自研产品库文件夹</a:t>
            </a:r>
            <a:endParaRPr lang="zh-CN" altLang="en-US" sz="1600" b="1"/>
          </a:p>
        </p:txBody>
      </p:sp>
    </p:spTree>
    <p:extLst>
      <p:ext uri="{BB962C8B-B14F-4D97-AF65-F5344CB8AC3E}">
        <p14:creationId xmlns:p14="http://schemas.microsoft.com/office/powerpoint/2010/main" val="111044308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en-US"/>
              <a:t>产品库环境定义</a:t>
            </a:r>
            <a:r>
              <a:rPr lang="en-US" altLang="zh-CN" smtClean="0"/>
              <a:t>:</a:t>
            </a:r>
            <a:r>
              <a:rPr lang="zh-CN" altLang="en-US" smtClean="0">
                <a:solidFill>
                  <a:srgbClr val="FFFF00"/>
                </a:solidFill>
              </a:rPr>
              <a:t>产品团队角色</a:t>
            </a:r>
            <a:endParaRPr lang="zh-CN" altLang="en-US">
              <a:solidFill>
                <a:srgbClr val="FFFF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556128"/>
              </p:ext>
            </p:extLst>
          </p:nvPr>
        </p:nvGraphicFramePr>
        <p:xfrm>
          <a:off x="2592363" y="1215579"/>
          <a:ext cx="3816424" cy="54424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6144"/>
                <a:gridCol w="2520280"/>
              </a:tblGrid>
              <a:tr h="382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类型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角色名称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rowSpan="2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型号产品团队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产品经理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主任工艺师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主管工艺师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工艺组长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200" smtClean="0">
                          <a:effectLst/>
                          <a:latin typeface="Arial"/>
                          <a:ea typeface="黑体"/>
                          <a:cs typeface="Times New Roman"/>
                        </a:rPr>
                        <a:t>项目部工艺员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一车间工艺员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二车间工艺员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三车间工艺员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四车间工艺员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五车间工艺员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六车间工艺员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2190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七车间工艺员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八车间工艺员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标准化师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工装管理员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材料定额员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计调人员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档案员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质量师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200" smtClean="0">
                          <a:effectLst/>
                          <a:latin typeface="Arial"/>
                          <a:ea typeface="黑体"/>
                          <a:cs typeface="Times New Roman"/>
                        </a:rPr>
                        <a:t>检验师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总工艺师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总工程师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管理角色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厂长及副厂长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项目部主任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车间主任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  <a:tr h="194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顾客代表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8335" marR="58335" marT="0" marB="0" anchor="ctr"/>
                </a:tc>
              </a:tr>
            </a:tbl>
          </a:graphicData>
        </a:graphic>
      </p:graphicFrame>
      <p:sp>
        <p:nvSpPr>
          <p:cNvPr id="5" name="圆角矩形 4"/>
          <p:cNvSpPr/>
          <p:nvPr/>
        </p:nvSpPr>
        <p:spPr>
          <a:xfrm>
            <a:off x="2592363" y="855539"/>
            <a:ext cx="1944216" cy="36004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smtClean="0"/>
              <a:t>型号产品团队角色</a:t>
            </a:r>
            <a:endParaRPr lang="zh-CN" altLang="en-US" sz="1600" b="1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467251"/>
              </p:ext>
            </p:extLst>
          </p:nvPr>
        </p:nvGraphicFramePr>
        <p:xfrm>
          <a:off x="6552803" y="1221357"/>
          <a:ext cx="4032448" cy="55040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8152"/>
                <a:gridCol w="2664296"/>
              </a:tblGrid>
              <a:tr h="3834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类型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角色名称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 anchor="ctr"/>
                </a:tc>
              </a:tr>
              <a:tr h="159147">
                <a:tc rowSpan="2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自研产品团队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产品经理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主任工艺师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主管工艺师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工艺组长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200" smtClean="0">
                          <a:effectLst/>
                          <a:latin typeface="Arial"/>
                          <a:ea typeface="黑体"/>
                          <a:cs typeface="Times New Roman"/>
                        </a:rPr>
                        <a:t>项目部工艺员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一车间工艺员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二车间工艺员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三车间工艺员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四车间工艺员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五车间工艺员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六车间工艺员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七车间工艺员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八车间工艺员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标准化师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工装管理员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材料定额员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计调人员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档案员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质量师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200" smtClean="0">
                          <a:effectLst/>
                          <a:latin typeface="Arial"/>
                          <a:ea typeface="黑体"/>
                          <a:cs typeface="Times New Roman"/>
                        </a:rPr>
                        <a:t>检验师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总工艺师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总工程师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主任设计师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设计员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管理角色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厂长及副厂长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项目部主任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车间主任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  <a:tr h="1591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顾客代表</a:t>
                      </a:r>
                      <a:endParaRPr lang="zh-CN" sz="12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52084" marR="52084" marT="0" marB="0"/>
                </a:tc>
              </a:tr>
            </a:tbl>
          </a:graphicData>
        </a:graphic>
      </p:graphicFrame>
      <p:sp>
        <p:nvSpPr>
          <p:cNvPr id="8" name="圆角矩形 7"/>
          <p:cNvSpPr/>
          <p:nvPr/>
        </p:nvSpPr>
        <p:spPr>
          <a:xfrm>
            <a:off x="6552803" y="841949"/>
            <a:ext cx="1944216" cy="36004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/>
              <a:t>自研</a:t>
            </a:r>
            <a:r>
              <a:rPr lang="zh-CN" altLang="en-US" sz="1600" b="1" smtClean="0"/>
              <a:t>产品团队角色</a:t>
            </a:r>
            <a:endParaRPr lang="zh-CN" altLang="en-US" sz="1600" b="1"/>
          </a:p>
        </p:txBody>
      </p:sp>
      <p:sp>
        <p:nvSpPr>
          <p:cNvPr id="9" name="矩形 8"/>
          <p:cNvSpPr/>
          <p:nvPr/>
        </p:nvSpPr>
        <p:spPr>
          <a:xfrm>
            <a:off x="0" y="1283054"/>
            <a:ext cx="2520279" cy="513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err="1" smtClean="0">
                <a:solidFill>
                  <a:schemeClr val="accent5">
                    <a:lumMod val="50000"/>
                  </a:schemeClr>
                </a:solidFill>
              </a:rPr>
              <a:t>产品团队划分为</a:t>
            </a:r>
            <a:r>
              <a:rPr lang="zh-CN" altLang="en-US" b="1" smtClean="0">
                <a:solidFill>
                  <a:srgbClr val="00B050"/>
                </a:solidFill>
              </a:rPr>
              <a:t>管理</a:t>
            </a:r>
            <a:r>
              <a:rPr lang="en-US" altLang="zh-CN" b="1" err="1" smtClean="0">
                <a:solidFill>
                  <a:srgbClr val="00B050"/>
                </a:solidFill>
              </a:rPr>
              <a:t>线</a:t>
            </a:r>
            <a:r>
              <a:rPr lang="en-US" altLang="zh-CN" b="1" err="1" smtClean="0">
                <a:solidFill>
                  <a:schemeClr val="accent5">
                    <a:lumMod val="50000"/>
                  </a:schemeClr>
                </a:solidFill>
              </a:rPr>
              <a:t>与</a:t>
            </a:r>
            <a:r>
              <a:rPr lang="en-US" altLang="zh-CN" b="1" err="1" smtClean="0">
                <a:solidFill>
                  <a:srgbClr val="00B050"/>
                </a:solidFill>
              </a:rPr>
              <a:t>技术线</a:t>
            </a:r>
            <a:r>
              <a:rPr lang="en-US" altLang="zh-CN" b="1" err="1" smtClean="0">
                <a:solidFill>
                  <a:schemeClr val="accent5">
                    <a:lumMod val="50000"/>
                  </a:schemeClr>
                </a:solidFill>
              </a:rPr>
              <a:t>两条线进行管理</a:t>
            </a:r>
            <a:r>
              <a:rPr lang="zh-CN" altLang="en-US" b="1" smtClean="0">
                <a:solidFill>
                  <a:schemeClr val="accent5">
                    <a:lumMod val="50000"/>
                  </a:schemeClr>
                </a:solidFill>
              </a:rPr>
              <a:t>：</a:t>
            </a:r>
            <a:endParaRPr lang="en-US" altLang="zh-CN" b="1" smtClean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lnSpc>
                <a:spcPct val="130000"/>
              </a:lnSpc>
              <a:buFont typeface="Arial" pitchFamily="34" charset="0"/>
              <a:buChar char="•"/>
            </a:pPr>
            <a:r>
              <a:rPr lang="zh-CN" altLang="en-US" b="1">
                <a:solidFill>
                  <a:schemeClr val="accent5">
                    <a:lumMod val="50000"/>
                  </a:schemeClr>
                </a:solidFill>
              </a:rPr>
              <a:t>管理</a:t>
            </a:r>
            <a:r>
              <a:rPr lang="en-US" altLang="zh-CN" b="1" smtClean="0">
                <a:solidFill>
                  <a:schemeClr val="accent5">
                    <a:lumMod val="50000"/>
                  </a:schemeClr>
                </a:solidFill>
              </a:rPr>
              <a:t>线作为共享团队直接管理于组织中</a:t>
            </a:r>
          </a:p>
          <a:p>
            <a:pPr marL="285750" indent="-285750">
              <a:lnSpc>
                <a:spcPct val="130000"/>
              </a:lnSpc>
              <a:buFont typeface="Arial" pitchFamily="34" charset="0"/>
              <a:buChar char="•"/>
            </a:pPr>
            <a:r>
              <a:rPr lang="en-US" altLang="zh-CN" b="1" err="1" smtClean="0">
                <a:solidFill>
                  <a:schemeClr val="accent5">
                    <a:lumMod val="50000"/>
                  </a:schemeClr>
                </a:solidFill>
              </a:rPr>
              <a:t>技术线作为专属产品团队进行管理</a:t>
            </a:r>
            <a:endParaRPr lang="en-US" altLang="zh-CN" b="1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accent5">
                    <a:lumMod val="50000"/>
                  </a:schemeClr>
                </a:solidFill>
              </a:rPr>
              <a:t>管理</a:t>
            </a:r>
            <a:r>
              <a:rPr lang="en-US" altLang="zh-CN" b="1" err="1" smtClean="0">
                <a:solidFill>
                  <a:schemeClr val="accent5">
                    <a:lumMod val="50000"/>
                  </a:schemeClr>
                </a:solidFill>
              </a:rPr>
              <a:t>线的任何改动将不再影响各产品团队的调整</a:t>
            </a:r>
            <a:r>
              <a:rPr lang="en-US" altLang="zh-CN" b="1" err="1">
                <a:solidFill>
                  <a:schemeClr val="accent5">
                    <a:lumMod val="50000"/>
                  </a:schemeClr>
                </a:solidFill>
              </a:rPr>
              <a:t>，</a:t>
            </a:r>
            <a:r>
              <a:rPr lang="en-US" altLang="zh-CN" b="1" err="1" smtClean="0">
                <a:solidFill>
                  <a:schemeClr val="accent5">
                    <a:lumMod val="50000"/>
                  </a:schemeClr>
                </a:solidFill>
              </a:rPr>
              <a:t>仅需调整共享团队；</a:t>
            </a:r>
            <a:r>
              <a:rPr lang="en-US" altLang="zh-CN" b="1" err="1">
                <a:solidFill>
                  <a:schemeClr val="accent5">
                    <a:lumMod val="50000"/>
                  </a:schemeClr>
                </a:solidFill>
              </a:rPr>
              <a:t>技术线的本地产品团队仍依附于某特定产品进行管理</a:t>
            </a:r>
            <a:endParaRPr lang="zh-CN" altLang="en-US" b="1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95926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en-US"/>
              <a:t>产品库环境定义</a:t>
            </a:r>
            <a:r>
              <a:rPr lang="en-US" altLang="zh-CN" smtClean="0"/>
              <a:t>:</a:t>
            </a:r>
            <a:r>
              <a:rPr lang="zh-CN" altLang="en-US" smtClean="0">
                <a:solidFill>
                  <a:srgbClr val="FFFF00"/>
                </a:solidFill>
              </a:rPr>
              <a:t>产品访问权限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10" name="折角形 9"/>
          <p:cNvSpPr/>
          <p:nvPr/>
        </p:nvSpPr>
        <p:spPr>
          <a:xfrm>
            <a:off x="1675251" y="1534133"/>
            <a:ext cx="7469840" cy="648072"/>
          </a:xfrm>
          <a:prstGeom prst="foldedCorne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本期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产品库中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不做严格权限控制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，未来可根据需要增加权限规则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折角形 10"/>
          <p:cNvSpPr/>
          <p:nvPr/>
        </p:nvSpPr>
        <p:spPr>
          <a:xfrm>
            <a:off x="1656259" y="2326221"/>
            <a:ext cx="7488832" cy="648072"/>
          </a:xfrm>
          <a:prstGeom prst="foldedCorne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产品团队成员任何人均可以读取和下载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非“正在工作”状态的数据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折角形 11"/>
          <p:cNvSpPr/>
          <p:nvPr/>
        </p:nvSpPr>
        <p:spPr>
          <a:xfrm>
            <a:off x="1647005" y="3118309"/>
            <a:ext cx="7498086" cy="637463"/>
          </a:xfrm>
          <a:prstGeom prst="foldedCorne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的状态为</a:t>
            </a:r>
            <a:r>
              <a:rPr lang="en-US" altLang="zh-CN" b="1" err="1">
                <a:latin typeface="微软雅黑" pitchFamily="34" charset="-122"/>
                <a:ea typeface="微软雅黑" pitchFamily="34" charset="-122"/>
              </a:rPr>
              <a:t>“正在工作”或“驳回”时，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拟制者可以修改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数据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折角形 12"/>
          <p:cNvSpPr/>
          <p:nvPr/>
        </p:nvSpPr>
        <p:spPr>
          <a:xfrm>
            <a:off x="1647005" y="3910397"/>
            <a:ext cx="7498086" cy="644863"/>
          </a:xfrm>
          <a:prstGeom prst="foldedCorne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任何人均可搜索到所有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数据的</a:t>
            </a:r>
            <a:r>
              <a:rPr lang="en-US" altLang="zh-CN" b="1" smtClean="0">
                <a:latin typeface="微软雅黑" pitchFamily="34" charset="-122"/>
                <a:ea typeface="微软雅黑" pitchFamily="34" charset="-122"/>
              </a:rPr>
              <a:t>条目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6885" y="1534133"/>
            <a:ext cx="936104" cy="302112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mtClean="0"/>
              <a:t>产品数据权限</a:t>
            </a:r>
            <a:endParaRPr lang="en-US" altLang="zh-CN" sz="2000" b="1" smtClean="0"/>
          </a:p>
          <a:p>
            <a:pPr algn="ctr"/>
            <a:r>
              <a:rPr lang="zh-CN" altLang="en-US" sz="2000" b="1"/>
              <a:t>管理</a:t>
            </a:r>
            <a:r>
              <a:rPr lang="zh-CN" altLang="en-US" sz="2000" b="1" smtClean="0"/>
              <a:t>基本原则</a:t>
            </a:r>
            <a:endParaRPr lang="zh-CN" altLang="en-US" sz="2000" b="1"/>
          </a:p>
        </p:txBody>
      </p:sp>
    </p:spTree>
    <p:extLst>
      <p:ext uri="{BB962C8B-B14F-4D97-AF65-F5344CB8AC3E}">
        <p14:creationId xmlns:p14="http://schemas.microsoft.com/office/powerpoint/2010/main" val="62772979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en-US"/>
              <a:t>产品库环境定义</a:t>
            </a:r>
            <a:r>
              <a:rPr lang="en-US" altLang="zh-CN" smtClean="0"/>
              <a:t>:</a:t>
            </a:r>
            <a:r>
              <a:rPr lang="zh-CN" altLang="en-US" smtClean="0">
                <a:solidFill>
                  <a:srgbClr val="FFFF00"/>
                </a:solidFill>
              </a:rPr>
              <a:t>产品访问权限</a:t>
            </a:r>
            <a:endParaRPr lang="zh-CN" altLang="en-US">
              <a:solidFill>
                <a:srgbClr val="FFFF00"/>
              </a:solidFill>
            </a:endParaRP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4155443751"/>
              </p:ext>
            </p:extLst>
          </p:nvPr>
        </p:nvGraphicFramePr>
        <p:xfrm>
          <a:off x="1800275" y="1503611"/>
          <a:ext cx="6048722" cy="434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圆角矩形标注 3"/>
          <p:cNvSpPr/>
          <p:nvPr/>
        </p:nvSpPr>
        <p:spPr>
          <a:xfrm>
            <a:off x="5688707" y="963551"/>
            <a:ext cx="1872208" cy="1080120"/>
          </a:xfrm>
          <a:prstGeom prst="wedgeRoundRectCallout">
            <a:avLst>
              <a:gd name="adj1" fmla="val -66842"/>
              <a:gd name="adj2" fmla="val 34280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>
                <a:solidFill>
                  <a:schemeClr val="tx1"/>
                </a:solidFill>
              </a:rPr>
              <a:t>工作</a:t>
            </a:r>
            <a:r>
              <a:rPr lang="zh-CN" altLang="en-US" smtClean="0">
                <a:solidFill>
                  <a:schemeClr val="tx1"/>
                </a:solidFill>
              </a:rPr>
              <a:t>流程中签审人员可查看数据的权限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圆角矩形标注 14"/>
          <p:cNvSpPr/>
          <p:nvPr/>
        </p:nvSpPr>
        <p:spPr>
          <a:xfrm>
            <a:off x="864171" y="1503611"/>
            <a:ext cx="2160240" cy="1080120"/>
          </a:xfrm>
          <a:prstGeom prst="wedgeRoundRectCallout">
            <a:avLst>
              <a:gd name="adj1" fmla="val 38626"/>
              <a:gd name="adj2" fmla="val 72314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mtClean="0">
                <a:solidFill>
                  <a:schemeClr val="tx1"/>
                </a:solidFill>
              </a:rPr>
              <a:t>针对</a:t>
            </a:r>
            <a:r>
              <a:rPr lang="en-US" altLang="zh-CN" smtClean="0">
                <a:solidFill>
                  <a:schemeClr val="tx1"/>
                </a:solidFill>
              </a:rPr>
              <a:t>某种类型数据对团队中某些角色设置相应的访问权限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圆角矩形标注 15"/>
          <p:cNvSpPr/>
          <p:nvPr/>
        </p:nvSpPr>
        <p:spPr>
          <a:xfrm>
            <a:off x="7344891" y="2367707"/>
            <a:ext cx="1872208" cy="1080120"/>
          </a:xfrm>
          <a:prstGeom prst="wedgeRoundRectCallout">
            <a:avLst>
              <a:gd name="adj1" fmla="val -66842"/>
              <a:gd name="adj2" fmla="val 34280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mtClean="0">
                <a:solidFill>
                  <a:schemeClr val="tx1"/>
                </a:solidFill>
              </a:rPr>
              <a:t>产品经理将用户添加到有权限的角色中赋予权限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圆角矩形标注 16"/>
          <p:cNvSpPr/>
          <p:nvPr/>
        </p:nvSpPr>
        <p:spPr>
          <a:xfrm>
            <a:off x="6696819" y="4383931"/>
            <a:ext cx="2232248" cy="1080120"/>
          </a:xfrm>
          <a:prstGeom prst="wedgeRoundRectCallout">
            <a:avLst>
              <a:gd name="adj1" fmla="val -66842"/>
              <a:gd name="adj2" fmla="val 34280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mtClean="0">
                <a:solidFill>
                  <a:schemeClr val="tx1"/>
                </a:solidFill>
              </a:rPr>
              <a:t>数据的创建者将权限赋予其它用户，数据升版后仍然继承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圆角矩形标注 17"/>
          <p:cNvSpPr/>
          <p:nvPr/>
        </p:nvSpPr>
        <p:spPr>
          <a:xfrm>
            <a:off x="1008187" y="4239915"/>
            <a:ext cx="1872208" cy="1080120"/>
          </a:xfrm>
          <a:prstGeom prst="wedgeRoundRectCallout">
            <a:avLst>
              <a:gd name="adj1" fmla="val 68355"/>
              <a:gd name="adj2" fmla="val 3796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mtClean="0">
                <a:solidFill>
                  <a:schemeClr val="tx1"/>
                </a:solidFill>
              </a:rPr>
              <a:t>按照</a:t>
            </a:r>
            <a:r>
              <a:rPr lang="zh-CN" altLang="en-US">
                <a:solidFill>
                  <a:schemeClr val="tx1"/>
                </a:solidFill>
              </a:rPr>
              <a:t>日期</a:t>
            </a:r>
            <a:r>
              <a:rPr lang="zh-CN" altLang="en-US" smtClean="0">
                <a:solidFill>
                  <a:schemeClr val="tx1"/>
                </a:solidFill>
              </a:rPr>
              <a:t>或任务将工作委派给其他用户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89223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en-US"/>
              <a:t>产品库环境定义</a:t>
            </a:r>
            <a:r>
              <a:rPr lang="en-US" altLang="zh-CN" smtClean="0"/>
              <a:t>:</a:t>
            </a:r>
            <a:r>
              <a:rPr lang="zh-CN" altLang="en-US" smtClean="0">
                <a:solidFill>
                  <a:srgbClr val="FFFF00"/>
                </a:solidFill>
              </a:rPr>
              <a:t>产品模板定义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6139" y="1215579"/>
            <a:ext cx="5400675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根据产品类型</a:t>
            </a: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定义</a:t>
            </a:r>
            <a:r>
              <a:rPr lang="en-US" altLang="zh-CN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2个产品模板</a:t>
            </a: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b="1" smtClean="0">
              <a:solidFill>
                <a:schemeClr val="accent5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b="1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型号产品模板</a:t>
            </a:r>
            <a:r>
              <a:rPr lang="zh-CN" altLang="en-US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：项目部主任工艺师使用</a:t>
            </a:r>
            <a:endParaRPr lang="en-US" altLang="zh-CN" b="1" smtClean="0">
              <a:solidFill>
                <a:schemeClr val="accent5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b="1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自研产品模板</a:t>
            </a:r>
            <a:r>
              <a:rPr lang="zh-CN" altLang="en-US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：项目部产品经理使用</a:t>
            </a:r>
            <a:endParaRPr lang="zh-CN" altLang="en-US" b="1">
              <a:solidFill>
                <a:schemeClr val="accent5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7716" y="3015779"/>
            <a:ext cx="5400675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产品模板用于创建产品时自动初始化产品库环境，</a:t>
            </a:r>
            <a:r>
              <a:rPr lang="zh-CN" altLang="zh-CN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产品模板包含以下内容</a:t>
            </a:r>
            <a:r>
              <a:rPr lang="zh-CN" altLang="zh-CN" sz="2000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marL="342900" lvl="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zh-CN" b="1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文件夹</a:t>
            </a:r>
            <a:r>
              <a:rPr lang="zh-CN" altLang="en-US" b="1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结构</a:t>
            </a:r>
            <a:endParaRPr lang="en-US" altLang="zh-CN" b="1" smtClean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zh-CN" b="1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产品团队角色</a:t>
            </a:r>
          </a:p>
          <a:p>
            <a:pPr marL="342900" lvl="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zh-CN" b="1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权限设置</a:t>
            </a:r>
            <a:endParaRPr lang="en-US" altLang="zh-CN" b="1" smtClean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zh-CN" b="1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产品内</a:t>
            </a:r>
            <a:r>
              <a:rPr lang="zh-CN" altLang="en-US" b="1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zh-CN" altLang="zh-CN" b="1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对象</a:t>
            </a:r>
            <a:r>
              <a:rPr lang="zh-CN" altLang="en-US" b="1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zh-CN" b="1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初始化规则</a:t>
            </a:r>
            <a:endParaRPr lang="zh-CN" altLang="zh-CN" b="1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043291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未来实践设计</a:t>
            </a:r>
            <a:r>
              <a:rPr lang="zh-CN" altLang="en-US" smtClean="0">
                <a:solidFill>
                  <a:srgbClr val="FFFF00"/>
                </a:solidFill>
              </a:rPr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5904656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>
              <a:lnSpc>
                <a:spcPct val="150000"/>
              </a:lnSpc>
            </a:pPr>
            <a:r>
              <a:rPr lang="en-US" altLang="zh-CN" sz="2800" b="1" smtClean="0">
                <a:solidFill>
                  <a:schemeClr val="bg1"/>
                </a:solidFill>
              </a:rPr>
              <a:t>3.  </a:t>
            </a:r>
            <a:r>
              <a:rPr lang="zh-CN" altLang="en-US" sz="2800" b="1" smtClean="0">
                <a:solidFill>
                  <a:schemeClr val="bg1"/>
                </a:solidFill>
              </a:rPr>
              <a:t>存储库管理规划</a:t>
            </a:r>
            <a:endParaRPr lang="en-US" altLang="zh-CN" sz="2800" b="1" smtClean="0">
              <a:solidFill>
                <a:schemeClr val="bg1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>
                <a:solidFill>
                  <a:srgbClr val="FFFF00"/>
                </a:solidFill>
              </a:rPr>
              <a:t>标准件库</a:t>
            </a:r>
            <a:r>
              <a:rPr lang="zh-CN" altLang="en-US" b="1" smtClean="0">
                <a:solidFill>
                  <a:srgbClr val="FFFF00"/>
                </a:solidFill>
              </a:rPr>
              <a:t>管理</a:t>
            </a:r>
            <a:endParaRPr lang="en-US" altLang="zh-CN" b="1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04668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3. </a:t>
            </a:r>
            <a:r>
              <a:rPr lang="zh-CN" altLang="en-US" smtClean="0"/>
              <a:t>存储库管理规划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smtClean="0"/>
              <a:t>存储库</a:t>
            </a:r>
            <a:r>
              <a:rPr lang="zh-CN" altLang="en-US" smtClean="0"/>
              <a:t>主要用于</a:t>
            </a:r>
            <a:r>
              <a:rPr lang="en-US" altLang="zh-CN" smtClean="0"/>
              <a:t>存储与</a:t>
            </a:r>
            <a:r>
              <a:rPr lang="zh-CN" altLang="en-US" smtClean="0"/>
              <a:t>具体产品</a:t>
            </a:r>
            <a:r>
              <a:rPr lang="en-US" altLang="zh-CN" smtClean="0"/>
              <a:t>无关的</a:t>
            </a:r>
            <a:r>
              <a:rPr lang="zh-CN" altLang="en-US" smtClean="0"/>
              <a:t>零部件</a:t>
            </a:r>
            <a:r>
              <a:rPr lang="en-US" altLang="zh-CN" smtClean="0"/>
              <a:t>和文档</a:t>
            </a:r>
            <a:r>
              <a:rPr lang="zh-CN" altLang="en-US" smtClean="0"/>
              <a:t>，例如：标准件库、外购件库、通用</a:t>
            </a:r>
            <a:r>
              <a:rPr lang="en-US" altLang="zh-CN" smtClean="0"/>
              <a:t>/</a:t>
            </a:r>
            <a:r>
              <a:rPr lang="zh-CN" altLang="en-US" smtClean="0"/>
              <a:t>典型工艺库、标准规范库等。</a:t>
            </a:r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080195" y="2295699"/>
            <a:ext cx="8712968" cy="72008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mtClean="0"/>
              <a:t>本期存储库规划主要实现</a:t>
            </a:r>
            <a:r>
              <a:rPr lang="en-US" altLang="zh-CN" sz="2000" b="1" smtClean="0"/>
              <a:t>149</a:t>
            </a:r>
            <a:r>
              <a:rPr lang="zh-CN" altLang="en-US" sz="2000" b="1" smtClean="0"/>
              <a:t>厂标准件库管理，其它库在需求明确后创建</a:t>
            </a:r>
            <a:endParaRPr lang="zh-CN" altLang="en-US" sz="2000" b="1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590884858"/>
              </p:ext>
            </p:extLst>
          </p:nvPr>
        </p:nvGraphicFramePr>
        <p:xfrm>
          <a:off x="2304331" y="3303811"/>
          <a:ext cx="7560840" cy="3264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圆角矩形 5"/>
          <p:cNvSpPr/>
          <p:nvPr/>
        </p:nvSpPr>
        <p:spPr>
          <a:xfrm>
            <a:off x="864171" y="4239915"/>
            <a:ext cx="1512168" cy="144016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mtClean="0"/>
              <a:t>标准件</a:t>
            </a:r>
            <a:endParaRPr lang="en-US" altLang="zh-CN" sz="2000" b="1" smtClean="0"/>
          </a:p>
          <a:p>
            <a:pPr algn="ctr"/>
            <a:r>
              <a:rPr lang="zh-CN" altLang="en-US" sz="2000" b="1" smtClean="0"/>
              <a:t>管理原则</a:t>
            </a:r>
            <a:endParaRPr lang="zh-CN" altLang="en-US" sz="2000" b="1"/>
          </a:p>
        </p:txBody>
      </p:sp>
    </p:spTree>
    <p:extLst>
      <p:ext uri="{BB962C8B-B14F-4D97-AF65-F5344CB8AC3E}">
        <p14:creationId xmlns:p14="http://schemas.microsoft.com/office/powerpoint/2010/main" val="365529660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en-US"/>
              <a:t>存储库管理</a:t>
            </a:r>
            <a:r>
              <a:rPr lang="zh-CN" altLang="en-US" smtClean="0"/>
              <a:t>规划：</a:t>
            </a:r>
            <a:r>
              <a:rPr lang="zh-CN" altLang="en-US" smtClean="0">
                <a:solidFill>
                  <a:srgbClr val="FFFF00"/>
                </a:solidFill>
              </a:rPr>
              <a:t>标准件库建库</a:t>
            </a:r>
            <a:endParaRPr lang="zh-CN" altLang="en-US">
              <a:solidFill>
                <a:srgbClr val="FFFF00"/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6565" y="855539"/>
            <a:ext cx="6984776" cy="2036140"/>
          </a:xfrm>
          <a:prstGeom prst="rect">
            <a:avLst/>
          </a:prstGeom>
          <a:noFill/>
        </p:spPr>
      </p:pic>
      <p:sp>
        <p:nvSpPr>
          <p:cNvPr id="5" name="矩形 4"/>
          <p:cNvSpPr/>
          <p:nvPr/>
        </p:nvSpPr>
        <p:spPr>
          <a:xfrm>
            <a:off x="1596565" y="2891679"/>
            <a:ext cx="783655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业务管理员手工在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Windchill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平台建立“标准件库”存储</a:t>
            </a:r>
            <a:r>
              <a:rPr lang="zh-CN" altLang="zh-CN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库</a:t>
            </a:r>
            <a:r>
              <a:rPr lang="zh-CN" altLang="en-US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zh-CN" sz="1600" b="1">
              <a:solidFill>
                <a:schemeClr val="accent5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zh-CN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标准件导出工具将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805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所标准件库所有标准件数据导出为</a:t>
            </a:r>
            <a:r>
              <a:rPr lang="zh-CN" altLang="zh-CN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数据包</a:t>
            </a:r>
            <a:r>
              <a:rPr lang="zh-CN" altLang="en-US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zh-CN" sz="1600" b="1">
              <a:solidFill>
                <a:schemeClr val="accent5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将标准件库数据包以光盘或其它方式传递给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149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厂，业务管理员通过标准件导入工具，将标准件数据批量导入至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Windchill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的“标准件库”中，形成和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805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所文件夹结构、标准件数据一致的存储</a:t>
            </a:r>
            <a:r>
              <a:rPr lang="zh-CN" altLang="zh-CN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库</a:t>
            </a:r>
            <a:r>
              <a:rPr lang="zh-CN" altLang="en-US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b="1" smtClean="0">
              <a:solidFill>
                <a:schemeClr val="accent5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zh-CN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未来在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805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所和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149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厂两个</a:t>
            </a:r>
            <a:r>
              <a:rPr lang="zh-CN" altLang="zh-CN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平台</a:t>
            </a:r>
            <a:r>
              <a:rPr lang="zh-CN" altLang="en-US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都</a:t>
            </a:r>
            <a:r>
              <a:rPr lang="zh-CN" altLang="zh-CN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建立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标准件入库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更改流程，</a:t>
            </a:r>
            <a:r>
              <a:rPr lang="zh-CN" altLang="zh-CN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实现</a:t>
            </a:r>
            <a:r>
              <a:rPr lang="zh-CN" altLang="en-US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流程驱动厂所之间标准件双向</a:t>
            </a:r>
            <a:r>
              <a:rPr lang="zh-CN" altLang="zh-CN" sz="16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同步</a:t>
            </a:r>
            <a:r>
              <a:rPr lang="zh-CN" altLang="zh-CN" sz="16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更新。</a:t>
            </a:r>
          </a:p>
        </p:txBody>
      </p:sp>
    </p:spTree>
    <p:extLst>
      <p:ext uri="{BB962C8B-B14F-4D97-AF65-F5344CB8AC3E}">
        <p14:creationId xmlns:p14="http://schemas.microsoft.com/office/powerpoint/2010/main" val="165780117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en-US"/>
              <a:t>存储库管理</a:t>
            </a:r>
            <a:r>
              <a:rPr lang="zh-CN" altLang="en-US" smtClean="0"/>
              <a:t>规划：</a:t>
            </a:r>
            <a:r>
              <a:rPr lang="zh-CN" altLang="en-US" smtClean="0">
                <a:solidFill>
                  <a:srgbClr val="FFFF00"/>
                </a:solidFill>
              </a:rPr>
              <a:t>标准件入库流程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757805"/>
              </p:ext>
            </p:extLst>
          </p:nvPr>
        </p:nvGraphicFramePr>
        <p:xfrm>
          <a:off x="3168427" y="783531"/>
          <a:ext cx="6130604" cy="5760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6" name="Visio" r:id="rId3" imgW="8436240" imgH="7936920" progId="Visio.Drawing.11">
                  <p:embed/>
                </p:oleObj>
              </mc:Choice>
              <mc:Fallback>
                <p:oleObj name="Visio" r:id="rId3" imgW="8436240" imgH="793692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427" y="783531"/>
                        <a:ext cx="6130604" cy="57606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-1" y="1359595"/>
            <a:ext cx="30964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0070C0"/>
                </a:solidFill>
              </a:rPr>
              <a:t>标准件由需求部门的设计师使用</a:t>
            </a:r>
            <a:r>
              <a:rPr lang="en-US" altLang="zh-CN" b="1" smtClean="0">
                <a:solidFill>
                  <a:srgbClr val="0070C0"/>
                </a:solidFill>
              </a:rPr>
              <a:t>Pro/E</a:t>
            </a:r>
            <a:r>
              <a:rPr lang="zh-CN" altLang="en-US" b="1" smtClean="0">
                <a:solidFill>
                  <a:srgbClr val="0070C0"/>
                </a:solidFill>
              </a:rPr>
              <a:t>建模，集成检入</a:t>
            </a:r>
            <a:r>
              <a:rPr lang="en-US" altLang="zh-CN" b="1" smtClean="0">
                <a:solidFill>
                  <a:srgbClr val="0070C0"/>
                </a:solidFill>
              </a:rPr>
              <a:t>Windchill</a:t>
            </a:r>
            <a:r>
              <a:rPr lang="zh-CN" altLang="en-US" b="1" smtClean="0">
                <a:solidFill>
                  <a:srgbClr val="0070C0"/>
                </a:solidFill>
              </a:rPr>
              <a:t>标准件库；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0070C0"/>
                </a:solidFill>
              </a:rPr>
              <a:t>设计师提交标准件入库流程；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0070C0"/>
                </a:solidFill>
              </a:rPr>
              <a:t>标准件签审流程包括三个环节：</a:t>
            </a:r>
            <a:r>
              <a:rPr lang="zh-CN" altLang="en-US" b="1" smtClean="0">
                <a:solidFill>
                  <a:srgbClr val="00B050"/>
                </a:solidFill>
              </a:rPr>
              <a:t>校对</a:t>
            </a:r>
            <a:r>
              <a:rPr lang="en-US" altLang="zh-CN" b="1" smtClean="0">
                <a:solidFill>
                  <a:srgbClr val="00B050"/>
                </a:solidFill>
              </a:rPr>
              <a:t>—</a:t>
            </a:r>
            <a:r>
              <a:rPr lang="zh-CN" altLang="en-US" b="1" smtClean="0">
                <a:solidFill>
                  <a:srgbClr val="00B050"/>
                </a:solidFill>
              </a:rPr>
              <a:t>标审</a:t>
            </a:r>
            <a:r>
              <a:rPr lang="en-US" altLang="zh-CN" b="1" smtClean="0">
                <a:solidFill>
                  <a:srgbClr val="00B050"/>
                </a:solidFill>
              </a:rPr>
              <a:t>—</a:t>
            </a:r>
            <a:r>
              <a:rPr lang="zh-CN" altLang="en-US" b="1" smtClean="0">
                <a:solidFill>
                  <a:srgbClr val="00B050"/>
                </a:solidFill>
              </a:rPr>
              <a:t>外部会签</a:t>
            </a:r>
            <a:endParaRPr lang="en-US" altLang="zh-CN" b="1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7155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en-US"/>
              <a:t>存储库管理</a:t>
            </a:r>
            <a:r>
              <a:rPr lang="zh-CN" altLang="en-US" smtClean="0"/>
              <a:t>规划：</a:t>
            </a:r>
            <a:r>
              <a:rPr lang="zh-CN" altLang="en-US" smtClean="0">
                <a:solidFill>
                  <a:srgbClr val="FFFF00"/>
                </a:solidFill>
              </a:rPr>
              <a:t>标准件变更流程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567166"/>
              </p:ext>
            </p:extLst>
          </p:nvPr>
        </p:nvGraphicFramePr>
        <p:xfrm>
          <a:off x="1944291" y="639515"/>
          <a:ext cx="5688632" cy="6294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1" name="Visio" r:id="rId3" imgW="8436192" imgH="9342401" progId="Visio.Drawing.11">
                  <p:embed/>
                </p:oleObj>
              </mc:Choice>
              <mc:Fallback>
                <p:oleObj name="Visio" r:id="rId3" imgW="8436192" imgH="934240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291" y="639515"/>
                        <a:ext cx="5688632" cy="62940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225191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en-US"/>
              <a:t>存储库管理规划：</a:t>
            </a:r>
            <a:r>
              <a:rPr lang="zh-CN" altLang="en-US" smtClean="0">
                <a:solidFill>
                  <a:srgbClr val="FFFF00"/>
                </a:solidFill>
              </a:rPr>
              <a:t>标准件数据同步规则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标准件的“编号”和“设计单位”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属性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作为跨厂所标准件后台同步更新时的唯一性判别依据：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lvl="1">
              <a:lnSpc>
                <a:spcPct val="200000"/>
              </a:lnSpc>
            </a:pPr>
            <a:r>
              <a:rPr lang="zh-CN" altLang="en-US" b="1">
                <a:solidFill>
                  <a:srgbClr val="0070C0"/>
                </a:solidFill>
              </a:rPr>
              <a:t>无相同编号：创建新</a:t>
            </a:r>
            <a:r>
              <a:rPr lang="zh-CN" altLang="en-US" b="1" smtClean="0">
                <a:solidFill>
                  <a:srgbClr val="0070C0"/>
                </a:solidFill>
              </a:rPr>
              <a:t>标准件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1">
              <a:lnSpc>
                <a:spcPct val="200000"/>
              </a:lnSpc>
            </a:pPr>
            <a:r>
              <a:rPr lang="zh-CN" altLang="en-US" b="1" smtClean="0">
                <a:solidFill>
                  <a:srgbClr val="0070C0"/>
                </a:solidFill>
              </a:rPr>
              <a:t>有相同编号、设计单位相同：说明是</a:t>
            </a:r>
            <a:r>
              <a:rPr lang="en-US" altLang="zh-CN" b="1" smtClean="0">
                <a:solidFill>
                  <a:srgbClr val="0070C0"/>
                </a:solidFill>
              </a:rPr>
              <a:t>149</a:t>
            </a:r>
            <a:r>
              <a:rPr lang="zh-CN" altLang="en-US" b="1" smtClean="0">
                <a:solidFill>
                  <a:srgbClr val="0070C0"/>
                </a:solidFill>
              </a:rPr>
              <a:t>厂设计的标准件，允许更新标准件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1">
              <a:lnSpc>
                <a:spcPct val="200000"/>
              </a:lnSpc>
            </a:pPr>
            <a:r>
              <a:rPr lang="zh-CN" altLang="en-US" b="1" smtClean="0">
                <a:solidFill>
                  <a:srgbClr val="0070C0"/>
                </a:solidFill>
              </a:rPr>
              <a:t>有相同编号、设计单位不同：说明</a:t>
            </a:r>
            <a:r>
              <a:rPr lang="en-US" altLang="zh-CN" b="1" smtClean="0">
                <a:solidFill>
                  <a:srgbClr val="0070C0"/>
                </a:solidFill>
              </a:rPr>
              <a:t>805</a:t>
            </a:r>
            <a:r>
              <a:rPr lang="zh-CN" altLang="en-US" b="1" smtClean="0">
                <a:solidFill>
                  <a:srgbClr val="0070C0"/>
                </a:solidFill>
              </a:rPr>
              <a:t>所已经有相同的标准件存在，不允许更新，流程自动驳回，线下沟通处理</a:t>
            </a:r>
            <a:endParaRPr lang="en-US" altLang="zh-CN" b="1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30799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未来实践设计</a:t>
            </a:r>
            <a:r>
              <a:rPr lang="zh-CN" altLang="en-US" smtClean="0">
                <a:solidFill>
                  <a:srgbClr val="FFFF00"/>
                </a:solidFill>
              </a:rPr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5904656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>
              <a:lnSpc>
                <a:spcPct val="150000"/>
              </a:lnSpc>
            </a:pPr>
            <a:r>
              <a:rPr lang="en-US" altLang="zh-CN" sz="2800" b="1" smtClean="0">
                <a:solidFill>
                  <a:schemeClr val="bg1"/>
                </a:solidFill>
              </a:rPr>
              <a:t>4.  </a:t>
            </a:r>
            <a:r>
              <a:rPr lang="zh-CN" altLang="en-US" sz="2800" b="1" smtClean="0">
                <a:solidFill>
                  <a:schemeClr val="bg1"/>
                </a:solidFill>
              </a:rPr>
              <a:t>文档管理</a:t>
            </a:r>
            <a:endParaRPr lang="en-US" altLang="zh-CN" sz="2800" b="1" smtClean="0">
              <a:solidFill>
                <a:schemeClr val="bg1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文档分类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生命周期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版本管理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电子签审流程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文档电子签名</a:t>
            </a:r>
            <a:endParaRPr lang="en-US" altLang="zh-CN" b="1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35056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文档</a:t>
            </a:r>
            <a:r>
              <a:rPr lang="zh-CN" altLang="en-US" smtClean="0"/>
              <a:t>管理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/>
              <a:t>Windchill</a:t>
            </a:r>
            <a:r>
              <a:rPr lang="zh-CN" altLang="zh-CN"/>
              <a:t>以产品结构为核心进行设计文件管理，通过</a:t>
            </a:r>
            <a:r>
              <a:rPr lang="en-US" altLang="zh-CN"/>
              <a:t>Part</a:t>
            </a:r>
            <a:r>
              <a:rPr lang="zh-CN" altLang="zh-CN"/>
              <a:t>与</a:t>
            </a:r>
            <a:r>
              <a:rPr lang="en-US" altLang="zh-CN"/>
              <a:t>CAD</a:t>
            </a:r>
            <a:r>
              <a:rPr lang="zh-CN" altLang="zh-CN"/>
              <a:t>文件、设计文件的关联关系，文档</a:t>
            </a:r>
            <a:r>
              <a:rPr lang="zh-CN" altLang="zh-CN" smtClean="0"/>
              <a:t>的</a:t>
            </a:r>
            <a:r>
              <a:rPr lang="zh-CN" altLang="en-US" smtClean="0"/>
              <a:t>签审</a:t>
            </a:r>
            <a:r>
              <a:rPr lang="zh-CN" altLang="zh-CN" smtClean="0"/>
              <a:t>及</a:t>
            </a:r>
            <a:r>
              <a:rPr lang="zh-CN" altLang="zh-CN"/>
              <a:t>变更历史记录和具体的文档对象相关联，实现</a:t>
            </a:r>
            <a:r>
              <a:rPr lang="zh-CN" altLang="zh-CN" smtClean="0"/>
              <a:t>产品</a:t>
            </a:r>
            <a:r>
              <a:rPr lang="zh-CN" altLang="en-US"/>
              <a:t>研制</a:t>
            </a:r>
            <a:r>
              <a:rPr lang="zh-CN" altLang="zh-CN" smtClean="0"/>
              <a:t>过程</a:t>
            </a:r>
            <a:r>
              <a:rPr lang="zh-CN" altLang="zh-CN"/>
              <a:t>的数据</a:t>
            </a:r>
            <a:r>
              <a:rPr lang="zh-CN" altLang="zh-CN">
                <a:solidFill>
                  <a:srgbClr val="00B050"/>
                </a:solidFill>
              </a:rPr>
              <a:t>以产品结构为核心的信息管理</a:t>
            </a:r>
            <a:r>
              <a:rPr lang="zh-CN" altLang="zh-CN"/>
              <a:t>。</a:t>
            </a:r>
          </a:p>
          <a:p>
            <a:endParaRPr lang="zh-CN" altLang="en-US"/>
          </a:p>
        </p:txBody>
      </p:sp>
      <p:pic>
        <p:nvPicPr>
          <p:cNvPr id="4" name="图片 3" descr="PDM中文档对象模型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0195" y="2776933"/>
            <a:ext cx="6624736" cy="3839246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1911238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文档</a:t>
            </a:r>
            <a:r>
              <a:rPr lang="zh-CN" altLang="en-US" smtClean="0"/>
              <a:t>管理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999555"/>
            <a:ext cx="9609816" cy="5608067"/>
          </a:xfrm>
        </p:spPr>
        <p:txBody>
          <a:bodyPr/>
          <a:lstStyle/>
          <a:p>
            <a:r>
              <a:rPr lang="zh-CN" altLang="en-US" smtClean="0"/>
              <a:t>文档管理范围：</a:t>
            </a:r>
            <a:endParaRPr lang="en-US" altLang="zh-CN" smtClean="0"/>
          </a:p>
          <a:p>
            <a:pPr lvl="1"/>
            <a:r>
              <a:rPr lang="zh-CN" altLang="en-US"/>
              <a:t>型号</a:t>
            </a:r>
            <a:r>
              <a:rPr lang="zh-CN" altLang="en-US" smtClean="0"/>
              <a:t>产品</a:t>
            </a:r>
            <a:endParaRPr lang="en-US" altLang="zh-CN" smtClean="0"/>
          </a:p>
          <a:p>
            <a:pPr lvl="2"/>
            <a:r>
              <a:rPr lang="zh-CN" altLang="en-US" smtClean="0"/>
              <a:t>设计单位发放的设计文件</a:t>
            </a:r>
            <a:endParaRPr lang="en-US" altLang="zh-CN"/>
          </a:p>
          <a:p>
            <a:pPr lvl="2"/>
            <a:r>
              <a:rPr lang="zh-CN" altLang="en-US" smtClean="0"/>
              <a:t>工艺文件</a:t>
            </a:r>
            <a:endParaRPr lang="en-US" altLang="zh-CN" smtClean="0"/>
          </a:p>
          <a:p>
            <a:pPr lvl="2"/>
            <a:r>
              <a:rPr lang="zh-CN" altLang="en-US" smtClean="0"/>
              <a:t>工装设计文件</a:t>
            </a:r>
            <a:endParaRPr lang="en-US" altLang="zh-CN" smtClean="0"/>
          </a:p>
          <a:p>
            <a:pPr lvl="2"/>
            <a:r>
              <a:rPr lang="zh-CN" altLang="en-US"/>
              <a:t>其它</a:t>
            </a:r>
            <a:endParaRPr lang="en-US" altLang="zh-CN" smtClean="0"/>
          </a:p>
          <a:p>
            <a:pPr lvl="1"/>
            <a:r>
              <a:rPr lang="zh-CN" altLang="en-US" smtClean="0"/>
              <a:t>自研产品</a:t>
            </a:r>
            <a:endParaRPr lang="en-US" altLang="zh-CN" smtClean="0"/>
          </a:p>
          <a:p>
            <a:pPr lvl="2"/>
            <a:r>
              <a:rPr lang="zh-CN" altLang="en-US" smtClean="0"/>
              <a:t>设计文件</a:t>
            </a:r>
            <a:endParaRPr lang="en-US" altLang="zh-CN" smtClean="0"/>
          </a:p>
          <a:p>
            <a:pPr lvl="2"/>
            <a:r>
              <a:rPr lang="zh-CN" altLang="en-US"/>
              <a:t>研</a:t>
            </a:r>
            <a:r>
              <a:rPr lang="zh-CN" altLang="en-US" smtClean="0"/>
              <a:t>试文件</a:t>
            </a:r>
            <a:endParaRPr lang="en-US" altLang="zh-CN" smtClean="0"/>
          </a:p>
          <a:p>
            <a:pPr lvl="2"/>
            <a:r>
              <a:rPr lang="zh-CN" altLang="en-US" smtClean="0"/>
              <a:t>工艺文件</a:t>
            </a:r>
            <a:endParaRPr lang="en-US" altLang="zh-CN" smtClean="0"/>
          </a:p>
          <a:p>
            <a:pPr lvl="2"/>
            <a:r>
              <a:rPr lang="zh-CN" altLang="en-US" smtClean="0"/>
              <a:t>质量报告</a:t>
            </a:r>
            <a:endParaRPr lang="en-US" altLang="zh-CN" smtClean="0"/>
          </a:p>
          <a:p>
            <a:pPr lvl="2"/>
            <a:r>
              <a:rPr lang="zh-CN" altLang="en-US" smtClean="0"/>
              <a:t>工装设计文件</a:t>
            </a:r>
            <a:endParaRPr lang="en-US" altLang="zh-CN" smtClean="0"/>
          </a:p>
          <a:p>
            <a:pPr lvl="2"/>
            <a:r>
              <a:rPr lang="zh-CN" altLang="en-US"/>
              <a:t>其它</a:t>
            </a:r>
          </a:p>
        </p:txBody>
      </p:sp>
    </p:spTree>
    <p:extLst>
      <p:ext uri="{BB962C8B-B14F-4D97-AF65-F5344CB8AC3E}">
        <p14:creationId xmlns:p14="http://schemas.microsoft.com/office/powerpoint/2010/main" val="165442072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文档</a:t>
            </a:r>
            <a:r>
              <a:rPr lang="zh-CN" altLang="en-US" smtClean="0"/>
              <a:t>管理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mtClean="0">
                <a:solidFill>
                  <a:srgbClr val="00B050"/>
                </a:solidFill>
              </a:rPr>
              <a:t>文档</a:t>
            </a:r>
            <a:r>
              <a:rPr lang="zh-CN" altLang="en-US">
                <a:solidFill>
                  <a:srgbClr val="00B050"/>
                </a:solidFill>
              </a:rPr>
              <a:t>编号</a:t>
            </a:r>
            <a:r>
              <a:rPr lang="zh-CN" altLang="en-US" smtClean="0">
                <a:solidFill>
                  <a:srgbClr val="00B050"/>
                </a:solidFill>
              </a:rPr>
              <a:t>：</a:t>
            </a:r>
            <a:r>
              <a:rPr lang="zh-CN" altLang="en-US">
                <a:solidFill>
                  <a:srgbClr val="00B050"/>
                </a:solidFill>
              </a:rPr>
              <a:t>创建文档时手工录入，确保</a:t>
            </a:r>
            <a:r>
              <a:rPr lang="zh-CN" altLang="en-US" smtClean="0">
                <a:solidFill>
                  <a:srgbClr val="00B050"/>
                </a:solidFill>
              </a:rPr>
              <a:t>唯一性</a:t>
            </a:r>
            <a:endParaRPr lang="en-US" altLang="zh-CN" smtClean="0">
              <a:solidFill>
                <a:srgbClr val="00B050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mtClean="0"/>
              <a:t>文档创建方式：</a:t>
            </a:r>
            <a:endParaRPr lang="en-US" altLang="zh-CN" smtClean="0"/>
          </a:p>
          <a:p>
            <a:pPr lvl="1">
              <a:lnSpc>
                <a:spcPct val="200000"/>
              </a:lnSpc>
            </a:pPr>
            <a:r>
              <a:rPr lang="en-US" altLang="zh-CN" smtClean="0"/>
              <a:t>CAD</a:t>
            </a:r>
            <a:r>
              <a:rPr lang="zh-CN" altLang="en-US" smtClean="0"/>
              <a:t>文档（</a:t>
            </a:r>
            <a:r>
              <a:rPr lang="en-US" altLang="zh-CN" smtClean="0"/>
              <a:t>Pro/E</a:t>
            </a:r>
            <a:r>
              <a:rPr lang="zh-CN" altLang="en-US" smtClean="0"/>
              <a:t>三维模型、</a:t>
            </a:r>
            <a:r>
              <a:rPr lang="en-US" altLang="zh-CN" smtClean="0"/>
              <a:t>DRW</a:t>
            </a:r>
            <a:r>
              <a:rPr lang="zh-CN" altLang="en-US"/>
              <a:t>二</a:t>
            </a:r>
            <a:r>
              <a:rPr lang="zh-CN" altLang="en-US" smtClean="0"/>
              <a:t>维工程图）：</a:t>
            </a:r>
            <a:r>
              <a:rPr lang="en-US" altLang="zh-CN" smtClean="0"/>
              <a:t>Pro/E</a:t>
            </a:r>
            <a:r>
              <a:rPr lang="zh-CN" altLang="en-US" smtClean="0"/>
              <a:t>集成检入</a:t>
            </a:r>
            <a:endParaRPr lang="en-US" altLang="zh-CN" smtClean="0"/>
          </a:p>
          <a:p>
            <a:pPr lvl="1">
              <a:lnSpc>
                <a:spcPct val="200000"/>
              </a:lnSpc>
            </a:pPr>
            <a:r>
              <a:rPr lang="zh-CN" altLang="en-US" smtClean="0"/>
              <a:t>设计文档（</a:t>
            </a:r>
            <a:r>
              <a:rPr lang="en-US" altLang="zh-CN" smtClean="0"/>
              <a:t>AutoCAD</a:t>
            </a:r>
            <a:r>
              <a:rPr lang="zh-CN" altLang="en-US" smtClean="0"/>
              <a:t>图纸）：基于</a:t>
            </a:r>
            <a:r>
              <a:rPr lang="en-US" altLang="zh-CN" smtClean="0"/>
              <a:t>Part</a:t>
            </a:r>
            <a:r>
              <a:rPr lang="zh-CN" altLang="en-US" smtClean="0"/>
              <a:t>手工创建，上传本地实体文件</a:t>
            </a:r>
            <a:endParaRPr lang="en-US" altLang="zh-CN" smtClean="0"/>
          </a:p>
          <a:p>
            <a:pPr lvl="1">
              <a:lnSpc>
                <a:spcPct val="200000"/>
              </a:lnSpc>
            </a:pPr>
            <a:r>
              <a:rPr lang="zh-CN" altLang="en-US"/>
              <a:t>研试文件、质量</a:t>
            </a:r>
            <a:r>
              <a:rPr lang="zh-CN" altLang="en-US" smtClean="0"/>
              <a:t>报告：</a:t>
            </a:r>
            <a:r>
              <a:rPr lang="zh-CN" altLang="en-US"/>
              <a:t>手工创建，上传本地实体文件</a:t>
            </a:r>
            <a:endParaRPr lang="en-US" altLang="zh-CN" smtClean="0"/>
          </a:p>
          <a:p>
            <a:pPr marL="342900" lvl="1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</a:rPr>
              <a:t>不同</a:t>
            </a:r>
            <a:r>
              <a:rPr lang="zh-CN" altLang="en-US" sz="2000" smtClean="0">
                <a:solidFill>
                  <a:schemeClr val="accent5">
                    <a:lumMod val="50000"/>
                  </a:schemeClr>
                </a:solidFill>
              </a:rPr>
              <a:t>类型的文档与零部件关系不同：</a:t>
            </a:r>
            <a:endParaRPr lang="en-US" altLang="zh-CN" sz="2000" smtClean="0">
              <a:solidFill>
                <a:schemeClr val="accent5">
                  <a:lumMod val="50000"/>
                </a:schemeClr>
              </a:solidFill>
            </a:endParaRPr>
          </a:p>
          <a:p>
            <a:pPr lvl="1">
              <a:lnSpc>
                <a:spcPct val="200000"/>
              </a:lnSpc>
            </a:pPr>
            <a:r>
              <a:rPr lang="zh-CN" altLang="en-US" smtClean="0"/>
              <a:t>设计文件与产品零部件关联</a:t>
            </a:r>
            <a:endParaRPr lang="en-US" altLang="zh-CN" smtClean="0"/>
          </a:p>
          <a:p>
            <a:pPr lvl="1">
              <a:lnSpc>
                <a:spcPct val="200000"/>
              </a:lnSpc>
            </a:pPr>
            <a:r>
              <a:rPr lang="zh-CN" altLang="en-US" smtClean="0"/>
              <a:t>研</a:t>
            </a:r>
            <a:r>
              <a:rPr lang="zh-CN" altLang="en-US"/>
              <a:t>试</a:t>
            </a:r>
            <a:r>
              <a:rPr lang="zh-CN" altLang="en-US" smtClean="0"/>
              <a:t>文件</a:t>
            </a:r>
            <a:r>
              <a:rPr lang="en-US" altLang="zh-CN" smtClean="0"/>
              <a:t>/</a:t>
            </a:r>
            <a:r>
              <a:rPr lang="zh-CN" altLang="en-US" smtClean="0"/>
              <a:t>质量报告与产品有关，但不与零部件关联</a:t>
            </a:r>
            <a:endParaRPr lang="en-US" altLang="zh-CN"/>
          </a:p>
          <a:p>
            <a:pPr lvl="1">
              <a:lnSpc>
                <a:spcPct val="200000"/>
              </a:lnSpc>
            </a:pPr>
            <a:endParaRPr lang="en-US" altLang="zh-CN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04354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文档管理：</a:t>
            </a:r>
            <a:r>
              <a:rPr lang="zh-CN" altLang="en-US" smtClean="0">
                <a:solidFill>
                  <a:srgbClr val="FFFF00"/>
                </a:solidFill>
              </a:rPr>
              <a:t>文档分类</a:t>
            </a:r>
            <a:endParaRPr lang="zh-CN" altLang="en-US">
              <a:solidFill>
                <a:srgbClr val="FFFF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016475"/>
              </p:ext>
            </p:extLst>
          </p:nvPr>
        </p:nvGraphicFramePr>
        <p:xfrm>
          <a:off x="504131" y="792087"/>
          <a:ext cx="3672408" cy="58961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5108"/>
                <a:gridCol w="1929431"/>
                <a:gridCol w="607869"/>
              </a:tblGrid>
              <a:tr h="246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</a:rPr>
                        <a:t>大类</a:t>
                      </a:r>
                      <a:endParaRPr lang="zh-CN" sz="10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</a:rPr>
                        <a:t>小类</a:t>
                      </a:r>
                      <a:endParaRPr lang="zh-CN" sz="10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</a:rPr>
                        <a:t>备注</a:t>
                      </a:r>
                      <a:endParaRPr lang="zh-CN" sz="10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ctr"/>
                </a:tc>
              </a:tr>
              <a:tr h="141243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</a:rPr>
                        <a:t>工艺文件</a:t>
                      </a:r>
                      <a:endParaRPr lang="zh-CN" sz="10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工艺总方案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工艺规程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工艺技术通知单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工艺更改单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工艺技术协议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外来工艺文件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</a:rPr>
                        <a:t>设计文件</a:t>
                      </a:r>
                      <a:endParaRPr lang="zh-CN" sz="10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图样及数模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文字或表格类设计文件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技术通知单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设计更改单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软件文档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协调纪要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601">
                <a:tc rowSpan="2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</a:rPr>
                        <a:t>研试文件</a:t>
                      </a:r>
                      <a:endParaRPr lang="zh-CN" sz="10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可行性论证报告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立题报告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调研报告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研制计划</a:t>
                      </a:r>
                      <a:r>
                        <a:rPr lang="en-US" sz="900">
                          <a:effectLst/>
                        </a:rPr>
                        <a:t>|</a:t>
                      </a:r>
                      <a:r>
                        <a:rPr lang="zh-CN" sz="900">
                          <a:effectLst/>
                        </a:rPr>
                        <a:t>大纲（管理性）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飞行试验分析报告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技术指标评定报告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任务书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试验报告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标准化审查报告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文件归档审查报告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定型（鉴定）申请报告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定型（鉴定）报告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经费核算和成本分析报告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可靠性分配和可靠性评估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方案报告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计算文件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原始记录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测试报告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技术攻关报告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阶段评审报告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研究设计报告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研制总结报告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档案工作报告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归档说明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专题目录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使用情况报告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  <a:tr h="1412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39383" marR="39383" marT="0" marB="0" anchor="b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455614"/>
              </p:ext>
            </p:extLst>
          </p:nvPr>
        </p:nvGraphicFramePr>
        <p:xfrm>
          <a:off x="4464571" y="855539"/>
          <a:ext cx="4032448" cy="56166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3073"/>
                <a:gridCol w="2119295"/>
                <a:gridCol w="720080"/>
              </a:tblGrid>
              <a:tr h="156183">
                <a:tc rowSpan="3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</a:rPr>
                        <a:t>质量报告</a:t>
                      </a:r>
                      <a:endParaRPr lang="zh-CN" sz="10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 b="0">
                          <a:solidFill>
                            <a:schemeClr val="tx1"/>
                          </a:solidFill>
                          <a:effectLst/>
                        </a:rPr>
                        <a:t>质量目标展开表</a:t>
                      </a:r>
                      <a:endParaRPr lang="zh-CN" sz="900" b="0">
                        <a:solidFill>
                          <a:schemeClr val="tx1"/>
                        </a:solidFill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zh-CN" sz="900">
                        <a:solidFill>
                          <a:schemeClr val="tx1"/>
                        </a:solidFill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质量目标完成情况报告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顾客满意度综合分析报告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质量体系综合分析报告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管理评审报告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质量复查报告（单机）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质量复查报告</a:t>
                      </a:r>
                      <a:r>
                        <a:rPr lang="en-US" sz="900">
                          <a:effectLst/>
                        </a:rPr>
                        <a:t>(</a:t>
                      </a:r>
                      <a:r>
                        <a:rPr lang="zh-CN" sz="900">
                          <a:effectLst/>
                        </a:rPr>
                        <a:t>系统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型号产品质量保证大纲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产品保证大纲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设计工作报告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工艺可行性分析报告</a:t>
                      </a:r>
                      <a:r>
                        <a:rPr lang="en-US" sz="900">
                          <a:effectLst/>
                        </a:rPr>
                        <a:t>(</a:t>
                      </a:r>
                      <a:r>
                        <a:rPr lang="zh-CN" sz="900">
                          <a:effectLst/>
                        </a:rPr>
                        <a:t>单机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工艺可行性分析报告</a:t>
                      </a:r>
                      <a:r>
                        <a:rPr lang="en-US" sz="900">
                          <a:effectLst/>
                        </a:rPr>
                        <a:t>(</a:t>
                      </a:r>
                      <a:r>
                        <a:rPr lang="zh-CN" sz="900">
                          <a:effectLst/>
                        </a:rPr>
                        <a:t>系统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710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工艺设计总结报告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工艺复查报告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87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工艺定型报告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试验前准备状态检查报告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生产质量分析报告（单机）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2855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生产质量分析报告（总装、系统）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工艺质量分析报告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2855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工艺质量检查确认结论</a:t>
                      </a:r>
                      <a:r>
                        <a:rPr lang="zh-CN" sz="900" smtClean="0">
                          <a:effectLst/>
                        </a:rPr>
                        <a:t>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2855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生产质量检查确认结论报告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外包供方测评报告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合格外包供方名单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合格器材供方名单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产品证明书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产品质量履历书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技术归零报告（院级）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技术归零报告（厂内）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管理归零报告（院级）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管理归零报告（厂内）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季度型号质量分析报告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季度质量综合分析报告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2855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季、年度质量成本分析报告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审核方案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  <a:tr h="142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体系内部审核报告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　</a:t>
                      </a:r>
                      <a:endParaRPr lang="zh-CN" sz="900">
                        <a:effectLst/>
                        <a:latin typeface="Arial"/>
                        <a:ea typeface="黑体"/>
                        <a:cs typeface="Times New Roman"/>
                      </a:endParaRPr>
                    </a:p>
                  </a:txBody>
                  <a:tcPr marL="42484" marR="42484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93064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文档管理</a:t>
            </a:r>
            <a:r>
              <a:rPr lang="zh-CN" altLang="en-US" smtClean="0"/>
              <a:t>：</a:t>
            </a:r>
            <a:r>
              <a:rPr lang="zh-CN" altLang="en-US">
                <a:solidFill>
                  <a:srgbClr val="FFFF00"/>
                </a:solidFill>
              </a:rPr>
              <a:t>生命周期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生命周期表示对象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所处的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状态或成熟度。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生命周期是可以变迁的，一般通过工作流驱动生命周期状态的</a:t>
            </a:r>
            <a:r>
              <a:rPr lang="zh-CN" altLang="en-US" sz="1800"/>
              <a:t>变迁，特殊情况下可由有权限的人员（如业务管理员）手动</a:t>
            </a:r>
            <a:r>
              <a:rPr lang="zh-CN" altLang="en-US" sz="1800" smtClean="0"/>
              <a:t>设置。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未来系统对象（零部件、文档）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生命周期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规划如下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：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815282"/>
              </p:ext>
            </p:extLst>
          </p:nvPr>
        </p:nvGraphicFramePr>
        <p:xfrm>
          <a:off x="735156" y="3879875"/>
          <a:ext cx="9331037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2" name="Visio" r:id="rId3" imgW="12886707" imgH="970681" progId="Visio.Drawing.11">
                  <p:embed/>
                </p:oleObj>
              </mc:Choice>
              <mc:Fallback>
                <p:oleObj name="Visio" r:id="rId3" imgW="12886707" imgH="97068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156" y="3879875"/>
                        <a:ext cx="9331037" cy="7200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592891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文档管理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版本管理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16099" y="855539"/>
            <a:ext cx="4032448" cy="5608067"/>
          </a:xfrm>
        </p:spPr>
        <p:txBody>
          <a:bodyPr/>
          <a:lstStyle/>
          <a:p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数据对象的版本由“主版本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+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版序”组成，</a:t>
            </a:r>
            <a:r>
              <a:rPr lang="zh-CN" altLang="en-US" sz="1800">
                <a:solidFill>
                  <a:schemeClr val="accent5">
                    <a:lumMod val="50000"/>
                  </a:schemeClr>
                </a:solidFill>
              </a:rPr>
              <a:t>例如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：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A.1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数据在编制及签审过程中的修改：主版本不变，版序变化。例如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A.1→A.2→……A.n</a:t>
            </a:r>
          </a:p>
          <a:p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数据在“已批准”状态需要修改，则需要通过变更流程中的修订功能实现：版本发生变化</a:t>
            </a:r>
            <a:r>
              <a:rPr lang="zh-CN" altLang="en-US" sz="1800">
                <a:solidFill>
                  <a:schemeClr val="accent5">
                    <a:lumMod val="50000"/>
                  </a:schemeClr>
                </a:solidFill>
              </a:rPr>
              <a:t>，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例如从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A.n→B.1</a:t>
            </a:r>
          </a:p>
          <a:p>
            <a:r>
              <a:rPr lang="zh-CN" altLang="en-US" sz="1800" smtClean="0"/>
              <a:t>版本版序与</a:t>
            </a:r>
            <a:r>
              <a:rPr lang="en-US" altLang="zh-CN" sz="1800" smtClean="0"/>
              <a:t>805</a:t>
            </a:r>
            <a:r>
              <a:rPr lang="zh-CN" altLang="en-US" sz="1800" smtClean="0"/>
              <a:t>所保持一致</a:t>
            </a:r>
            <a:endParaRPr lang="en-US" altLang="zh-CN" sz="1800"/>
          </a:p>
          <a:p>
            <a:pPr lvl="1">
              <a:lnSpc>
                <a:spcPct val="100000"/>
              </a:lnSpc>
            </a:pPr>
            <a:r>
              <a:rPr lang="zh-CN" altLang="en-US" sz="1600" smtClean="0"/>
              <a:t>第一版本为</a:t>
            </a:r>
            <a:r>
              <a:rPr lang="en-US" altLang="zh-CN" sz="1600" smtClean="0"/>
              <a:t>SPACE.1</a:t>
            </a:r>
          </a:p>
          <a:p>
            <a:pPr lvl="1">
              <a:lnSpc>
                <a:spcPct val="100000"/>
              </a:lnSpc>
            </a:pPr>
            <a:r>
              <a:rPr lang="zh-CN" altLang="en-US" sz="1600" smtClean="0"/>
              <a:t>第二版本为</a:t>
            </a:r>
            <a:r>
              <a:rPr lang="en-US" altLang="zh-CN" sz="1600" smtClean="0"/>
              <a:t>Z.1</a:t>
            </a:r>
          </a:p>
          <a:p>
            <a:pPr lvl="1">
              <a:lnSpc>
                <a:spcPct val="100000"/>
              </a:lnSpc>
            </a:pPr>
            <a:r>
              <a:rPr lang="zh-CN" altLang="en-US" sz="1600"/>
              <a:t>第三</a:t>
            </a:r>
            <a:r>
              <a:rPr lang="zh-CN" altLang="en-US" sz="1600" smtClean="0"/>
              <a:t>版本为</a:t>
            </a:r>
            <a:r>
              <a:rPr lang="en-US" altLang="zh-CN" sz="1600" smtClean="0"/>
              <a:t>A.1</a:t>
            </a:r>
          </a:p>
          <a:p>
            <a:pPr lvl="1">
              <a:lnSpc>
                <a:spcPct val="100000"/>
              </a:lnSpc>
            </a:pPr>
            <a:r>
              <a:rPr lang="zh-CN" altLang="en-US" sz="1600" smtClean="0"/>
              <a:t>后续版本为</a:t>
            </a:r>
            <a:r>
              <a:rPr lang="en-US" altLang="zh-CN" sz="1600" smtClean="0"/>
              <a:t>B.1→C.1→…</a:t>
            </a:r>
            <a:r>
              <a:rPr lang="en-US" altLang="zh-CN" sz="1600"/>
              <a:t> → </a:t>
            </a:r>
            <a:r>
              <a:rPr lang="en-US" altLang="zh-CN" sz="1600" smtClean="0"/>
              <a:t>N.1</a:t>
            </a:r>
          </a:p>
          <a:p>
            <a:endParaRPr lang="zh-CN" altLang="en-US" sz="18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36579" y="1222957"/>
            <a:ext cx="6120680" cy="432048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472185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文档管理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电子签审流程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88107" y="927547"/>
            <a:ext cx="9361040" cy="561662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未来电子签审流程包括：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零部件签审流程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     </a:t>
            </a:r>
            <a:r>
              <a:rPr lang="zh-CN" altLang="en-US" sz="1600" smtClean="0">
                <a:solidFill>
                  <a:srgbClr val="0070C0"/>
                </a:solidFill>
              </a:rPr>
              <a:t>用于有关联</a:t>
            </a:r>
            <a:r>
              <a:rPr lang="en-US" altLang="zh-CN" sz="1600" smtClean="0">
                <a:solidFill>
                  <a:srgbClr val="0070C0"/>
                </a:solidFill>
              </a:rPr>
              <a:t>BOM</a:t>
            </a:r>
            <a:r>
              <a:rPr lang="zh-CN" altLang="en-US" sz="1600" smtClean="0">
                <a:solidFill>
                  <a:srgbClr val="0070C0"/>
                </a:solidFill>
              </a:rPr>
              <a:t>的设计文件签审，基于零部件提交签审，系统自动收集关联的设计文件。</a:t>
            </a:r>
            <a:endParaRPr lang="en-US" altLang="zh-CN" sz="1600" smtClean="0">
              <a:solidFill>
                <a:srgbClr val="0070C0"/>
              </a:solidFill>
            </a:endParaRPr>
          </a:p>
          <a:p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文档签审流程：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pPr marL="400050" lvl="1" indent="0">
              <a:buNone/>
            </a:pPr>
            <a:r>
              <a:rPr lang="zh-CN" altLang="en-US" sz="1600" b="1" smtClean="0"/>
              <a:t>用于无</a:t>
            </a:r>
            <a:r>
              <a:rPr lang="en-US" altLang="zh-CN" sz="1600" b="1" smtClean="0"/>
              <a:t>BOM</a:t>
            </a:r>
            <a:r>
              <a:rPr lang="zh-CN" altLang="en-US" sz="1600" b="1" smtClean="0"/>
              <a:t>设计文件</a:t>
            </a:r>
            <a:r>
              <a:rPr lang="en-US" altLang="zh-CN" sz="1600" b="1" smtClean="0"/>
              <a:t>/</a:t>
            </a:r>
            <a:r>
              <a:rPr lang="zh-CN" altLang="en-US" sz="1600" b="1" smtClean="0"/>
              <a:t>研试文件</a:t>
            </a:r>
            <a:r>
              <a:rPr lang="en-US" altLang="zh-CN" sz="1600" b="1" smtClean="0"/>
              <a:t>/</a:t>
            </a:r>
            <a:r>
              <a:rPr lang="zh-CN" altLang="en-US" sz="1600" b="1"/>
              <a:t>质量</a:t>
            </a:r>
            <a:r>
              <a:rPr lang="zh-CN" altLang="en-US" sz="1600" b="1" smtClean="0"/>
              <a:t>报告</a:t>
            </a:r>
            <a:r>
              <a:rPr lang="en-US" altLang="zh-CN" sz="1600" b="1" smtClean="0"/>
              <a:t>(</a:t>
            </a:r>
            <a:r>
              <a:rPr lang="zh-CN" altLang="en-US" sz="1600" b="1" smtClean="0"/>
              <a:t>质量报告无标审，有复审环节</a:t>
            </a:r>
            <a:r>
              <a:rPr lang="en-US" altLang="zh-CN" sz="1600" b="1" smtClean="0"/>
              <a:t>)/</a:t>
            </a:r>
            <a:r>
              <a:rPr lang="zh-CN" altLang="en-US" sz="1600" b="1" smtClean="0"/>
              <a:t>三维工艺文件的签审，直接选择文件提交签审。</a:t>
            </a:r>
            <a:endParaRPr lang="en-US" altLang="zh-CN" sz="1600" b="1" smtClean="0"/>
          </a:p>
          <a:p>
            <a:pPr marL="400050" lvl="1" indent="0">
              <a:buNone/>
            </a:pPr>
            <a:endParaRPr lang="en-US" altLang="zh-CN" sz="1600">
              <a:solidFill>
                <a:schemeClr val="accent5">
                  <a:lumMod val="50000"/>
                </a:schemeClr>
              </a:solidFill>
            </a:endParaRPr>
          </a:p>
          <a:p>
            <a:pPr marL="400050" lvl="1" indent="0">
              <a:buNone/>
            </a:pPr>
            <a:endParaRPr lang="en-US" altLang="zh-CN" sz="1600" b="1" smtClean="0">
              <a:solidFill>
                <a:schemeClr val="accent5">
                  <a:lumMod val="50000"/>
                </a:schemeClr>
              </a:solidFill>
            </a:endParaRPr>
          </a:p>
          <a:p>
            <a:pPr marL="400050" lvl="1" indent="0">
              <a:buNone/>
            </a:pPr>
            <a:endParaRPr lang="en-US" altLang="zh-CN" sz="1600">
              <a:solidFill>
                <a:schemeClr val="accent5">
                  <a:lumMod val="50000"/>
                </a:schemeClr>
              </a:solidFill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临时工艺文件（三维工艺）：</a:t>
            </a:r>
            <a:endParaRPr lang="en-US" altLang="zh-CN">
              <a:solidFill>
                <a:schemeClr val="accent5">
                  <a:lumMod val="50000"/>
                </a:schemeClr>
              </a:solidFill>
            </a:endParaRPr>
          </a:p>
          <a:p>
            <a:pPr marL="400050" lvl="1" indent="0">
              <a:buNone/>
            </a:pPr>
            <a:r>
              <a:rPr lang="zh-CN" altLang="en-US" sz="1600" smtClean="0"/>
              <a:t>编制</a:t>
            </a:r>
            <a:r>
              <a:rPr lang="en-US" altLang="zh-CN" sz="1600" smtClean="0"/>
              <a:t>—</a:t>
            </a:r>
            <a:r>
              <a:rPr lang="zh-CN" altLang="en-US" sz="1600" smtClean="0"/>
              <a:t>校对</a:t>
            </a:r>
            <a:r>
              <a:rPr lang="en-US" altLang="zh-CN" sz="1600" smtClean="0"/>
              <a:t>—</a:t>
            </a:r>
            <a:r>
              <a:rPr lang="zh-CN" altLang="en-US" sz="1600" smtClean="0"/>
              <a:t>审核</a:t>
            </a:r>
            <a:r>
              <a:rPr lang="en-US" altLang="zh-CN" sz="1600" smtClean="0"/>
              <a:t>—</a:t>
            </a:r>
            <a:r>
              <a:rPr lang="zh-CN" altLang="en-US" sz="1600" smtClean="0"/>
              <a:t>内部会签（可选）</a:t>
            </a:r>
            <a:r>
              <a:rPr lang="en-US" altLang="zh-CN" sz="1600" smtClean="0"/>
              <a:t>—</a:t>
            </a:r>
            <a:r>
              <a:rPr lang="zh-CN" altLang="en-US" sz="1600" smtClean="0"/>
              <a:t>外部会签</a:t>
            </a:r>
            <a:r>
              <a:rPr lang="zh-CN" altLang="en-US" sz="1600"/>
              <a:t>（可选</a:t>
            </a:r>
            <a:r>
              <a:rPr lang="zh-CN" altLang="en-US" sz="1600" smtClean="0"/>
              <a:t>）</a:t>
            </a:r>
            <a:r>
              <a:rPr lang="en-US" altLang="zh-CN" sz="1600" smtClean="0"/>
              <a:t>—</a:t>
            </a:r>
            <a:r>
              <a:rPr lang="zh-CN" altLang="en-US" sz="1600" smtClean="0"/>
              <a:t>标审（可选）</a:t>
            </a:r>
            <a:r>
              <a:rPr lang="en-US" altLang="zh-CN" sz="1600" smtClean="0"/>
              <a:t>—</a:t>
            </a:r>
            <a:r>
              <a:rPr lang="zh-CN" altLang="en-US" sz="1600" smtClean="0"/>
              <a:t>批准</a:t>
            </a:r>
            <a:endParaRPr lang="en-US" altLang="zh-CN" sz="1600" smtClean="0"/>
          </a:p>
          <a:p>
            <a:pPr marL="400050" lvl="1" indent="0">
              <a:buNone/>
            </a:pPr>
            <a:r>
              <a:rPr lang="zh-CN" altLang="en-US" sz="1600" smtClean="0"/>
              <a:t>普通临时工艺文件为</a:t>
            </a:r>
            <a:r>
              <a:rPr lang="zh-CN" altLang="en-US" sz="1600"/>
              <a:t>三</a:t>
            </a:r>
            <a:r>
              <a:rPr lang="zh-CN" altLang="en-US" sz="1600" smtClean="0"/>
              <a:t>级签审流程；关重件临时工艺文件为五级签审流程。</a:t>
            </a:r>
            <a:endParaRPr lang="en-US" altLang="zh-CN" sz="1600" smtClean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五边形 7"/>
          <p:cNvSpPr/>
          <p:nvPr/>
        </p:nvSpPr>
        <p:spPr>
          <a:xfrm>
            <a:off x="792163" y="3735859"/>
            <a:ext cx="9665156" cy="864096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zh-CN" altLang="en-US"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签审环节</a:t>
            </a:r>
            <a:r>
              <a:rPr lang="zh-CN" altLang="en-US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相同（流程在任一环节驳回后修改重新提交签审时，需从校对开始）：</a:t>
            </a:r>
            <a:endParaRPr lang="en-US" altLang="zh-CN" sz="1600" b="1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编制</a:t>
            </a:r>
            <a:r>
              <a:rPr lang="en-US" altLang="zh-CN"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校对</a:t>
            </a:r>
            <a:r>
              <a:rPr lang="en-US" altLang="zh-CN"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审核</a:t>
            </a:r>
            <a:r>
              <a:rPr lang="en-US" altLang="zh-CN"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内部会签</a:t>
            </a:r>
            <a:r>
              <a:rPr lang="en-US" altLang="zh-CN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可选</a:t>
            </a:r>
            <a:r>
              <a:rPr lang="en-US" altLang="zh-CN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)—</a:t>
            </a:r>
            <a:r>
              <a:rPr lang="zh-CN" altLang="en-US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外部会签</a:t>
            </a:r>
            <a:r>
              <a:rPr lang="en-US" altLang="zh-CN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可选</a:t>
            </a:r>
            <a:r>
              <a:rPr lang="en-US" altLang="zh-CN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)—</a:t>
            </a:r>
            <a:r>
              <a:rPr lang="zh-CN" altLang="en-US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标审</a:t>
            </a:r>
            <a:r>
              <a:rPr lang="en-US" altLang="zh-CN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复审（可选）</a:t>
            </a:r>
            <a:r>
              <a:rPr lang="en-US" altLang="zh-CN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批准</a:t>
            </a:r>
            <a:r>
              <a:rPr lang="en-US" altLang="zh-CN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16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打印</a:t>
            </a:r>
            <a:endParaRPr lang="zh-CN" altLang="en-US" sz="1600" b="1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4015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文档管理：</a:t>
            </a:r>
            <a:r>
              <a:rPr lang="zh-CN" altLang="en-US">
                <a:solidFill>
                  <a:srgbClr val="FFFF00"/>
                </a:solidFill>
              </a:rPr>
              <a:t>电子签审</a:t>
            </a:r>
            <a:r>
              <a:rPr lang="zh-CN" altLang="en-US" smtClean="0">
                <a:solidFill>
                  <a:srgbClr val="FFFF00"/>
                </a:solidFill>
              </a:rPr>
              <a:t>流程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05963" y="855540"/>
            <a:ext cx="9609816" cy="5112568"/>
          </a:xfrm>
        </p:spPr>
        <p:txBody>
          <a:bodyPr/>
          <a:lstStyle/>
          <a:p>
            <a:pPr lvl="0"/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设计师</a:t>
            </a:r>
            <a:r>
              <a:rPr lang="zh-CN" altLang="en-US" smtClean="0"/>
              <a:t>提交签审时，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根据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不同的</a:t>
            </a:r>
            <a:r>
              <a:rPr lang="zh-CN" altLang="zh-CN"/>
              <a:t>文件类型启动不同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的签审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流程：</a:t>
            </a:r>
            <a:endParaRPr lang="zh-CN" altLang="zh-CN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n-US" altLang="zh-CN" sz="1600" b="1">
                <a:solidFill>
                  <a:srgbClr val="0070C0"/>
                </a:solidFill>
              </a:rPr>
              <a:t>CAD</a:t>
            </a:r>
            <a:r>
              <a:rPr lang="zh-CN" altLang="zh-CN" sz="1600" b="1">
                <a:solidFill>
                  <a:srgbClr val="0070C0"/>
                </a:solidFill>
              </a:rPr>
              <a:t>设计文件</a:t>
            </a:r>
            <a:r>
              <a:rPr lang="zh-CN" altLang="zh-CN" sz="1600"/>
              <a:t>：设计师基于负责</a:t>
            </a:r>
            <a:r>
              <a:rPr lang="zh-CN" altLang="zh-CN" sz="1600" b="1">
                <a:solidFill>
                  <a:srgbClr val="0070C0"/>
                </a:solidFill>
              </a:rPr>
              <a:t>的部套顶层</a:t>
            </a:r>
            <a:r>
              <a:rPr lang="zh-CN" altLang="zh-CN" sz="1600" b="1" smtClean="0">
                <a:solidFill>
                  <a:srgbClr val="0070C0"/>
                </a:solidFill>
              </a:rPr>
              <a:t>节点</a:t>
            </a:r>
            <a:r>
              <a:rPr lang="zh-CN" altLang="en-US" sz="1600" b="1" smtClean="0">
                <a:solidFill>
                  <a:srgbClr val="0070C0"/>
                </a:solidFill>
              </a:rPr>
              <a:t>提交签审，系统</a:t>
            </a:r>
            <a:r>
              <a:rPr lang="zh-CN" altLang="en-US" sz="1600" smtClean="0"/>
              <a:t>启动</a:t>
            </a:r>
            <a:r>
              <a:rPr lang="zh-CN" altLang="zh-CN" sz="1600" b="1" smtClean="0">
                <a:solidFill>
                  <a:srgbClr val="0070C0"/>
                </a:solidFill>
              </a:rPr>
              <a:t>“</a:t>
            </a:r>
            <a:r>
              <a:rPr lang="zh-CN" altLang="zh-CN" sz="1600" b="1">
                <a:solidFill>
                  <a:srgbClr val="0070C0"/>
                </a:solidFill>
              </a:rPr>
              <a:t>零部件签审流程”，系统自动收集部件及下级零部件、以及零部件关联的设计文件，如</a:t>
            </a:r>
            <a:r>
              <a:rPr lang="en-US" altLang="zh-CN" sz="1600" b="1">
                <a:solidFill>
                  <a:srgbClr val="0070C0"/>
                </a:solidFill>
              </a:rPr>
              <a:t>Pro/E</a:t>
            </a:r>
            <a:r>
              <a:rPr lang="zh-CN" altLang="zh-CN" sz="1600" b="1">
                <a:solidFill>
                  <a:srgbClr val="0070C0"/>
                </a:solidFill>
              </a:rPr>
              <a:t>模型、二维工程图等</a:t>
            </a:r>
            <a:r>
              <a:rPr lang="zh-CN" altLang="zh-CN" sz="1600" b="1" smtClean="0">
                <a:solidFill>
                  <a:srgbClr val="0070C0"/>
                </a:solidFill>
              </a:rPr>
              <a:t>；</a:t>
            </a:r>
            <a:endParaRPr lang="zh-CN" altLang="zh-CN" sz="1600" b="1">
              <a:solidFill>
                <a:srgbClr val="0070C0"/>
              </a:solidFill>
            </a:endParaRPr>
          </a:p>
          <a:p>
            <a:pPr lvl="1"/>
            <a:r>
              <a:rPr lang="zh-CN" altLang="zh-CN" sz="1600" b="1">
                <a:solidFill>
                  <a:srgbClr val="0070C0"/>
                </a:solidFill>
              </a:rPr>
              <a:t>离散设计文件：缺少关联零部件的离散设计文件，直接选择文件启动“文档签审流程”；</a:t>
            </a:r>
          </a:p>
          <a:p>
            <a:pPr lvl="1"/>
            <a:r>
              <a:rPr lang="zh-CN" altLang="zh-CN" sz="1600" b="1">
                <a:solidFill>
                  <a:srgbClr val="0070C0"/>
                </a:solidFill>
              </a:rPr>
              <a:t>研试文件</a:t>
            </a:r>
            <a:r>
              <a:rPr lang="en-US" altLang="zh-CN" sz="1600" b="1">
                <a:solidFill>
                  <a:srgbClr val="0070C0"/>
                </a:solidFill>
              </a:rPr>
              <a:t>/</a:t>
            </a:r>
            <a:r>
              <a:rPr lang="zh-CN" altLang="zh-CN" sz="1600" b="1">
                <a:solidFill>
                  <a:srgbClr val="0070C0"/>
                </a:solidFill>
              </a:rPr>
              <a:t>质量报告：直接选择文档提交“文档签审流程</a:t>
            </a:r>
            <a:r>
              <a:rPr lang="zh-CN" altLang="zh-CN" sz="1600" b="1" smtClean="0">
                <a:solidFill>
                  <a:srgbClr val="0070C0"/>
                </a:solidFill>
              </a:rPr>
              <a:t>”</a:t>
            </a:r>
            <a:r>
              <a:rPr lang="zh-CN" altLang="en-US" sz="1600"/>
              <a:t>；</a:t>
            </a:r>
            <a:endParaRPr lang="en-US" altLang="zh-CN" sz="1600" b="1" smtClean="0">
              <a:solidFill>
                <a:srgbClr val="0070C0"/>
              </a:solidFill>
            </a:endParaRPr>
          </a:p>
          <a:p>
            <a:pPr lvl="1"/>
            <a:r>
              <a:rPr lang="zh-CN" altLang="en-US" sz="1600" smtClean="0"/>
              <a:t>工艺技术通知单：直接选择文档提交“工艺通知单签审流程”。</a:t>
            </a:r>
            <a:endParaRPr lang="zh-CN" altLang="zh-CN" sz="1600" b="1">
              <a:solidFill>
                <a:srgbClr val="0070C0"/>
              </a:solidFill>
            </a:endParaRPr>
          </a:p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757305" y="3807868"/>
            <a:ext cx="7523690" cy="2160240"/>
            <a:chOff x="432123" y="4527947"/>
            <a:chExt cx="6408712" cy="1728192"/>
          </a:xfrm>
        </p:grpSpPr>
        <p:pic>
          <p:nvPicPr>
            <p:cNvPr id="4" name="图片 3"/>
            <p:cNvPicPr/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32123" y="4527947"/>
              <a:ext cx="6408712" cy="1728192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</p:spPr>
        </p:pic>
        <p:sp>
          <p:nvSpPr>
            <p:cNvPr id="5" name="矩形 4"/>
            <p:cNvSpPr/>
            <p:nvPr/>
          </p:nvSpPr>
          <p:spPr>
            <a:xfrm>
              <a:off x="1872560" y="4554192"/>
              <a:ext cx="1926916" cy="295466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smtClean="0"/>
                <a:t>编制者</a:t>
              </a:r>
              <a:r>
                <a:rPr lang="zh-CN" altLang="en-US" smtClean="0"/>
                <a:t>创建签审</a:t>
              </a:r>
              <a:r>
                <a:rPr lang="en-US" altLang="zh-CN" smtClean="0"/>
                <a:t>任务</a:t>
              </a:r>
              <a:endParaRPr lang="zh-CN" altLang="en-US"/>
            </a:p>
          </p:txBody>
        </p:sp>
      </p:grpSp>
      <p:pic>
        <p:nvPicPr>
          <p:cNvPr id="6" name="图片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10871" y="3538612"/>
            <a:ext cx="5346388" cy="314957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8280994" y="3886840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/>
              <a:t>选择签</a:t>
            </a:r>
            <a:r>
              <a:rPr lang="zh-CN" altLang="zh-CN" smtClean="0"/>
              <a:t>审</a:t>
            </a:r>
            <a:r>
              <a:rPr lang="zh-CN" altLang="en-US" smtClean="0"/>
              <a:t>环节</a:t>
            </a:r>
            <a:r>
              <a:rPr lang="zh-CN" altLang="zh-CN" smtClean="0"/>
              <a:t>人</a:t>
            </a:r>
            <a:r>
              <a:rPr lang="zh-CN" altLang="en-US"/>
              <a:t>员</a:t>
            </a:r>
          </a:p>
        </p:txBody>
      </p:sp>
    </p:spTree>
    <p:extLst>
      <p:ext uri="{BB962C8B-B14F-4D97-AF65-F5344CB8AC3E}">
        <p14:creationId xmlns:p14="http://schemas.microsoft.com/office/powerpoint/2010/main" val="75643742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文档管理：</a:t>
            </a:r>
            <a:r>
              <a:rPr lang="zh-CN" altLang="en-US">
                <a:solidFill>
                  <a:srgbClr val="FFFF00"/>
                </a:solidFill>
              </a:rPr>
              <a:t>电子签审</a:t>
            </a:r>
            <a:r>
              <a:rPr lang="zh-CN" altLang="en-US" smtClean="0">
                <a:solidFill>
                  <a:srgbClr val="FFFF00"/>
                </a:solidFill>
              </a:rPr>
              <a:t>流程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签审人员签审方式：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b="1" smtClean="0">
                <a:solidFill>
                  <a:srgbClr val="0070C0"/>
                </a:solidFill>
              </a:rPr>
              <a:t>使用</a:t>
            </a:r>
            <a:r>
              <a:rPr lang="en-US" altLang="zh-CN" b="1" smtClean="0">
                <a:solidFill>
                  <a:srgbClr val="0070C0"/>
                </a:solidFill>
              </a:rPr>
              <a:t>CreoView</a:t>
            </a:r>
            <a:r>
              <a:rPr lang="zh-CN" altLang="en-US" b="1" smtClean="0">
                <a:solidFill>
                  <a:srgbClr val="0070C0"/>
                </a:solidFill>
              </a:rPr>
              <a:t>进行可视化批注：针对三维模型</a:t>
            </a:r>
            <a:r>
              <a:rPr lang="en-US" altLang="zh-CN" b="1" smtClean="0">
                <a:solidFill>
                  <a:srgbClr val="0070C0"/>
                </a:solidFill>
              </a:rPr>
              <a:t>/</a:t>
            </a:r>
            <a:r>
              <a:rPr lang="zh-CN" altLang="en-US" b="1" smtClean="0">
                <a:solidFill>
                  <a:srgbClr val="0070C0"/>
                </a:solidFill>
              </a:rPr>
              <a:t>二维工程图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1"/>
            <a:r>
              <a:rPr lang="zh-CN" altLang="en-US" b="1" smtClean="0">
                <a:solidFill>
                  <a:srgbClr val="0070C0"/>
                </a:solidFill>
              </a:rPr>
              <a:t>在签审任务的意见栏填写意见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</a:rPr>
              <a:t>签审人员可以根据情况，选择“通过”或“驳回”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0235" y="3231802"/>
            <a:ext cx="4536504" cy="3240361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6469356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文档管理：</a:t>
            </a:r>
            <a:r>
              <a:rPr lang="zh-CN" altLang="en-US">
                <a:solidFill>
                  <a:srgbClr val="FFFF00"/>
                </a:solidFill>
              </a:rPr>
              <a:t>电子签审</a:t>
            </a:r>
            <a:r>
              <a:rPr lang="zh-CN" altLang="en-US" smtClean="0">
                <a:solidFill>
                  <a:srgbClr val="FFFF00"/>
                </a:solidFill>
              </a:rPr>
              <a:t>流程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72083" y="1143570"/>
            <a:ext cx="4392488" cy="5608067"/>
          </a:xfrm>
        </p:spPr>
        <p:txBody>
          <a:bodyPr/>
          <a:lstStyle/>
          <a:p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电子签审规则说明：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zh-CN" sz="1600" b="1"/>
              <a:t>内部会签环节的参与人，设计师需要事前与参与会签的部门领导或相关人员协商，确定需要参与本</a:t>
            </a:r>
            <a:r>
              <a:rPr lang="zh-CN" altLang="zh-CN" sz="1600" b="1" smtClean="0"/>
              <a:t>次</a:t>
            </a:r>
            <a:r>
              <a:rPr lang="zh-CN" altLang="en-US" sz="1600" b="1" smtClean="0"/>
              <a:t>会签</a:t>
            </a:r>
            <a:r>
              <a:rPr lang="zh-CN" altLang="zh-CN" sz="1600" b="1" smtClean="0"/>
              <a:t>的</a:t>
            </a:r>
            <a:r>
              <a:rPr lang="zh-CN" altLang="zh-CN" sz="1600" b="1"/>
              <a:t>具体</a:t>
            </a:r>
            <a:r>
              <a:rPr lang="zh-CN" altLang="zh-CN" sz="1600" b="1" smtClean="0"/>
              <a:t>人员</a:t>
            </a:r>
            <a:r>
              <a:rPr lang="zh-CN" altLang="en-US" sz="1600" b="1" smtClean="0"/>
              <a:t>；</a:t>
            </a:r>
            <a:endParaRPr lang="en-US" altLang="zh-CN" sz="1600" b="1" smtClean="0"/>
          </a:p>
          <a:p>
            <a:pPr lvl="1"/>
            <a:r>
              <a:rPr lang="zh-CN" altLang="zh-CN" sz="1600"/>
              <a:t>各参与内部会签人员的任务之间采取并行模式，一票否决机制，但返回提交者的时机为各参与内部会签人员都给出意见并完成任务</a:t>
            </a:r>
            <a:r>
              <a:rPr lang="zh-CN" altLang="zh-CN" sz="1600" smtClean="0"/>
              <a:t>后</a:t>
            </a:r>
            <a:r>
              <a:rPr lang="zh-CN" altLang="en-US" sz="1600" smtClean="0"/>
              <a:t>；</a:t>
            </a:r>
            <a:endParaRPr lang="en-US" altLang="zh-CN" sz="1600" b="1" smtClean="0"/>
          </a:p>
          <a:p>
            <a:pPr lvl="1"/>
            <a:r>
              <a:rPr lang="zh-CN" altLang="en-US" sz="1600" b="1" smtClean="0"/>
              <a:t>外部会签由代理人负责代理签审；</a:t>
            </a:r>
            <a:endParaRPr lang="en-US" altLang="zh-CN" sz="1600" b="1" smtClean="0"/>
          </a:p>
          <a:p>
            <a:pPr lvl="1"/>
            <a:r>
              <a:rPr lang="zh-CN" altLang="zh-CN" sz="1600"/>
              <a:t>文档批准环节通过后，档案部门资料员</a:t>
            </a:r>
            <a:r>
              <a:rPr lang="zh-CN" altLang="zh-CN" sz="1600" smtClean="0"/>
              <a:t>在</a:t>
            </a:r>
            <a:r>
              <a:rPr lang="zh-CN" altLang="en-US" sz="1600" smtClean="0"/>
              <a:t>平台中</a:t>
            </a:r>
            <a:r>
              <a:rPr lang="zh-CN" altLang="zh-CN" sz="1600" smtClean="0"/>
              <a:t>接收</a:t>
            </a:r>
            <a:r>
              <a:rPr lang="zh-CN" altLang="zh-CN" sz="1600"/>
              <a:t>到打印</a:t>
            </a:r>
            <a:r>
              <a:rPr lang="zh-CN" altLang="zh-CN" sz="1600" smtClean="0"/>
              <a:t>任务。</a:t>
            </a:r>
            <a:r>
              <a:rPr lang="zh-CN" altLang="zh-CN" sz="1600"/>
              <a:t>系统提供批量下载的功能，将所有已经电子签名的</a:t>
            </a:r>
            <a:r>
              <a:rPr lang="en-US" altLang="zh-CN" sz="1600"/>
              <a:t>PDF</a:t>
            </a:r>
            <a:r>
              <a:rPr lang="zh-CN" altLang="zh-CN" sz="1600"/>
              <a:t>格式文件下载到本地进行打印。</a:t>
            </a:r>
          </a:p>
          <a:p>
            <a:pPr lvl="1"/>
            <a:endParaRPr lang="zh-CN" altLang="en-US" b="1"/>
          </a:p>
        </p:txBody>
      </p:sp>
      <p:grpSp>
        <p:nvGrpSpPr>
          <p:cNvPr id="6" name="组合 5"/>
          <p:cNvGrpSpPr/>
          <p:nvPr/>
        </p:nvGrpSpPr>
        <p:grpSpPr>
          <a:xfrm>
            <a:off x="4824611" y="1791643"/>
            <a:ext cx="5616624" cy="3744416"/>
            <a:chOff x="4824611" y="1791643"/>
            <a:chExt cx="5616624" cy="3744416"/>
          </a:xfrm>
        </p:grpSpPr>
        <p:pic>
          <p:nvPicPr>
            <p:cNvPr id="4" name="图片 3"/>
            <p:cNvPicPr/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824611" y="1791643"/>
              <a:ext cx="5616624" cy="3744416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</p:spPr>
        </p:pic>
        <p:sp>
          <p:nvSpPr>
            <p:cNvPr id="5" name="圆角矩形 4"/>
            <p:cNvSpPr/>
            <p:nvPr/>
          </p:nvSpPr>
          <p:spPr>
            <a:xfrm>
              <a:off x="6523775" y="4041222"/>
              <a:ext cx="2160240" cy="43204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467132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文档管理</a:t>
            </a:r>
            <a:r>
              <a:rPr lang="zh-CN" altLang="en-US" smtClean="0"/>
              <a:t>：</a:t>
            </a:r>
            <a:r>
              <a:rPr lang="zh-CN" altLang="en-US">
                <a:solidFill>
                  <a:srgbClr val="FFFF00"/>
                </a:solidFill>
              </a:rPr>
              <a:t>文档</a:t>
            </a:r>
            <a:r>
              <a:rPr lang="zh-CN" altLang="en-US" smtClean="0">
                <a:solidFill>
                  <a:srgbClr val="FFFF00"/>
                </a:solidFill>
              </a:rPr>
              <a:t>电子</a:t>
            </a:r>
            <a:r>
              <a:rPr lang="zh-CN" altLang="en-US">
                <a:solidFill>
                  <a:srgbClr val="FFFF00"/>
                </a:solidFill>
              </a:rPr>
              <a:t>签名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72083" y="1143571"/>
            <a:ext cx="5040560" cy="5112569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1600" smtClean="0">
                <a:solidFill>
                  <a:schemeClr val="accent5">
                    <a:lumMod val="50000"/>
                  </a:schemeClr>
                </a:solidFill>
              </a:rPr>
              <a:t>电子签名主要针对在</a:t>
            </a:r>
            <a:r>
              <a:rPr lang="en-US" altLang="zh-CN" sz="1600" smtClean="0">
                <a:solidFill>
                  <a:schemeClr val="accent5">
                    <a:lumMod val="50000"/>
                  </a:schemeClr>
                </a:solidFill>
              </a:rPr>
              <a:t>Windchill</a:t>
            </a:r>
            <a:r>
              <a:rPr lang="zh-CN" altLang="en-US" sz="1600" smtClean="0">
                <a:solidFill>
                  <a:schemeClr val="accent5">
                    <a:lumMod val="50000"/>
                  </a:schemeClr>
                </a:solidFill>
              </a:rPr>
              <a:t>系统中走电子签审流程的文档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</a:rPr>
              <a:t>：</a:t>
            </a:r>
            <a:endParaRPr lang="en-US" altLang="zh-CN" sz="1600" smtClean="0">
              <a:solidFill>
                <a:schemeClr val="accent5">
                  <a:lumMod val="50000"/>
                </a:schemeClr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sz="1400" b="1">
                <a:solidFill>
                  <a:srgbClr val="0070C0"/>
                </a:solidFill>
              </a:rPr>
              <a:t>自研</a:t>
            </a:r>
            <a:r>
              <a:rPr lang="zh-CN" altLang="en-US" sz="1400" b="1" smtClean="0">
                <a:solidFill>
                  <a:srgbClr val="0070C0"/>
                </a:solidFill>
              </a:rPr>
              <a:t>产品设计图纸：*</a:t>
            </a:r>
            <a:r>
              <a:rPr lang="en-US" altLang="zh-CN" sz="1400" b="1" smtClean="0">
                <a:solidFill>
                  <a:srgbClr val="0070C0"/>
                </a:solidFill>
              </a:rPr>
              <a:t>.drw</a:t>
            </a:r>
            <a:r>
              <a:rPr lang="zh-CN" altLang="en-US" sz="1400" b="1" smtClean="0">
                <a:solidFill>
                  <a:srgbClr val="0070C0"/>
                </a:solidFill>
              </a:rPr>
              <a:t>、</a:t>
            </a:r>
            <a:r>
              <a:rPr lang="en-US" altLang="zh-CN" sz="1400" b="1" smtClean="0">
                <a:solidFill>
                  <a:srgbClr val="0070C0"/>
                </a:solidFill>
              </a:rPr>
              <a:t>*.dwg</a:t>
            </a:r>
            <a:r>
              <a:rPr lang="zh-CN" altLang="en-US" sz="1400" b="1" smtClean="0">
                <a:solidFill>
                  <a:srgbClr val="0070C0"/>
                </a:solidFill>
              </a:rPr>
              <a:t>格式</a:t>
            </a:r>
            <a:endParaRPr lang="en-US" altLang="zh-CN" sz="1400" b="1" smtClean="0">
              <a:solidFill>
                <a:srgbClr val="0070C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sz="1400" b="1">
                <a:solidFill>
                  <a:srgbClr val="0070C0"/>
                </a:solidFill>
              </a:rPr>
              <a:t>自研产品研试文件</a:t>
            </a:r>
            <a:r>
              <a:rPr lang="en-US" altLang="zh-CN" sz="1400" b="1">
                <a:solidFill>
                  <a:srgbClr val="0070C0"/>
                </a:solidFill>
              </a:rPr>
              <a:t>/</a:t>
            </a:r>
            <a:r>
              <a:rPr lang="zh-CN" altLang="en-US" sz="1400" b="1">
                <a:solidFill>
                  <a:srgbClr val="0070C0"/>
                </a:solidFill>
              </a:rPr>
              <a:t>质量报告：</a:t>
            </a:r>
            <a:r>
              <a:rPr lang="en-US" altLang="zh-CN" sz="1400" b="1">
                <a:solidFill>
                  <a:srgbClr val="0070C0"/>
                </a:solidFill>
              </a:rPr>
              <a:t>*.doc</a:t>
            </a:r>
            <a:r>
              <a:rPr lang="zh-CN" altLang="en-US" sz="1400" b="1" smtClean="0">
                <a:solidFill>
                  <a:srgbClr val="0070C0"/>
                </a:solidFill>
              </a:rPr>
              <a:t>格式</a:t>
            </a:r>
            <a:endParaRPr lang="en-US" altLang="zh-CN" sz="1400" b="1" smtClean="0">
              <a:solidFill>
                <a:srgbClr val="0070C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sz="1400" b="1" smtClean="0">
                <a:solidFill>
                  <a:srgbClr val="0070C0"/>
                </a:solidFill>
              </a:rPr>
              <a:t>工装设计图纸：</a:t>
            </a:r>
            <a:r>
              <a:rPr lang="zh-CN" altLang="en-US" sz="1400" b="1">
                <a:solidFill>
                  <a:srgbClr val="0070C0"/>
                </a:solidFill>
              </a:rPr>
              <a:t> *</a:t>
            </a:r>
            <a:r>
              <a:rPr lang="en-US" altLang="zh-CN" sz="1400" b="1">
                <a:solidFill>
                  <a:srgbClr val="0070C0"/>
                </a:solidFill>
              </a:rPr>
              <a:t>.</a:t>
            </a:r>
            <a:r>
              <a:rPr lang="en-US" altLang="zh-CN" sz="1400" b="1" smtClean="0">
                <a:solidFill>
                  <a:srgbClr val="0070C0"/>
                </a:solidFill>
              </a:rPr>
              <a:t>drw</a:t>
            </a:r>
            <a:r>
              <a:rPr lang="zh-CN" altLang="en-US" sz="1400" b="1" smtClean="0">
                <a:solidFill>
                  <a:srgbClr val="0070C0"/>
                </a:solidFill>
              </a:rPr>
              <a:t>、</a:t>
            </a:r>
            <a:r>
              <a:rPr lang="en-US" altLang="zh-CN" sz="1400" b="1" smtClean="0">
                <a:solidFill>
                  <a:srgbClr val="0070C0"/>
                </a:solidFill>
              </a:rPr>
              <a:t>*.</a:t>
            </a:r>
            <a:r>
              <a:rPr lang="en-US" altLang="zh-CN" sz="1400" b="1">
                <a:solidFill>
                  <a:srgbClr val="0070C0"/>
                </a:solidFill>
              </a:rPr>
              <a:t>dwg</a:t>
            </a:r>
            <a:r>
              <a:rPr lang="zh-CN" altLang="en-US" sz="1400" b="1" smtClean="0">
                <a:solidFill>
                  <a:srgbClr val="0070C0"/>
                </a:solidFill>
              </a:rPr>
              <a:t>格式</a:t>
            </a:r>
            <a:endParaRPr lang="en-US" altLang="zh-CN" sz="1400" b="1" smtClean="0">
              <a:solidFill>
                <a:srgbClr val="0070C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sz="1400" b="1" smtClean="0">
                <a:solidFill>
                  <a:srgbClr val="0070C0"/>
                </a:solidFill>
              </a:rPr>
              <a:t>设计更改单：*</a:t>
            </a:r>
            <a:r>
              <a:rPr lang="en-US" altLang="zh-CN" sz="1400" b="1" smtClean="0">
                <a:solidFill>
                  <a:srgbClr val="0070C0"/>
                </a:solidFill>
              </a:rPr>
              <a:t>.doc</a:t>
            </a:r>
            <a:r>
              <a:rPr lang="zh-CN" altLang="en-US" sz="1400" b="1" smtClean="0">
                <a:solidFill>
                  <a:srgbClr val="0070C0"/>
                </a:solidFill>
              </a:rPr>
              <a:t>格式</a:t>
            </a:r>
            <a:endParaRPr lang="en-US" altLang="zh-CN" sz="1400" b="1" smtClean="0">
              <a:solidFill>
                <a:srgbClr val="0070C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sz="1400" b="1" smtClean="0">
                <a:solidFill>
                  <a:srgbClr val="0070C0"/>
                </a:solidFill>
              </a:rPr>
              <a:t>工艺更改单（针对三维工艺文件）：*</a:t>
            </a:r>
            <a:r>
              <a:rPr lang="en-US" altLang="zh-CN" sz="1400" b="1" smtClean="0">
                <a:solidFill>
                  <a:srgbClr val="0070C0"/>
                </a:solidFill>
              </a:rPr>
              <a:t>.doc</a:t>
            </a:r>
            <a:r>
              <a:rPr lang="zh-CN" altLang="en-US" sz="1400" b="1" smtClean="0">
                <a:solidFill>
                  <a:srgbClr val="0070C0"/>
                </a:solidFill>
              </a:rPr>
              <a:t>格式</a:t>
            </a:r>
          </a:p>
          <a:p>
            <a:pPr marL="342900" lvl="1" indent="-342900">
              <a:lnSpc>
                <a:spcPct val="130000"/>
              </a:lnSpc>
              <a:buFont typeface="Arial" pitchFamily="34" charset="0"/>
              <a:buChar char="•"/>
            </a:pP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</a:rPr>
              <a:t>二维</a:t>
            </a:r>
            <a:r>
              <a:rPr lang="zh-CN" altLang="en-US" sz="1600" b="1" smtClean="0">
                <a:solidFill>
                  <a:schemeClr val="accent5">
                    <a:lumMod val="50000"/>
                  </a:schemeClr>
                </a:solidFill>
              </a:rPr>
              <a:t>图纸需要</a:t>
            </a:r>
            <a:r>
              <a:rPr lang="zh-CN" altLang="en-US" sz="1600" smtClean="0">
                <a:solidFill>
                  <a:schemeClr val="accent5">
                    <a:lumMod val="50000"/>
                  </a:schemeClr>
                </a:solidFill>
              </a:rPr>
              <a:t>系统自动</a:t>
            </a:r>
            <a:r>
              <a:rPr lang="zh-CN" altLang="en-US" sz="1600" b="1" smtClean="0">
                <a:solidFill>
                  <a:schemeClr val="accent5">
                    <a:lumMod val="50000"/>
                  </a:schemeClr>
                </a:solidFill>
              </a:rPr>
              <a:t>转</a:t>
            </a:r>
            <a:r>
              <a:rPr lang="en-US" altLang="zh-CN" sz="1600" b="1" smtClean="0">
                <a:solidFill>
                  <a:schemeClr val="accent5">
                    <a:lumMod val="50000"/>
                  </a:schemeClr>
                </a:solidFill>
              </a:rPr>
              <a:t>PDF</a:t>
            </a:r>
            <a:r>
              <a:rPr lang="zh-CN" altLang="en-US" sz="1600" b="1" smtClean="0">
                <a:solidFill>
                  <a:schemeClr val="accent5">
                    <a:lumMod val="50000"/>
                  </a:schemeClr>
                </a:solidFill>
              </a:rPr>
              <a:t>格式可视化文件和图纸文件一起签审，实现电子签名。</a:t>
            </a:r>
            <a:endParaRPr lang="en-US" altLang="zh-CN" sz="1600" b="1" smtClean="0">
              <a:solidFill>
                <a:schemeClr val="accent5">
                  <a:lumMod val="50000"/>
                </a:schemeClr>
              </a:solidFill>
            </a:endParaRPr>
          </a:p>
          <a:p>
            <a:pPr marL="342900" lvl="1" indent="-342900">
              <a:lnSpc>
                <a:spcPct val="130000"/>
              </a:lnSpc>
              <a:buFont typeface="Arial" pitchFamily="34" charset="0"/>
              <a:buChar char="•"/>
            </a:pPr>
            <a:r>
              <a:rPr lang="en-US" altLang="zh-CN" sz="1600" b="1" smtClean="0">
                <a:solidFill>
                  <a:schemeClr val="accent5">
                    <a:lumMod val="50000"/>
                  </a:schemeClr>
                </a:solidFill>
              </a:rPr>
              <a:t>Word</a:t>
            </a:r>
            <a:r>
              <a:rPr lang="zh-CN" altLang="en-US" sz="1600" b="1" smtClean="0">
                <a:solidFill>
                  <a:schemeClr val="accent5">
                    <a:lumMod val="50000"/>
                  </a:schemeClr>
                </a:solidFill>
              </a:rPr>
              <a:t>格式可以由系统自动转</a:t>
            </a:r>
            <a:r>
              <a:rPr lang="en-US" altLang="zh-CN" sz="1600" b="1" smtClean="0">
                <a:solidFill>
                  <a:schemeClr val="accent5">
                    <a:lumMod val="50000"/>
                  </a:schemeClr>
                </a:solidFill>
              </a:rPr>
              <a:t>PDF</a:t>
            </a:r>
            <a:r>
              <a:rPr lang="zh-CN" altLang="en-US" sz="1600" b="1" smtClean="0">
                <a:solidFill>
                  <a:schemeClr val="accent5">
                    <a:lumMod val="50000"/>
                  </a:schemeClr>
                </a:solidFill>
              </a:rPr>
              <a:t>进行电子签名。</a:t>
            </a:r>
            <a:endParaRPr lang="en-US" altLang="zh-CN" sz="1600" b="1" smtClean="0">
              <a:solidFill>
                <a:schemeClr val="accent5">
                  <a:lumMod val="50000"/>
                </a:schemeClr>
              </a:solidFill>
            </a:endParaRPr>
          </a:p>
          <a:p>
            <a:pPr marL="342900" lvl="1" indent="-342900">
              <a:lnSpc>
                <a:spcPct val="130000"/>
              </a:lnSpc>
              <a:buFont typeface="Arial" pitchFamily="34" charset="0"/>
              <a:buChar char="•"/>
            </a:pP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</a:rPr>
              <a:t>二</a:t>
            </a:r>
            <a:r>
              <a:rPr lang="zh-CN" altLang="en-US" sz="1600" b="1" smtClean="0">
                <a:solidFill>
                  <a:schemeClr val="accent5">
                    <a:lumMod val="50000"/>
                  </a:schemeClr>
                </a:solidFill>
              </a:rPr>
              <a:t>维图纸、研试文件、设计更改单、工艺更改单需要规范模板：</a:t>
            </a:r>
            <a:endParaRPr lang="en-US" altLang="zh-CN" sz="1600" b="1" smtClean="0">
              <a:solidFill>
                <a:schemeClr val="accent5">
                  <a:lumMod val="50000"/>
                </a:schemeClr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sz="1400" b="1" smtClean="0">
                <a:solidFill>
                  <a:srgbClr val="0070C0"/>
                </a:solidFill>
              </a:rPr>
              <a:t>二维图纸模板建议参考</a:t>
            </a:r>
            <a:r>
              <a:rPr lang="en-US" altLang="zh-CN" sz="1400" b="1" smtClean="0">
                <a:solidFill>
                  <a:srgbClr val="0070C0"/>
                </a:solidFill>
              </a:rPr>
              <a:t>805</a:t>
            </a:r>
            <a:r>
              <a:rPr lang="zh-CN" altLang="en-US" sz="1400" b="1" smtClean="0">
                <a:solidFill>
                  <a:srgbClr val="0070C0"/>
                </a:solidFill>
              </a:rPr>
              <a:t>所模板</a:t>
            </a:r>
            <a:endParaRPr lang="en-US" altLang="zh-CN" sz="1400" b="1" smtClean="0">
              <a:solidFill>
                <a:srgbClr val="0070C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sz="1400" b="1">
                <a:solidFill>
                  <a:srgbClr val="0070C0"/>
                </a:solidFill>
              </a:rPr>
              <a:t>研</a:t>
            </a:r>
            <a:r>
              <a:rPr lang="zh-CN" altLang="en-US" sz="1400" b="1" smtClean="0">
                <a:solidFill>
                  <a:srgbClr val="0070C0"/>
                </a:solidFill>
              </a:rPr>
              <a:t>试文件</a:t>
            </a:r>
            <a:r>
              <a:rPr lang="en-US" altLang="zh-CN" sz="1400" b="1" smtClean="0">
                <a:solidFill>
                  <a:srgbClr val="0070C0"/>
                </a:solidFill>
              </a:rPr>
              <a:t>/</a:t>
            </a:r>
            <a:r>
              <a:rPr lang="zh-CN" altLang="en-US" sz="1400" b="1" smtClean="0">
                <a:solidFill>
                  <a:srgbClr val="0070C0"/>
                </a:solidFill>
              </a:rPr>
              <a:t>质量报告建议在封面定义统一的签名区</a:t>
            </a:r>
            <a:endParaRPr lang="en-US" altLang="zh-CN" sz="1400" b="1" smtClean="0">
              <a:solidFill>
                <a:srgbClr val="0070C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sz="1400" b="1" smtClean="0">
                <a:solidFill>
                  <a:srgbClr val="0070C0"/>
                </a:solidFill>
              </a:rPr>
              <a:t>工艺更改单</a:t>
            </a:r>
            <a:r>
              <a:rPr lang="en-US" altLang="zh-CN" sz="1400" b="1" smtClean="0">
                <a:solidFill>
                  <a:srgbClr val="0070C0"/>
                </a:solidFill>
              </a:rPr>
              <a:t>/</a:t>
            </a:r>
            <a:r>
              <a:rPr lang="zh-CN" altLang="en-US" sz="1400" b="1" smtClean="0">
                <a:solidFill>
                  <a:srgbClr val="0070C0"/>
                </a:solidFill>
              </a:rPr>
              <a:t>工艺通知单：需要新增</a:t>
            </a:r>
            <a:r>
              <a:rPr lang="en-US" altLang="zh-CN" sz="1400" b="1" smtClean="0">
                <a:solidFill>
                  <a:srgbClr val="0070C0"/>
                </a:solidFill>
              </a:rPr>
              <a:t>word</a:t>
            </a:r>
            <a:r>
              <a:rPr lang="zh-CN" altLang="en-US" sz="1400" b="1" smtClean="0">
                <a:solidFill>
                  <a:srgbClr val="0070C0"/>
                </a:solidFill>
              </a:rPr>
              <a:t>格式</a:t>
            </a:r>
            <a:endParaRPr lang="en-US" altLang="zh-CN" sz="1400" b="1">
              <a:solidFill>
                <a:srgbClr val="0070C0"/>
              </a:solidFill>
            </a:endParaRPr>
          </a:p>
          <a:p>
            <a:pPr marL="457200" lvl="1" indent="0">
              <a:buNone/>
            </a:pPr>
            <a:endParaRPr lang="en-US" altLang="zh-CN" sz="1400" b="1" smtClean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68627" y="1575619"/>
            <a:ext cx="56642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2565333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未来实践设计</a:t>
            </a:r>
            <a:r>
              <a:rPr lang="zh-CN" altLang="en-US" smtClean="0">
                <a:solidFill>
                  <a:srgbClr val="FFFF00"/>
                </a:solidFill>
              </a:rPr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5904656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>
              <a:lnSpc>
                <a:spcPct val="150000"/>
              </a:lnSpc>
            </a:pPr>
            <a:r>
              <a:rPr lang="en-US" altLang="zh-CN" sz="2800" b="1" smtClean="0">
                <a:solidFill>
                  <a:schemeClr val="bg1"/>
                </a:solidFill>
              </a:rPr>
              <a:t>5.  </a:t>
            </a:r>
            <a:r>
              <a:rPr lang="zh-CN" altLang="en-US" sz="2800" b="1" smtClean="0">
                <a:solidFill>
                  <a:schemeClr val="bg1"/>
                </a:solidFill>
              </a:rPr>
              <a:t>设计数据接收管理</a:t>
            </a:r>
            <a:endParaRPr lang="en-US" altLang="zh-CN" sz="2800" b="1" smtClean="0">
              <a:solidFill>
                <a:schemeClr val="bg1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设计数据接收形成产品结构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手工创建形成产品结构</a:t>
            </a:r>
            <a:endParaRPr lang="en-US" altLang="zh-CN" b="1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2103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5. </a:t>
            </a:r>
            <a:r>
              <a:rPr lang="zh-CN" altLang="en-US" smtClean="0"/>
              <a:t>设计数据接收管理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805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所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/149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厂数据发放接收管理参见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805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所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PDS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系统解决方案，包括：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b="1" smtClean="0">
                <a:solidFill>
                  <a:srgbClr val="0070C0"/>
                </a:solidFill>
              </a:rPr>
              <a:t>设计方案预审工艺会签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1"/>
            <a:r>
              <a:rPr lang="zh-CN" altLang="en-US" b="1" smtClean="0">
                <a:solidFill>
                  <a:srgbClr val="0070C0"/>
                </a:solidFill>
              </a:rPr>
              <a:t>设计数据工艺会签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1"/>
            <a:r>
              <a:rPr lang="zh-CN" altLang="en-US" b="1" smtClean="0">
                <a:solidFill>
                  <a:srgbClr val="0070C0"/>
                </a:solidFill>
              </a:rPr>
              <a:t>设计数据正式发放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1"/>
            <a:r>
              <a:rPr lang="zh-CN" altLang="en-US" smtClean="0"/>
              <a:t>工艺通知单设计会签</a:t>
            </a:r>
            <a:endParaRPr lang="en-US" altLang="zh-CN" b="1" smtClean="0">
              <a:solidFill>
                <a:srgbClr val="0070C0"/>
              </a:solidFill>
            </a:endParaRPr>
          </a:p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本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章节主要描述如何基于设计数据接收形成产品结构：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b="1" smtClean="0">
                <a:solidFill>
                  <a:srgbClr val="0070C0"/>
                </a:solidFill>
              </a:rPr>
              <a:t>基于电子设计数据接收形成产品结构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1"/>
            <a:r>
              <a:rPr lang="zh-CN" altLang="en-US" b="1" smtClean="0">
                <a:solidFill>
                  <a:srgbClr val="0070C0"/>
                </a:solidFill>
              </a:rPr>
              <a:t>基于纸质设计文件手工创建产品结构</a:t>
            </a:r>
            <a:endParaRPr lang="en-US" altLang="zh-CN" b="1" smtClean="0">
              <a:solidFill>
                <a:srgbClr val="0070C0"/>
              </a:solidFill>
            </a:endParaRPr>
          </a:p>
          <a:p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18112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5. </a:t>
            </a:r>
            <a:r>
              <a:rPr lang="zh-CN" altLang="en-US" smtClean="0"/>
              <a:t>设计数据接收管理：</a:t>
            </a:r>
            <a:r>
              <a:rPr lang="zh-CN" altLang="en-US" smtClean="0">
                <a:solidFill>
                  <a:srgbClr val="FFFF00"/>
                </a:solidFill>
              </a:rPr>
              <a:t>电子设计数据接收形成产品结构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287587"/>
            <a:ext cx="4536504" cy="4968552"/>
          </a:xfrm>
        </p:spPr>
        <p:txBody>
          <a:bodyPr/>
          <a:lstStyle/>
          <a:p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型号产品的设计数据是按照成套件进行发放，不同层级的成套件发放时间不一致，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通常是自底向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上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进行成套件发放。</a:t>
            </a:r>
          </a:p>
          <a:p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基于成套件电子数据的接收在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149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厂平台自底向上逐级复现型号产品结构。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在“设计数据工艺会签”和“设计数据正式发放”两个环节都会从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805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所接收设计数据，</a:t>
            </a:r>
            <a:r>
              <a:rPr lang="zh-CN" altLang="en-US" sz="1800"/>
              <a:t>复现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EBOM</a:t>
            </a:r>
            <a:r>
              <a:rPr lang="zh-CN" altLang="en-US" sz="1800"/>
              <a:t>结构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 sz="18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876179"/>
              </p:ext>
            </p:extLst>
          </p:nvPr>
        </p:nvGraphicFramePr>
        <p:xfrm>
          <a:off x="5553075" y="976313"/>
          <a:ext cx="4375150" cy="546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8" name="Visio" r:id="rId3" imgW="5511923" imgH="6973734" progId="Visio.Drawing.11">
                  <p:embed/>
                </p:oleObj>
              </mc:Choice>
              <mc:Fallback>
                <p:oleObj name="Visio" r:id="rId3" imgW="5511923" imgH="697373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075" y="976313"/>
                        <a:ext cx="4375150" cy="5461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6264771" y="3175000"/>
            <a:ext cx="3456384" cy="1424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7848947" y="2007667"/>
            <a:ext cx="2304256" cy="936104"/>
          </a:xfrm>
          <a:prstGeom prst="wedgeRectCallout">
            <a:avLst>
              <a:gd name="adj1" fmla="val -33510"/>
              <a:gd name="adj2" fmla="val 7199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smtClean="0">
                <a:solidFill>
                  <a:schemeClr val="tx1"/>
                </a:solidFill>
              </a:rPr>
              <a:t>成套件数据，包括：零部件、三维模型、二维图纸、设计更改单等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5894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5. </a:t>
            </a:r>
            <a:r>
              <a:rPr lang="zh-CN" altLang="en-US" smtClean="0"/>
              <a:t>设计数据接收管理：</a:t>
            </a:r>
            <a:r>
              <a:rPr lang="zh-CN" altLang="en-US" smtClean="0">
                <a:solidFill>
                  <a:srgbClr val="FFFF00"/>
                </a:solidFill>
              </a:rPr>
              <a:t>电子设计数据接收形成产品结构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287587"/>
            <a:ext cx="8640960" cy="4968552"/>
          </a:xfrm>
        </p:spPr>
        <p:txBody>
          <a:bodyPr/>
          <a:lstStyle/>
          <a:p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BOM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结构导入规则（说明：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Part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是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BOM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结构中零部件简称）：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zh-CN" b="1">
                <a:solidFill>
                  <a:srgbClr val="0070C0"/>
                </a:solidFill>
              </a:rPr>
              <a:t>存在同一编号相同版本的</a:t>
            </a:r>
            <a:r>
              <a:rPr lang="en-US" altLang="zh-CN" b="1">
                <a:solidFill>
                  <a:srgbClr val="0070C0"/>
                </a:solidFill>
              </a:rPr>
              <a:t>Part</a:t>
            </a:r>
            <a:r>
              <a:rPr lang="zh-CN" altLang="zh-CN" b="1">
                <a:solidFill>
                  <a:srgbClr val="0070C0"/>
                </a:solidFill>
              </a:rPr>
              <a:t>：</a:t>
            </a:r>
            <a:r>
              <a:rPr lang="zh-CN" altLang="zh-CN" b="1" smtClean="0">
                <a:solidFill>
                  <a:srgbClr val="0070C0"/>
                </a:solidFill>
              </a:rPr>
              <a:t>不</a:t>
            </a:r>
            <a:r>
              <a:rPr lang="zh-CN" altLang="en-US" b="1">
                <a:solidFill>
                  <a:srgbClr val="0070C0"/>
                </a:solidFill>
              </a:rPr>
              <a:t>导入</a:t>
            </a:r>
            <a:endParaRPr lang="zh-CN" altLang="zh-CN" b="1">
              <a:solidFill>
                <a:srgbClr val="0070C0"/>
              </a:solidFill>
            </a:endParaRPr>
          </a:p>
          <a:p>
            <a:pPr lvl="1"/>
            <a:r>
              <a:rPr lang="zh-CN" altLang="zh-CN" b="1">
                <a:solidFill>
                  <a:srgbClr val="0070C0"/>
                </a:solidFill>
              </a:rPr>
              <a:t>存在同一编号不同版本的</a:t>
            </a:r>
            <a:r>
              <a:rPr lang="en-US" altLang="zh-CN" b="1">
                <a:solidFill>
                  <a:srgbClr val="0070C0"/>
                </a:solidFill>
              </a:rPr>
              <a:t>Part</a:t>
            </a:r>
            <a:r>
              <a:rPr lang="zh-CN" altLang="zh-CN" b="1">
                <a:solidFill>
                  <a:srgbClr val="0070C0"/>
                </a:solidFill>
              </a:rPr>
              <a:t>：该</a:t>
            </a:r>
            <a:r>
              <a:rPr lang="en-US" altLang="zh-CN" b="1">
                <a:solidFill>
                  <a:srgbClr val="0070C0"/>
                </a:solidFill>
              </a:rPr>
              <a:t>Part</a:t>
            </a:r>
            <a:r>
              <a:rPr lang="zh-CN" altLang="zh-CN" b="1">
                <a:solidFill>
                  <a:srgbClr val="0070C0"/>
                </a:solidFill>
              </a:rPr>
              <a:t>对象创建新版本</a:t>
            </a:r>
          </a:p>
          <a:p>
            <a:pPr lvl="1"/>
            <a:r>
              <a:rPr lang="zh-CN" altLang="zh-CN" b="1">
                <a:solidFill>
                  <a:srgbClr val="0070C0"/>
                </a:solidFill>
              </a:rPr>
              <a:t>不存在同一编号的</a:t>
            </a:r>
            <a:r>
              <a:rPr lang="en-US" altLang="zh-CN" b="1">
                <a:solidFill>
                  <a:srgbClr val="0070C0"/>
                </a:solidFill>
              </a:rPr>
              <a:t>Part</a:t>
            </a:r>
            <a:r>
              <a:rPr lang="zh-CN" altLang="zh-CN" b="1">
                <a:solidFill>
                  <a:srgbClr val="0070C0"/>
                </a:solidFill>
              </a:rPr>
              <a:t>：创建新</a:t>
            </a:r>
            <a:r>
              <a:rPr lang="zh-CN" altLang="zh-CN" b="1" smtClean="0">
                <a:solidFill>
                  <a:srgbClr val="0070C0"/>
                </a:solidFill>
              </a:rPr>
              <a:t>的</a:t>
            </a:r>
            <a:r>
              <a:rPr lang="en-US" altLang="zh-CN" b="1" smtClean="0">
                <a:solidFill>
                  <a:srgbClr val="0070C0"/>
                </a:solidFill>
              </a:rPr>
              <a:t>Part</a:t>
            </a:r>
          </a:p>
          <a:p>
            <a:pPr lvl="1"/>
            <a:r>
              <a:rPr lang="zh-CN" altLang="zh-CN" b="1" smtClean="0">
                <a:solidFill>
                  <a:srgbClr val="0070C0"/>
                </a:solidFill>
              </a:rPr>
              <a:t>零部件</a:t>
            </a:r>
            <a:r>
              <a:rPr lang="zh-CN" altLang="en-US" b="1" smtClean="0">
                <a:solidFill>
                  <a:srgbClr val="0070C0"/>
                </a:solidFill>
              </a:rPr>
              <a:t>分类</a:t>
            </a:r>
            <a:r>
              <a:rPr lang="zh-CN" altLang="zh-CN" b="1" smtClean="0">
                <a:solidFill>
                  <a:srgbClr val="0070C0"/>
                </a:solidFill>
              </a:rPr>
              <a:t>为</a:t>
            </a:r>
            <a:r>
              <a:rPr lang="zh-CN" altLang="zh-CN" b="1">
                <a:solidFill>
                  <a:srgbClr val="0070C0"/>
                </a:solidFill>
              </a:rPr>
              <a:t>“标准件”的</a:t>
            </a:r>
            <a:r>
              <a:rPr lang="en-US" altLang="zh-CN" b="1" smtClean="0">
                <a:solidFill>
                  <a:srgbClr val="0070C0"/>
                </a:solidFill>
              </a:rPr>
              <a:t>Part</a:t>
            </a:r>
            <a:r>
              <a:rPr lang="zh-CN" altLang="en-US" b="1" smtClean="0">
                <a:solidFill>
                  <a:srgbClr val="0070C0"/>
                </a:solidFill>
              </a:rPr>
              <a:t>：</a:t>
            </a:r>
            <a:r>
              <a:rPr lang="zh-CN" altLang="zh-CN" b="1" smtClean="0">
                <a:solidFill>
                  <a:srgbClr val="0070C0"/>
                </a:solidFill>
              </a:rPr>
              <a:t>不</a:t>
            </a:r>
            <a:r>
              <a:rPr lang="zh-CN" altLang="en-US" b="1" smtClean="0">
                <a:solidFill>
                  <a:srgbClr val="0070C0"/>
                </a:solidFill>
              </a:rPr>
              <a:t>导入</a:t>
            </a:r>
            <a:r>
              <a:rPr lang="zh-CN" altLang="zh-CN" b="1" smtClean="0">
                <a:solidFill>
                  <a:srgbClr val="0070C0"/>
                </a:solidFill>
              </a:rPr>
              <a:t>，</a:t>
            </a:r>
            <a:r>
              <a:rPr lang="zh-CN" altLang="zh-CN" b="1">
                <a:solidFill>
                  <a:srgbClr val="0070C0"/>
                </a:solidFill>
              </a:rPr>
              <a:t>只创建与其它</a:t>
            </a:r>
            <a:r>
              <a:rPr lang="en-US" altLang="zh-CN" b="1">
                <a:solidFill>
                  <a:srgbClr val="0070C0"/>
                </a:solidFill>
              </a:rPr>
              <a:t>Part</a:t>
            </a:r>
            <a:r>
              <a:rPr lang="zh-CN" altLang="zh-CN" b="1">
                <a:solidFill>
                  <a:srgbClr val="0070C0"/>
                </a:solidFill>
              </a:rPr>
              <a:t>的关联关系</a:t>
            </a:r>
          </a:p>
          <a:p>
            <a:pPr lvl="1"/>
            <a:r>
              <a:rPr lang="zh-CN" altLang="zh-CN" b="1" smtClean="0">
                <a:solidFill>
                  <a:srgbClr val="0070C0"/>
                </a:solidFill>
              </a:rPr>
              <a:t>创建</a:t>
            </a:r>
            <a:r>
              <a:rPr lang="en-US" altLang="zh-CN" b="1" smtClean="0">
                <a:solidFill>
                  <a:srgbClr val="0070C0"/>
                </a:solidFill>
              </a:rPr>
              <a:t>/</a:t>
            </a:r>
            <a:r>
              <a:rPr lang="zh-CN" altLang="en-US" b="1" smtClean="0">
                <a:solidFill>
                  <a:srgbClr val="0070C0"/>
                </a:solidFill>
              </a:rPr>
              <a:t>更新</a:t>
            </a:r>
            <a:r>
              <a:rPr lang="en-US" altLang="zh-CN" b="1" smtClean="0">
                <a:solidFill>
                  <a:srgbClr val="0070C0"/>
                </a:solidFill>
              </a:rPr>
              <a:t>Part</a:t>
            </a:r>
            <a:r>
              <a:rPr lang="zh-CN" altLang="zh-CN" b="1">
                <a:solidFill>
                  <a:srgbClr val="0070C0"/>
                </a:solidFill>
              </a:rPr>
              <a:t>之间的关联关系</a:t>
            </a:r>
          </a:p>
          <a:p>
            <a:pPr lvl="1"/>
            <a:r>
              <a:rPr lang="en-US" altLang="zh-CN" b="1">
                <a:solidFill>
                  <a:srgbClr val="0070C0"/>
                </a:solidFill>
              </a:rPr>
              <a:t>Part</a:t>
            </a:r>
            <a:r>
              <a:rPr lang="zh-CN" altLang="zh-CN" b="1">
                <a:solidFill>
                  <a:srgbClr val="0070C0"/>
                </a:solidFill>
              </a:rPr>
              <a:t>生命周期</a:t>
            </a:r>
            <a:r>
              <a:rPr lang="zh-CN" altLang="zh-CN" b="1" smtClean="0">
                <a:solidFill>
                  <a:srgbClr val="0070C0"/>
                </a:solidFill>
              </a:rPr>
              <a:t>：</a:t>
            </a:r>
            <a:r>
              <a:rPr lang="zh-CN" altLang="en-US" b="1" smtClean="0">
                <a:solidFill>
                  <a:srgbClr val="0070C0"/>
                </a:solidFill>
              </a:rPr>
              <a:t>“</a:t>
            </a:r>
            <a:r>
              <a:rPr lang="zh-CN" altLang="zh-CN" b="1" smtClean="0">
                <a:solidFill>
                  <a:srgbClr val="0070C0"/>
                </a:solidFill>
              </a:rPr>
              <a:t>工艺会签</a:t>
            </a:r>
            <a:r>
              <a:rPr lang="zh-CN" altLang="en-US" b="1" smtClean="0">
                <a:solidFill>
                  <a:srgbClr val="0070C0"/>
                </a:solidFill>
              </a:rPr>
              <a:t>”环节</a:t>
            </a:r>
            <a:r>
              <a:rPr lang="zh-CN" altLang="zh-CN" b="1" smtClean="0">
                <a:solidFill>
                  <a:srgbClr val="0070C0"/>
                </a:solidFill>
              </a:rPr>
              <a:t>导</a:t>
            </a:r>
            <a:r>
              <a:rPr lang="zh-CN" altLang="zh-CN" b="1">
                <a:solidFill>
                  <a:srgbClr val="0070C0"/>
                </a:solidFill>
              </a:rPr>
              <a:t>入的</a:t>
            </a:r>
            <a:r>
              <a:rPr lang="en-US" altLang="zh-CN" b="1">
                <a:solidFill>
                  <a:srgbClr val="0070C0"/>
                </a:solidFill>
              </a:rPr>
              <a:t>Part</a:t>
            </a:r>
            <a:r>
              <a:rPr lang="zh-CN" altLang="zh-CN" b="1">
                <a:solidFill>
                  <a:srgbClr val="0070C0"/>
                </a:solidFill>
              </a:rPr>
              <a:t>对象生命周期状态“工艺会签”</a:t>
            </a:r>
            <a:r>
              <a:rPr lang="zh-CN" altLang="zh-CN" b="1" smtClean="0">
                <a:solidFill>
                  <a:srgbClr val="0070C0"/>
                </a:solidFill>
              </a:rPr>
              <a:t>，</a:t>
            </a:r>
            <a:r>
              <a:rPr lang="zh-CN" altLang="en-US" b="1" smtClean="0">
                <a:solidFill>
                  <a:srgbClr val="0070C0"/>
                </a:solidFill>
              </a:rPr>
              <a:t>“</a:t>
            </a:r>
            <a:r>
              <a:rPr lang="zh-CN" altLang="zh-CN" b="1" smtClean="0">
                <a:solidFill>
                  <a:srgbClr val="0070C0"/>
                </a:solidFill>
              </a:rPr>
              <a:t>正式发放</a:t>
            </a:r>
            <a:r>
              <a:rPr lang="zh-CN" altLang="en-US" b="1" smtClean="0">
                <a:solidFill>
                  <a:srgbClr val="0070C0"/>
                </a:solidFill>
              </a:rPr>
              <a:t>”环节</a:t>
            </a:r>
            <a:r>
              <a:rPr lang="zh-CN" altLang="zh-CN" b="1" smtClean="0">
                <a:solidFill>
                  <a:srgbClr val="0070C0"/>
                </a:solidFill>
              </a:rPr>
              <a:t>导</a:t>
            </a:r>
            <a:r>
              <a:rPr lang="zh-CN" altLang="zh-CN" b="1">
                <a:solidFill>
                  <a:srgbClr val="0070C0"/>
                </a:solidFill>
              </a:rPr>
              <a:t>入的</a:t>
            </a:r>
            <a:r>
              <a:rPr lang="en-US" altLang="zh-CN" b="1">
                <a:solidFill>
                  <a:srgbClr val="0070C0"/>
                </a:solidFill>
              </a:rPr>
              <a:t>Part</a:t>
            </a:r>
            <a:r>
              <a:rPr lang="zh-CN" altLang="zh-CN" b="1">
                <a:solidFill>
                  <a:srgbClr val="0070C0"/>
                </a:solidFill>
              </a:rPr>
              <a:t>对象生命周期状态为</a:t>
            </a:r>
            <a:r>
              <a:rPr lang="zh-CN" altLang="zh-CN" b="1" smtClean="0">
                <a:solidFill>
                  <a:srgbClr val="0070C0"/>
                </a:solidFill>
              </a:rPr>
              <a:t>“已批准”</a:t>
            </a:r>
            <a:endParaRPr lang="zh-CN" altLang="en-US" sz="1600" b="1">
              <a:solidFill>
                <a:srgbClr val="0070C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21399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5. </a:t>
            </a:r>
            <a:r>
              <a:rPr lang="zh-CN" altLang="en-US" smtClean="0"/>
              <a:t>设计</a:t>
            </a:r>
            <a:r>
              <a:rPr lang="zh-CN" altLang="en-US"/>
              <a:t>数据接收管理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手工创建产品结构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手工创建产品结构适用于：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n-US" altLang="zh-CN" b="1" smtClean="0">
                <a:solidFill>
                  <a:srgbClr val="0070C0"/>
                </a:solidFill>
              </a:rPr>
              <a:t>805</a:t>
            </a:r>
            <a:r>
              <a:rPr lang="zh-CN" altLang="en-US" b="1" smtClean="0">
                <a:solidFill>
                  <a:srgbClr val="0070C0"/>
                </a:solidFill>
              </a:rPr>
              <a:t>所发放的缺少</a:t>
            </a:r>
            <a:r>
              <a:rPr lang="en-US" altLang="zh-CN" b="1" smtClean="0">
                <a:solidFill>
                  <a:srgbClr val="0070C0"/>
                </a:solidFill>
              </a:rPr>
              <a:t>BOM</a:t>
            </a:r>
            <a:r>
              <a:rPr lang="zh-CN" altLang="en-US" b="1" smtClean="0">
                <a:solidFill>
                  <a:srgbClr val="0070C0"/>
                </a:solidFill>
              </a:rPr>
              <a:t>结构的</a:t>
            </a:r>
            <a:r>
              <a:rPr lang="zh-CN" altLang="en-US" b="1">
                <a:solidFill>
                  <a:srgbClr val="0070C0"/>
                </a:solidFill>
              </a:rPr>
              <a:t>电子</a:t>
            </a:r>
            <a:r>
              <a:rPr lang="zh-CN" altLang="en-US" b="1" smtClean="0">
                <a:solidFill>
                  <a:srgbClr val="0070C0"/>
                </a:solidFill>
              </a:rPr>
              <a:t>设计文件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1"/>
            <a:r>
              <a:rPr lang="zh-CN" altLang="en-US" b="1">
                <a:solidFill>
                  <a:srgbClr val="0070C0"/>
                </a:solidFill>
              </a:rPr>
              <a:t>八部发放的纸质设计</a:t>
            </a:r>
            <a:r>
              <a:rPr lang="zh-CN" altLang="en-US" b="1" smtClean="0">
                <a:solidFill>
                  <a:srgbClr val="0070C0"/>
                </a:solidFill>
              </a:rPr>
              <a:t>文件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</a:rPr>
              <a:t>未来由主任工艺师或信息化</a:t>
            </a: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</a:rPr>
              <a:t>部相关人员在</a:t>
            </a:r>
            <a:r>
              <a:rPr lang="en-US" altLang="zh-CN" sz="2000" b="1" smtClean="0">
                <a:solidFill>
                  <a:schemeClr val="accent5">
                    <a:lumMod val="50000"/>
                  </a:schemeClr>
                </a:solidFill>
              </a:rPr>
              <a:t>Windchill</a:t>
            </a: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</a:rPr>
              <a:t>中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</a:rPr>
              <a:t>手工创建</a:t>
            </a: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</a:rPr>
              <a:t>产品结构。</a:t>
            </a:r>
            <a:endParaRPr lang="en-US" altLang="zh-CN" sz="2000" b="1" smtClean="0">
              <a:solidFill>
                <a:schemeClr val="accent5">
                  <a:lumMod val="50000"/>
                </a:schemeClr>
              </a:solidFill>
            </a:endParaRPr>
          </a:p>
          <a:p>
            <a:pPr marL="0" lvl="1" indent="0">
              <a:buNone/>
            </a:pPr>
            <a:r>
              <a:rPr lang="en-US" altLang="zh-CN" sz="2000" b="1" smtClean="0">
                <a:solidFill>
                  <a:schemeClr val="accent5">
                    <a:lumMod val="50000"/>
                  </a:schemeClr>
                </a:solidFill>
              </a:rPr>
              <a:t>     </a:t>
            </a: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</a:rPr>
              <a:t>包括以下功能：</a:t>
            </a:r>
            <a:endParaRPr lang="en-US" altLang="zh-CN" sz="2000" b="1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b="1">
                <a:solidFill>
                  <a:srgbClr val="0070C0"/>
                </a:solidFill>
              </a:rPr>
              <a:t>零部件</a:t>
            </a:r>
            <a:r>
              <a:rPr lang="zh-CN" altLang="en-US" b="1" smtClean="0">
                <a:solidFill>
                  <a:srgbClr val="0070C0"/>
                </a:solidFill>
              </a:rPr>
              <a:t>创建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1"/>
            <a:r>
              <a:rPr lang="zh-CN" altLang="en-US" b="1" smtClean="0">
                <a:solidFill>
                  <a:srgbClr val="0070C0"/>
                </a:solidFill>
              </a:rPr>
              <a:t>零部件编辑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1"/>
            <a:r>
              <a:rPr lang="zh-CN" altLang="en-US" b="1" smtClean="0">
                <a:solidFill>
                  <a:srgbClr val="0070C0"/>
                </a:solidFill>
              </a:rPr>
              <a:t>零部件删除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1"/>
            <a:r>
              <a:rPr lang="zh-CN" altLang="en-US" b="1" smtClean="0">
                <a:solidFill>
                  <a:srgbClr val="0070C0"/>
                </a:solidFill>
              </a:rPr>
              <a:t>零部件关联关系创建</a:t>
            </a:r>
            <a:r>
              <a:rPr lang="en-US" altLang="zh-CN" b="1" smtClean="0">
                <a:solidFill>
                  <a:srgbClr val="0070C0"/>
                </a:solidFill>
              </a:rPr>
              <a:t>/</a:t>
            </a:r>
            <a:r>
              <a:rPr lang="zh-CN" altLang="en-US" b="1" smtClean="0">
                <a:solidFill>
                  <a:srgbClr val="0070C0"/>
                </a:solidFill>
              </a:rPr>
              <a:t>移除</a:t>
            </a:r>
            <a:endParaRPr lang="en-US" altLang="zh-CN" b="1">
              <a:solidFill>
                <a:srgbClr val="0070C0"/>
              </a:solidFill>
            </a:endParaRPr>
          </a:p>
          <a:p>
            <a:pPr lvl="1"/>
            <a:endParaRPr lang="en-US" altLang="zh-CN" sz="2000" b="1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97954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5. </a:t>
            </a:r>
            <a:r>
              <a:rPr lang="zh-CN" altLang="en-US" smtClean="0"/>
              <a:t>设计</a:t>
            </a:r>
            <a:r>
              <a:rPr lang="zh-CN" altLang="en-US"/>
              <a:t>数据接收管理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手工创建产品结构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88107" y="1143571"/>
            <a:ext cx="7344816" cy="5112568"/>
          </a:xfrm>
        </p:spPr>
        <p:txBody>
          <a:bodyPr/>
          <a:lstStyle/>
          <a:p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以成套件为例手工创建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EBOM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的方式：</a:t>
            </a:r>
            <a:endParaRPr lang="en-US" altLang="zh-CN" sz="1600" b="1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en-US" altLang="zh-CN" sz="20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37226" y="1761678"/>
            <a:ext cx="4166855" cy="1208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手工创建成套件</a:t>
            </a:r>
            <a:r>
              <a:rPr lang="en-US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Part</a:t>
            </a:r>
            <a:r>
              <a:rPr lang="zh-CN" altLang="en-US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，直接在成套件</a:t>
            </a:r>
            <a:r>
              <a:rPr lang="en-US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Part</a:t>
            </a:r>
            <a:r>
              <a:rPr lang="zh-CN" altLang="en-US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的详细信息页面中</a:t>
            </a:r>
            <a:r>
              <a:rPr lang="zh-CN" altLang="en-US" sz="1600" b="1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“结构”</a:t>
            </a:r>
            <a:r>
              <a:rPr lang="en-US" altLang="zh-CN" sz="1600" b="1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TAB</a:t>
            </a:r>
            <a:r>
              <a:rPr lang="zh-CN" altLang="en-US" sz="1600" b="1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页中</a:t>
            </a:r>
            <a:r>
              <a:rPr lang="zh-CN" altLang="en-US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进行</a:t>
            </a:r>
            <a:r>
              <a:rPr lang="en-US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EBOM</a:t>
            </a:r>
            <a:r>
              <a:rPr lang="zh-CN" altLang="en-US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结构编辑：</a:t>
            </a:r>
          </a:p>
        </p:txBody>
      </p:sp>
      <p:pic>
        <p:nvPicPr>
          <p:cNvPr id="18433" name="图片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2943771"/>
            <a:ext cx="4882508" cy="3024336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79400" y="270510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5472683" y="2943771"/>
            <a:ext cx="4968552" cy="302433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426488" y="1802276"/>
            <a:ext cx="4798724" cy="787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手工创建成套件</a:t>
            </a:r>
            <a:r>
              <a:rPr lang="en-US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Part</a:t>
            </a:r>
            <a:r>
              <a:rPr lang="zh-CN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，在产品结构浏览器中打开进行</a:t>
            </a:r>
            <a:r>
              <a:rPr lang="en-US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EBOM</a:t>
            </a:r>
            <a:r>
              <a:rPr lang="zh-CN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结构编辑：</a:t>
            </a:r>
          </a:p>
        </p:txBody>
      </p:sp>
    </p:spTree>
    <p:extLst>
      <p:ext uri="{BB962C8B-B14F-4D97-AF65-F5344CB8AC3E}">
        <p14:creationId xmlns:p14="http://schemas.microsoft.com/office/powerpoint/2010/main" val="171950817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5. </a:t>
            </a:r>
            <a:r>
              <a:rPr lang="zh-CN" altLang="en-US" smtClean="0"/>
              <a:t>设计</a:t>
            </a:r>
            <a:r>
              <a:rPr lang="zh-CN" altLang="en-US"/>
              <a:t>数据接收管理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手工创建产品结构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88107" y="1143571"/>
            <a:ext cx="7344816" cy="5112568"/>
          </a:xfrm>
        </p:spPr>
        <p:txBody>
          <a:bodyPr/>
          <a:lstStyle/>
          <a:p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以成套件为例手工创建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EBOM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的方式：</a:t>
            </a:r>
            <a:endParaRPr lang="en-US" altLang="zh-CN" sz="1600" b="1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en-US" altLang="zh-CN" sz="20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0880" y="1951822"/>
            <a:ext cx="4608587" cy="787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如果手工创建的</a:t>
            </a:r>
            <a:r>
              <a:rPr lang="en-US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EBOM</a:t>
            </a:r>
            <a:r>
              <a:rPr lang="zh-CN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结构存在断链的情况，</a:t>
            </a:r>
            <a:r>
              <a:rPr lang="zh-CN" altLang="zh-CN" sz="1600" b="1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可以手工</a:t>
            </a:r>
            <a:r>
              <a:rPr lang="zh-CN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创建断链的零部件与上级部件的关联关系：</a:t>
            </a:r>
          </a:p>
        </p:txBody>
      </p:sp>
      <p:pic>
        <p:nvPicPr>
          <p:cNvPr id="10" name="图片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80" y="2943771"/>
            <a:ext cx="5112569" cy="3168897"/>
          </a:xfrm>
          <a:prstGeom prst="rect">
            <a:avLst/>
          </a:prstGeom>
          <a:noFill/>
        </p:spPr>
      </p:pic>
      <p:sp>
        <p:nvSpPr>
          <p:cNvPr id="9" name="矩形 8"/>
          <p:cNvSpPr/>
          <p:nvPr/>
        </p:nvSpPr>
        <p:spPr>
          <a:xfrm>
            <a:off x="5760715" y="1936693"/>
            <a:ext cx="4608512" cy="787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如果系统中手工创建的</a:t>
            </a:r>
            <a:r>
              <a:rPr lang="en-US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EBOM</a:t>
            </a:r>
            <a:r>
              <a:rPr lang="zh-CN" altLang="zh-CN" sz="16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结构存在关联错误，主任工艺师可以手工移除零部件之间的关联关系：</a:t>
            </a:r>
          </a:p>
        </p:txBody>
      </p:sp>
      <p:pic>
        <p:nvPicPr>
          <p:cNvPr id="12" name="图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5784795" y="2943771"/>
            <a:ext cx="4772025" cy="2016224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56061088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未来实践设计</a:t>
            </a:r>
            <a:r>
              <a:rPr lang="zh-CN" altLang="en-US" smtClean="0">
                <a:solidFill>
                  <a:srgbClr val="FFFF00"/>
                </a:solidFill>
              </a:rPr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5904656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>
              <a:lnSpc>
                <a:spcPct val="150000"/>
              </a:lnSpc>
            </a:pPr>
            <a:r>
              <a:rPr lang="en-US" altLang="zh-CN" sz="2800" b="1" smtClean="0">
                <a:solidFill>
                  <a:schemeClr val="bg1"/>
                </a:solidFill>
              </a:rPr>
              <a:t>6.  PBOM</a:t>
            </a:r>
            <a:r>
              <a:rPr lang="zh-CN" altLang="en-US" sz="2800" b="1" smtClean="0">
                <a:solidFill>
                  <a:schemeClr val="bg1"/>
                </a:solidFill>
              </a:rPr>
              <a:t>设计管理</a:t>
            </a:r>
            <a:endParaRPr lang="en-US" altLang="zh-CN" sz="2800" b="1" smtClean="0">
              <a:solidFill>
                <a:schemeClr val="bg1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基于</a:t>
            </a:r>
            <a:r>
              <a:rPr lang="en-US" altLang="zh-CN" b="1" smtClean="0">
                <a:solidFill>
                  <a:srgbClr val="FFFF00"/>
                </a:solidFill>
              </a:rPr>
              <a:t>EBOM</a:t>
            </a:r>
            <a:r>
              <a:rPr lang="zh-CN" altLang="en-US" b="1" smtClean="0">
                <a:solidFill>
                  <a:srgbClr val="FFFF00"/>
                </a:solidFill>
              </a:rPr>
              <a:t>创建</a:t>
            </a:r>
            <a:r>
              <a:rPr lang="en-US" altLang="zh-CN" b="1" smtClean="0">
                <a:solidFill>
                  <a:srgbClr val="FFFF00"/>
                </a:solidFill>
              </a:rPr>
              <a:t>PBOM</a:t>
            </a: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b="1" smtClean="0">
                <a:solidFill>
                  <a:srgbClr val="FFFF00"/>
                </a:solidFill>
              </a:rPr>
              <a:t>PBOM</a:t>
            </a:r>
            <a:r>
              <a:rPr lang="zh-CN" altLang="en-US" b="1" smtClean="0">
                <a:solidFill>
                  <a:srgbClr val="FFFF00"/>
                </a:solidFill>
              </a:rPr>
              <a:t>详细设计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基于</a:t>
            </a:r>
            <a:r>
              <a:rPr lang="en-US" altLang="zh-CN" b="1" smtClean="0">
                <a:solidFill>
                  <a:srgbClr val="FFFF00"/>
                </a:solidFill>
              </a:rPr>
              <a:t>PBOM</a:t>
            </a:r>
            <a:r>
              <a:rPr lang="zh-CN" altLang="en-US" b="1" smtClean="0">
                <a:solidFill>
                  <a:srgbClr val="FFFF00"/>
                </a:solidFill>
              </a:rPr>
              <a:t>录入工艺路线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b="1" smtClean="0">
                <a:solidFill>
                  <a:srgbClr val="FFFF00"/>
                </a:solidFill>
              </a:rPr>
              <a:t>PBOM</a:t>
            </a:r>
            <a:r>
              <a:rPr lang="zh-CN" altLang="en-US" b="1" smtClean="0">
                <a:solidFill>
                  <a:srgbClr val="FFFF00"/>
                </a:solidFill>
              </a:rPr>
              <a:t>导入</a:t>
            </a:r>
            <a:r>
              <a:rPr lang="en-US" altLang="zh-CN" b="1" smtClean="0">
                <a:solidFill>
                  <a:srgbClr val="FFFF00"/>
                </a:solidFill>
              </a:rPr>
              <a:t>CAPP</a:t>
            </a:r>
          </a:p>
        </p:txBody>
      </p:sp>
    </p:spTree>
    <p:extLst>
      <p:ext uri="{BB962C8B-B14F-4D97-AF65-F5344CB8AC3E}">
        <p14:creationId xmlns:p14="http://schemas.microsoft.com/office/powerpoint/2010/main" val="220561783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6. PBOM</a:t>
            </a:r>
            <a:r>
              <a:rPr lang="zh-CN" altLang="en-US" smtClean="0"/>
              <a:t>设计管理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未来在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Windchill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平台中实现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PBOM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设计管理，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PBOM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设计涉及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以下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业务：</a:t>
            </a:r>
          </a:p>
          <a:p>
            <a:pPr lvl="1"/>
            <a:r>
              <a:rPr lang="zh-CN" altLang="zh-CN" b="1">
                <a:solidFill>
                  <a:srgbClr val="0070C0"/>
                </a:solidFill>
              </a:rPr>
              <a:t>基于</a:t>
            </a:r>
            <a:r>
              <a:rPr lang="en-US" altLang="zh-CN" b="1">
                <a:solidFill>
                  <a:srgbClr val="0070C0"/>
                </a:solidFill>
              </a:rPr>
              <a:t>EBOM</a:t>
            </a:r>
            <a:r>
              <a:rPr lang="zh-CN" altLang="zh-CN" b="1">
                <a:solidFill>
                  <a:srgbClr val="0070C0"/>
                </a:solidFill>
              </a:rPr>
              <a:t>创建</a:t>
            </a:r>
            <a:r>
              <a:rPr lang="en-US" altLang="zh-CN" b="1">
                <a:solidFill>
                  <a:srgbClr val="0070C0"/>
                </a:solidFill>
              </a:rPr>
              <a:t>PBOM</a:t>
            </a:r>
            <a:endParaRPr lang="zh-CN" altLang="zh-CN" b="1">
              <a:solidFill>
                <a:srgbClr val="0070C0"/>
              </a:solidFill>
            </a:endParaRPr>
          </a:p>
          <a:p>
            <a:pPr lvl="1"/>
            <a:r>
              <a:rPr lang="en-US" altLang="zh-CN" b="1">
                <a:solidFill>
                  <a:srgbClr val="0070C0"/>
                </a:solidFill>
              </a:rPr>
              <a:t>PBOM</a:t>
            </a:r>
            <a:r>
              <a:rPr lang="zh-CN" altLang="zh-CN" b="1">
                <a:solidFill>
                  <a:srgbClr val="0070C0"/>
                </a:solidFill>
              </a:rPr>
              <a:t>详细设计</a:t>
            </a:r>
          </a:p>
          <a:p>
            <a:pPr lvl="1"/>
            <a:r>
              <a:rPr lang="zh-CN" altLang="zh-CN" b="1">
                <a:solidFill>
                  <a:srgbClr val="0070C0"/>
                </a:solidFill>
              </a:rPr>
              <a:t>基于</a:t>
            </a:r>
            <a:r>
              <a:rPr lang="en-US" altLang="zh-CN" b="1">
                <a:solidFill>
                  <a:srgbClr val="0070C0"/>
                </a:solidFill>
              </a:rPr>
              <a:t>PBOM</a:t>
            </a:r>
            <a:r>
              <a:rPr lang="zh-CN" altLang="zh-CN" b="1">
                <a:solidFill>
                  <a:srgbClr val="0070C0"/>
                </a:solidFill>
              </a:rPr>
              <a:t>的工艺任务</a:t>
            </a:r>
            <a:r>
              <a:rPr lang="zh-CN" altLang="zh-CN" b="1" smtClean="0">
                <a:solidFill>
                  <a:srgbClr val="0070C0"/>
                </a:solidFill>
              </a:rPr>
              <a:t>分工</a:t>
            </a:r>
            <a:r>
              <a:rPr lang="zh-CN" altLang="en-US"/>
              <a:t>（</a:t>
            </a:r>
            <a:r>
              <a:rPr lang="zh-CN" altLang="en-US" b="1" smtClean="0">
                <a:solidFill>
                  <a:srgbClr val="0070C0"/>
                </a:solidFill>
              </a:rPr>
              <a:t>工艺任务分工管理章节详述</a:t>
            </a:r>
            <a:r>
              <a:rPr lang="zh-CN" altLang="en-US"/>
              <a:t>）</a:t>
            </a:r>
            <a:endParaRPr lang="zh-CN" altLang="zh-CN" b="1" smtClean="0">
              <a:solidFill>
                <a:srgbClr val="0070C0"/>
              </a:solidFill>
            </a:endParaRPr>
          </a:p>
          <a:p>
            <a:pPr lvl="1"/>
            <a:r>
              <a:rPr lang="zh-CN" altLang="zh-CN" b="1" smtClean="0">
                <a:solidFill>
                  <a:srgbClr val="0070C0"/>
                </a:solidFill>
              </a:rPr>
              <a:t>基于</a:t>
            </a:r>
            <a:r>
              <a:rPr lang="en-US" altLang="zh-CN" b="1" smtClean="0">
                <a:solidFill>
                  <a:srgbClr val="0070C0"/>
                </a:solidFill>
              </a:rPr>
              <a:t>PBOM</a:t>
            </a:r>
            <a:r>
              <a:rPr lang="zh-CN" altLang="zh-CN" b="1" smtClean="0">
                <a:solidFill>
                  <a:srgbClr val="0070C0"/>
                </a:solidFill>
              </a:rPr>
              <a:t>录入工艺路线</a:t>
            </a:r>
          </a:p>
          <a:p>
            <a:pPr lvl="1"/>
            <a:r>
              <a:rPr lang="en-US" altLang="zh-CN" b="1" smtClean="0">
                <a:solidFill>
                  <a:srgbClr val="0070C0"/>
                </a:solidFill>
              </a:rPr>
              <a:t>PBOM</a:t>
            </a:r>
            <a:r>
              <a:rPr lang="zh-CN" altLang="zh-CN" b="1">
                <a:solidFill>
                  <a:srgbClr val="0070C0"/>
                </a:solidFill>
              </a:rPr>
              <a:t>导入</a:t>
            </a:r>
            <a:r>
              <a:rPr lang="en-US" altLang="zh-CN" b="1" smtClean="0">
                <a:solidFill>
                  <a:srgbClr val="0070C0"/>
                </a:solidFill>
              </a:rPr>
              <a:t>CAPP</a:t>
            </a:r>
          </a:p>
          <a:p>
            <a:pPr marL="0" indent="0">
              <a:buNone/>
            </a:pP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原则上，应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以</a:t>
            </a:r>
            <a:r>
              <a:rPr lang="zh-CN" altLang="zh-CN" smtClean="0">
                <a:solidFill>
                  <a:srgbClr val="00B050"/>
                </a:solidFill>
              </a:rPr>
              <a:t>成</a:t>
            </a:r>
            <a:r>
              <a:rPr lang="zh-CN" altLang="zh-CN">
                <a:solidFill>
                  <a:srgbClr val="00B050"/>
                </a:solidFill>
              </a:rPr>
              <a:t>套件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为最小结构单元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开展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PBOM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设计。</a:t>
            </a:r>
            <a:endParaRPr lang="zh-CN" altLang="zh-CN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9866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6. PBOM</a:t>
            </a:r>
            <a:r>
              <a:rPr lang="zh-CN" altLang="en-US" smtClean="0"/>
              <a:t>设计管理：</a:t>
            </a:r>
            <a:r>
              <a:rPr lang="zh-CN" altLang="en-US" smtClean="0">
                <a:solidFill>
                  <a:srgbClr val="FFFF00"/>
                </a:solidFill>
              </a:rPr>
              <a:t>基于</a:t>
            </a:r>
            <a:r>
              <a:rPr lang="en-US" altLang="zh-CN" smtClean="0">
                <a:solidFill>
                  <a:srgbClr val="FFFF00"/>
                </a:solidFill>
              </a:rPr>
              <a:t>EBOM</a:t>
            </a:r>
            <a:r>
              <a:rPr lang="zh-CN" altLang="en-US" smtClean="0">
                <a:solidFill>
                  <a:srgbClr val="FFFF00"/>
                </a:solidFill>
              </a:rPr>
              <a:t>创建</a:t>
            </a:r>
            <a:r>
              <a:rPr lang="en-US" altLang="zh-CN" smtClean="0">
                <a:solidFill>
                  <a:srgbClr val="FFFF00"/>
                </a:solidFill>
              </a:rPr>
              <a:t>PBOM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51"/>
          <p:cNvSpPr>
            <a:spLocks noChangeArrowheads="1"/>
          </p:cNvSpPr>
          <p:nvPr/>
        </p:nvSpPr>
        <p:spPr bwMode="auto">
          <a:xfrm>
            <a:off x="272480" y="1936825"/>
            <a:ext cx="1380234" cy="419100"/>
          </a:xfrm>
          <a:prstGeom prst="rect">
            <a:avLst/>
          </a:prstGeom>
          <a:solidFill>
            <a:srgbClr val="00B050"/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EBOM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创建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272480" y="263785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详细设计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6" name="Rectangle 53"/>
          <p:cNvSpPr>
            <a:spLocks noChangeArrowheads="1"/>
          </p:cNvSpPr>
          <p:nvPr/>
        </p:nvSpPr>
        <p:spPr bwMode="auto">
          <a:xfrm>
            <a:off x="272480" y="336428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工艺任务分工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817688" y="1125538"/>
            <a:ext cx="0" cy="5549900"/>
          </a:xfrm>
          <a:prstGeom prst="line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AutoShape 48"/>
          <p:cNvSpPr>
            <a:spLocks noChangeArrowheads="1"/>
          </p:cNvSpPr>
          <p:nvPr/>
        </p:nvSpPr>
        <p:spPr bwMode="auto">
          <a:xfrm>
            <a:off x="344488" y="1431851"/>
            <a:ext cx="1223962" cy="431800"/>
          </a:xfrm>
          <a:prstGeom prst="roundRect">
            <a:avLst>
              <a:gd name="adj" fmla="val 2236"/>
            </a:avLst>
          </a:prstGeom>
          <a:gradFill rotWithShape="1">
            <a:gsLst>
              <a:gs pos="0">
                <a:srgbClr val="DFE5ED"/>
              </a:gs>
              <a:gs pos="100000">
                <a:srgbClr val="FFFFFF"/>
              </a:gs>
            </a:gsLst>
            <a:lin ang="0" scaled="1"/>
          </a:gradFill>
          <a:ln w="19050">
            <a:solidFill>
              <a:srgbClr val="40637A"/>
            </a:solidFill>
            <a:round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b="1" kern="0" smtClean="0">
                <a:solidFill>
                  <a:sysClr val="windowText" lastClr="000000"/>
                </a:solidFill>
              </a:rPr>
              <a:t>主任工艺师</a:t>
            </a:r>
            <a:endParaRPr kumimoji="0" lang="en-US" sz="1400" b="1" kern="0" dirty="0">
              <a:solidFill>
                <a:sysClr val="windowText" lastClr="000000"/>
              </a:solidFill>
            </a:endParaRPr>
          </a:p>
        </p:txBody>
      </p:sp>
      <p:pic>
        <p:nvPicPr>
          <p:cNvPr id="10" name="Picture 10" descr="D:\User Profiles\mtoolan.PTCNET\Local Settings\Temporary Internet Files\Content.IE5\EIABBXDZ\MCj0433942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069" y="836042"/>
            <a:ext cx="595561" cy="595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53"/>
          <p:cNvSpPr>
            <a:spLocks noChangeArrowheads="1"/>
          </p:cNvSpPr>
          <p:nvPr/>
        </p:nvSpPr>
        <p:spPr bwMode="auto">
          <a:xfrm>
            <a:off x="272480" y="4115892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录入工艺路线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2" name="Rectangle 53"/>
          <p:cNvSpPr>
            <a:spLocks noChangeArrowheads="1"/>
          </p:cNvSpPr>
          <p:nvPr/>
        </p:nvSpPr>
        <p:spPr bwMode="auto">
          <a:xfrm>
            <a:off x="275733" y="4835972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导入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CAPP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275733" y="552462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签</a:t>
            </a:r>
            <a:r>
              <a:rPr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审流程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864171" y="2381249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864171" y="3107393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864171" y="385928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864171" y="457936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864171" y="5268020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016299" y="1378226"/>
            <a:ext cx="8568952" cy="4876696"/>
          </a:xfrm>
        </p:spPr>
        <p:txBody>
          <a:bodyPr/>
          <a:lstStyle/>
          <a:p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在工艺会签通过后方可基于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EBOM</a:t>
            </a:r>
            <a:r>
              <a:rPr lang="zh-CN" altLang="en-US" sz="1800">
                <a:solidFill>
                  <a:schemeClr val="accent5">
                    <a:lumMod val="50000"/>
                  </a:schemeClr>
                </a:solidFill>
              </a:rPr>
              <a:t>创建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PBOM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，继承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EBOM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零部件属性。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在Windchill中使用视图来区别EBOM和PBOM，EBOM中零部件对象的版本属性后都带有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“Design”</a:t>
            </a: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标识，PBOM中零部件对象的版本属性中带有“Manufacturing”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标识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zh-CN" altLang="en-US" sz="180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4" name="图片 2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223" y="3304739"/>
            <a:ext cx="3834508" cy="331144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pic>
        <p:nvPicPr>
          <p:cNvPr id="25" name="图片 2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747" y="3305026"/>
            <a:ext cx="3960440" cy="331115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pic>
        <p:nvPicPr>
          <p:cNvPr id="27" name="图片 2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777" y="3459247"/>
            <a:ext cx="8419076" cy="3088904"/>
          </a:xfrm>
          <a:prstGeom prst="rect">
            <a:avLst/>
          </a:prstGeom>
          <a:noFill/>
        </p:spPr>
      </p:pic>
      <p:sp>
        <p:nvSpPr>
          <p:cNvPr id="28" name="TextBox 27"/>
          <p:cNvSpPr txBox="1"/>
          <p:nvPr/>
        </p:nvSpPr>
        <p:spPr>
          <a:xfrm>
            <a:off x="2880395" y="5584382"/>
            <a:ext cx="2376264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/>
              <a:t>选中成套件Part</a:t>
            </a:r>
            <a:r>
              <a:rPr lang="en-US" altLang="zh-CN" smtClean="0"/>
              <a:t>，“</a:t>
            </a:r>
            <a:r>
              <a:rPr lang="en-US" altLang="zh-CN"/>
              <a:t>在制造产品结构浏览器中打开”</a:t>
            </a:r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6984851" y="5584366"/>
            <a:ext cx="237626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mtClean="0"/>
              <a:t>新建下游视图，产生</a:t>
            </a:r>
            <a:r>
              <a:rPr lang="en-US" altLang="zh-CN" smtClean="0"/>
              <a:t>PBOM</a:t>
            </a:r>
            <a:endParaRPr lang="zh-CN" altLang="en-US"/>
          </a:p>
        </p:txBody>
      </p:sp>
      <p:pic>
        <p:nvPicPr>
          <p:cNvPr id="30" name="图片 29"/>
          <p:cNvPicPr/>
          <p:nvPr/>
        </p:nvPicPr>
        <p:blipFill>
          <a:blip r:embed="rId6"/>
          <a:stretch>
            <a:fillRect/>
          </a:stretch>
        </p:blipFill>
        <p:spPr>
          <a:xfrm>
            <a:off x="2736379" y="4025296"/>
            <a:ext cx="7128792" cy="1558928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2736379" y="3988649"/>
            <a:ext cx="717007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/>
              <a:t>传播选择“是”，则直接将成套件EBOM结构完全复制形成PBOM结构，如果选“否”则只在Manufacturing视图中创建成套件Part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71134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9" grpId="0" animBg="1"/>
      <p:bldP spid="29" grpId="1" animBg="1"/>
      <p:bldP spid="31" grpId="0" animBg="1"/>
      <p:bldP spid="31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6. PBOM</a:t>
            </a:r>
            <a:r>
              <a:rPr lang="zh-CN" altLang="en-US" smtClean="0"/>
              <a:t>设计管理：</a:t>
            </a:r>
            <a:r>
              <a:rPr lang="zh-CN" altLang="en-US" smtClean="0">
                <a:solidFill>
                  <a:srgbClr val="FFFF00"/>
                </a:solidFill>
              </a:rPr>
              <a:t>基于</a:t>
            </a:r>
            <a:r>
              <a:rPr lang="en-US" altLang="zh-CN" smtClean="0">
                <a:solidFill>
                  <a:srgbClr val="FFFF00"/>
                </a:solidFill>
              </a:rPr>
              <a:t>EBOM</a:t>
            </a:r>
            <a:r>
              <a:rPr lang="zh-CN" altLang="en-US" smtClean="0">
                <a:solidFill>
                  <a:srgbClr val="FFFF00"/>
                </a:solidFill>
              </a:rPr>
              <a:t>创建</a:t>
            </a:r>
            <a:r>
              <a:rPr lang="en-US" altLang="zh-CN" smtClean="0">
                <a:solidFill>
                  <a:srgbClr val="FFFF00"/>
                </a:solidFill>
              </a:rPr>
              <a:t>PBOM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51"/>
          <p:cNvSpPr>
            <a:spLocks noChangeArrowheads="1"/>
          </p:cNvSpPr>
          <p:nvPr/>
        </p:nvSpPr>
        <p:spPr bwMode="auto">
          <a:xfrm>
            <a:off x="272480" y="1936825"/>
            <a:ext cx="1380234" cy="419100"/>
          </a:xfrm>
          <a:prstGeom prst="rect">
            <a:avLst/>
          </a:prstGeom>
          <a:solidFill>
            <a:srgbClr val="00B050"/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EBOM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创建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272480" y="263785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详细设计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6" name="Rectangle 53"/>
          <p:cNvSpPr>
            <a:spLocks noChangeArrowheads="1"/>
          </p:cNvSpPr>
          <p:nvPr/>
        </p:nvSpPr>
        <p:spPr bwMode="auto">
          <a:xfrm>
            <a:off x="272480" y="336428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工艺任务分工</a:t>
            </a:r>
            <a:endParaRPr lang="en-US" altLang="zh-CN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817688" y="1125538"/>
            <a:ext cx="0" cy="5549900"/>
          </a:xfrm>
          <a:prstGeom prst="line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AutoShape 48"/>
          <p:cNvSpPr>
            <a:spLocks noChangeArrowheads="1"/>
          </p:cNvSpPr>
          <p:nvPr/>
        </p:nvSpPr>
        <p:spPr bwMode="auto">
          <a:xfrm>
            <a:off x="344488" y="1431851"/>
            <a:ext cx="1223962" cy="431800"/>
          </a:xfrm>
          <a:prstGeom prst="roundRect">
            <a:avLst>
              <a:gd name="adj" fmla="val 2236"/>
            </a:avLst>
          </a:prstGeom>
          <a:gradFill rotWithShape="1">
            <a:gsLst>
              <a:gs pos="0">
                <a:srgbClr val="DFE5ED"/>
              </a:gs>
              <a:gs pos="100000">
                <a:srgbClr val="FFFFFF"/>
              </a:gs>
            </a:gsLst>
            <a:lin ang="0" scaled="1"/>
          </a:gradFill>
          <a:ln w="19050">
            <a:solidFill>
              <a:srgbClr val="40637A"/>
            </a:solidFill>
            <a:round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b="1" kern="0" smtClean="0">
                <a:solidFill>
                  <a:sysClr val="windowText" lastClr="000000"/>
                </a:solidFill>
              </a:rPr>
              <a:t>主任工艺师</a:t>
            </a:r>
            <a:endParaRPr kumimoji="0" lang="en-US" sz="1400" b="1" kern="0" dirty="0">
              <a:solidFill>
                <a:sysClr val="windowText" lastClr="000000"/>
              </a:solidFill>
            </a:endParaRPr>
          </a:p>
        </p:txBody>
      </p:sp>
      <p:pic>
        <p:nvPicPr>
          <p:cNvPr id="10" name="Picture 10" descr="D:\User Profiles\mtoolan.PTCNET\Local Settings\Temporary Internet Files\Content.IE5\EIABBXDZ\MCj0433942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069" y="836042"/>
            <a:ext cx="595561" cy="595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53"/>
          <p:cNvSpPr>
            <a:spLocks noChangeArrowheads="1"/>
          </p:cNvSpPr>
          <p:nvPr/>
        </p:nvSpPr>
        <p:spPr bwMode="auto">
          <a:xfrm>
            <a:off x="272480" y="4115892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录入工艺路线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2" name="Rectangle 53"/>
          <p:cNvSpPr>
            <a:spLocks noChangeArrowheads="1"/>
          </p:cNvSpPr>
          <p:nvPr/>
        </p:nvSpPr>
        <p:spPr bwMode="auto">
          <a:xfrm>
            <a:off x="275733" y="4835972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导入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CAPP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275733" y="552462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签</a:t>
            </a:r>
            <a:r>
              <a:rPr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审流程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864171" y="2381249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864171" y="3107393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864171" y="385928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864171" y="457936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864171" y="5268020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016299" y="1364974"/>
            <a:ext cx="8136904" cy="4889948"/>
          </a:xfrm>
        </p:spPr>
        <p:txBody>
          <a:bodyPr/>
          <a:lstStyle/>
          <a:p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基于全三维模型的可视化进行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PBOM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创建：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sz="1600" b="1" smtClean="0">
                <a:solidFill>
                  <a:srgbClr val="0070C0"/>
                </a:solidFill>
              </a:rPr>
              <a:t>基于三维模型的可视化不允许批量转</a:t>
            </a:r>
            <a:r>
              <a:rPr lang="en-US" altLang="zh-CN" sz="1600" b="1" smtClean="0">
                <a:solidFill>
                  <a:srgbClr val="0070C0"/>
                </a:solidFill>
              </a:rPr>
              <a:t>PBOM</a:t>
            </a:r>
            <a:r>
              <a:rPr lang="zh-CN" altLang="en-US" sz="1600" b="1" smtClean="0">
                <a:solidFill>
                  <a:srgbClr val="0070C0"/>
                </a:solidFill>
              </a:rPr>
              <a:t>的标准件，否则无法拆分标准件数量</a:t>
            </a:r>
            <a:endParaRPr lang="en-US" altLang="zh-CN" sz="1600" b="1" smtClean="0">
              <a:solidFill>
                <a:srgbClr val="0070C0"/>
              </a:solidFill>
            </a:endParaRPr>
          </a:p>
          <a:p>
            <a:pPr lvl="1"/>
            <a:r>
              <a:rPr lang="zh-CN" altLang="en-US" sz="1600" b="1" smtClean="0">
                <a:solidFill>
                  <a:srgbClr val="0070C0"/>
                </a:solidFill>
              </a:rPr>
              <a:t>通过在</a:t>
            </a:r>
            <a:r>
              <a:rPr lang="en-US" altLang="zh-CN" sz="1600" b="1" smtClean="0">
                <a:solidFill>
                  <a:srgbClr val="0070C0"/>
                </a:solidFill>
              </a:rPr>
              <a:t>CreoView</a:t>
            </a:r>
            <a:r>
              <a:rPr lang="zh-CN" altLang="en-US" sz="1600" b="1" smtClean="0">
                <a:solidFill>
                  <a:srgbClr val="0070C0"/>
                </a:solidFill>
              </a:rPr>
              <a:t>中查看</a:t>
            </a:r>
            <a:r>
              <a:rPr lang="en-US" altLang="zh-CN" sz="1600" b="1" smtClean="0">
                <a:solidFill>
                  <a:srgbClr val="0070C0"/>
                </a:solidFill>
              </a:rPr>
              <a:t>EBOM</a:t>
            </a:r>
            <a:r>
              <a:rPr lang="zh-CN" altLang="en-US" sz="1600" b="1" smtClean="0">
                <a:solidFill>
                  <a:srgbClr val="0070C0"/>
                </a:solidFill>
              </a:rPr>
              <a:t>三维可视化，进行复制粘贴到</a:t>
            </a:r>
            <a:r>
              <a:rPr lang="en-US" altLang="zh-CN" sz="1600" b="1" smtClean="0">
                <a:solidFill>
                  <a:srgbClr val="0070C0"/>
                </a:solidFill>
              </a:rPr>
              <a:t>PBOM</a:t>
            </a:r>
            <a:r>
              <a:rPr lang="zh-CN" altLang="en-US" sz="1600" b="1" smtClean="0">
                <a:solidFill>
                  <a:srgbClr val="0070C0"/>
                </a:solidFill>
              </a:rPr>
              <a:t>中的方式拆分标准件数量</a:t>
            </a:r>
            <a:endParaRPr lang="zh-CN" altLang="en-US" sz="1600" b="1">
              <a:solidFill>
                <a:srgbClr val="0070C0"/>
              </a:solidFill>
            </a:endParaRPr>
          </a:p>
        </p:txBody>
      </p:sp>
      <p:pic>
        <p:nvPicPr>
          <p:cNvPr id="32" name="图片 3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915" y="3374382"/>
            <a:ext cx="5472608" cy="280974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pic>
        <p:nvPicPr>
          <p:cNvPr id="33" name="图片 3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43" y="3355719"/>
            <a:ext cx="5472608" cy="280974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pic>
        <p:nvPicPr>
          <p:cNvPr id="34" name="图片 33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587" y="3355719"/>
            <a:ext cx="5904656" cy="280974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86732419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6. PBOM</a:t>
            </a:r>
            <a:r>
              <a:rPr lang="zh-CN" altLang="en-US" smtClean="0"/>
              <a:t>设计管理：</a:t>
            </a:r>
            <a:r>
              <a:rPr lang="en-US" altLang="zh-CN" smtClean="0">
                <a:solidFill>
                  <a:srgbClr val="FFFF00"/>
                </a:solidFill>
              </a:rPr>
              <a:t>PBOM</a:t>
            </a:r>
            <a:r>
              <a:rPr lang="zh-CN" altLang="en-US" smtClean="0">
                <a:solidFill>
                  <a:srgbClr val="FFFF00"/>
                </a:solidFill>
              </a:rPr>
              <a:t>详细设计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51"/>
          <p:cNvSpPr>
            <a:spLocks noChangeArrowheads="1"/>
          </p:cNvSpPr>
          <p:nvPr/>
        </p:nvSpPr>
        <p:spPr bwMode="auto">
          <a:xfrm>
            <a:off x="272480" y="1936825"/>
            <a:ext cx="1380234" cy="4191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EBOM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创建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endParaRPr lang="en-US" altLang="zh-CN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272480" y="2637855"/>
            <a:ext cx="1380234" cy="444500"/>
          </a:xfrm>
          <a:prstGeom prst="rect">
            <a:avLst/>
          </a:prstGeom>
          <a:solidFill>
            <a:srgbClr val="00B050"/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详细设计</a:t>
            </a:r>
            <a:endParaRPr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6" name="Rectangle 53"/>
          <p:cNvSpPr>
            <a:spLocks noChangeArrowheads="1"/>
          </p:cNvSpPr>
          <p:nvPr/>
        </p:nvSpPr>
        <p:spPr bwMode="auto">
          <a:xfrm>
            <a:off x="272480" y="336428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工艺任务分工</a:t>
            </a:r>
            <a:endParaRPr lang="en-US" altLang="zh-CN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817688" y="1125538"/>
            <a:ext cx="0" cy="5549900"/>
          </a:xfrm>
          <a:prstGeom prst="line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AutoShape 48"/>
          <p:cNvSpPr>
            <a:spLocks noChangeArrowheads="1"/>
          </p:cNvSpPr>
          <p:nvPr/>
        </p:nvSpPr>
        <p:spPr bwMode="auto">
          <a:xfrm>
            <a:off x="344488" y="1431851"/>
            <a:ext cx="1223962" cy="431800"/>
          </a:xfrm>
          <a:prstGeom prst="roundRect">
            <a:avLst>
              <a:gd name="adj" fmla="val 2236"/>
            </a:avLst>
          </a:prstGeom>
          <a:gradFill rotWithShape="1">
            <a:gsLst>
              <a:gs pos="0">
                <a:srgbClr val="DFE5ED"/>
              </a:gs>
              <a:gs pos="100000">
                <a:srgbClr val="FFFFFF"/>
              </a:gs>
            </a:gsLst>
            <a:lin ang="0" scaled="1"/>
          </a:gradFill>
          <a:ln w="19050">
            <a:solidFill>
              <a:srgbClr val="40637A"/>
            </a:solidFill>
            <a:round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b="1" kern="0" smtClean="0">
                <a:solidFill>
                  <a:sysClr val="windowText" lastClr="000000"/>
                </a:solidFill>
              </a:rPr>
              <a:t>主任工艺师</a:t>
            </a:r>
            <a:endParaRPr kumimoji="0" lang="en-US" sz="1400" b="1" kern="0" dirty="0">
              <a:solidFill>
                <a:sysClr val="windowText" lastClr="000000"/>
              </a:solidFill>
            </a:endParaRPr>
          </a:p>
        </p:txBody>
      </p:sp>
      <p:pic>
        <p:nvPicPr>
          <p:cNvPr id="10" name="Picture 10" descr="D:\User Profiles\mtoolan.PTCNET\Local Settings\Temporary Internet Files\Content.IE5\EIABBXDZ\MCj0433942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069" y="836042"/>
            <a:ext cx="595561" cy="595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53"/>
          <p:cNvSpPr>
            <a:spLocks noChangeArrowheads="1"/>
          </p:cNvSpPr>
          <p:nvPr/>
        </p:nvSpPr>
        <p:spPr bwMode="auto">
          <a:xfrm>
            <a:off x="272480" y="4115892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录入工艺路线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2" name="Rectangle 53"/>
          <p:cNvSpPr>
            <a:spLocks noChangeArrowheads="1"/>
          </p:cNvSpPr>
          <p:nvPr/>
        </p:nvSpPr>
        <p:spPr bwMode="auto">
          <a:xfrm>
            <a:off x="275733" y="4835972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导入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CAPP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275733" y="552462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签</a:t>
            </a:r>
            <a:r>
              <a:rPr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审流程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864171" y="2381249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864171" y="3107393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864171" y="385928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864171" y="457936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864171" y="5268020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016299" y="1311966"/>
            <a:ext cx="7848872" cy="4942956"/>
          </a:xfrm>
        </p:spPr>
        <p:txBody>
          <a:bodyPr/>
          <a:lstStyle/>
          <a:p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PBOM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详细设计内容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包括：</a:t>
            </a:r>
          </a:p>
          <a:p>
            <a:pPr lvl="1"/>
            <a:r>
              <a:rPr lang="zh-CN" altLang="en-US" sz="1600" b="1" smtClean="0">
                <a:solidFill>
                  <a:srgbClr val="0070C0"/>
                </a:solidFill>
              </a:rPr>
              <a:t>根据需要</a:t>
            </a:r>
            <a:r>
              <a:rPr lang="zh-CN" altLang="zh-CN" sz="1600" b="1" smtClean="0">
                <a:solidFill>
                  <a:srgbClr val="0070C0"/>
                </a:solidFill>
              </a:rPr>
              <a:t>创建</a:t>
            </a:r>
            <a:r>
              <a:rPr lang="zh-CN" altLang="zh-CN" sz="1600" b="1">
                <a:solidFill>
                  <a:srgbClr val="0070C0"/>
                </a:solidFill>
              </a:rPr>
              <a:t>工艺组合件，调整</a:t>
            </a:r>
            <a:r>
              <a:rPr lang="en-US" altLang="zh-CN" sz="1600" b="1">
                <a:solidFill>
                  <a:srgbClr val="0070C0"/>
                </a:solidFill>
              </a:rPr>
              <a:t>PBOM</a:t>
            </a:r>
            <a:r>
              <a:rPr lang="zh-CN" altLang="zh-CN" sz="1600" b="1">
                <a:solidFill>
                  <a:srgbClr val="0070C0"/>
                </a:solidFill>
              </a:rPr>
              <a:t>结构</a:t>
            </a:r>
          </a:p>
          <a:p>
            <a:pPr lvl="1"/>
            <a:r>
              <a:rPr lang="zh-CN" altLang="zh-CN" sz="1600" b="1">
                <a:solidFill>
                  <a:srgbClr val="0070C0"/>
                </a:solidFill>
              </a:rPr>
              <a:t>设置</a:t>
            </a:r>
            <a:r>
              <a:rPr lang="en-US" altLang="zh-CN" sz="1600" b="1">
                <a:solidFill>
                  <a:srgbClr val="0070C0"/>
                </a:solidFill>
              </a:rPr>
              <a:t>PBOM</a:t>
            </a:r>
            <a:r>
              <a:rPr lang="zh-CN" altLang="zh-CN" sz="1600" b="1">
                <a:solidFill>
                  <a:srgbClr val="0070C0"/>
                </a:solidFill>
              </a:rPr>
              <a:t>中零部件分类：外</a:t>
            </a:r>
            <a:r>
              <a:rPr lang="zh-CN" altLang="zh-CN" sz="1600" b="1" smtClean="0">
                <a:solidFill>
                  <a:srgbClr val="0070C0"/>
                </a:solidFill>
              </a:rPr>
              <a:t>配套</a:t>
            </a:r>
            <a:r>
              <a:rPr lang="zh-CN" altLang="en-US" sz="1600" b="1" smtClean="0">
                <a:solidFill>
                  <a:srgbClr val="0070C0"/>
                </a:solidFill>
              </a:rPr>
              <a:t>件</a:t>
            </a:r>
            <a:r>
              <a:rPr lang="zh-CN" altLang="zh-CN" sz="1600" b="1" smtClean="0">
                <a:solidFill>
                  <a:srgbClr val="0070C0"/>
                </a:solidFill>
              </a:rPr>
              <a:t>、</a:t>
            </a:r>
            <a:r>
              <a:rPr lang="zh-CN" altLang="zh-CN" sz="1600" b="1">
                <a:solidFill>
                  <a:srgbClr val="0070C0"/>
                </a:solidFill>
              </a:rPr>
              <a:t>带料委</a:t>
            </a:r>
            <a:r>
              <a:rPr lang="zh-CN" altLang="zh-CN" sz="1600" b="1" smtClean="0">
                <a:solidFill>
                  <a:srgbClr val="0070C0"/>
                </a:solidFill>
              </a:rPr>
              <a:t>外</a:t>
            </a:r>
            <a:r>
              <a:rPr lang="zh-CN" altLang="en-US" sz="1600" b="1" smtClean="0">
                <a:solidFill>
                  <a:srgbClr val="0070C0"/>
                </a:solidFill>
              </a:rPr>
              <a:t>件</a:t>
            </a:r>
            <a:r>
              <a:rPr lang="zh-CN" altLang="zh-CN" sz="1600" b="1" smtClean="0">
                <a:solidFill>
                  <a:srgbClr val="0070C0"/>
                </a:solidFill>
              </a:rPr>
              <a:t>、</a:t>
            </a:r>
            <a:r>
              <a:rPr lang="zh-CN" altLang="zh-CN" sz="1600" b="1">
                <a:solidFill>
                  <a:srgbClr val="0070C0"/>
                </a:solidFill>
              </a:rPr>
              <a:t>不带料委</a:t>
            </a:r>
            <a:r>
              <a:rPr lang="zh-CN" altLang="zh-CN" sz="1600" b="1" smtClean="0">
                <a:solidFill>
                  <a:srgbClr val="0070C0"/>
                </a:solidFill>
              </a:rPr>
              <a:t>外</a:t>
            </a:r>
            <a:r>
              <a:rPr lang="zh-CN" altLang="en-US" sz="1600" b="1" smtClean="0">
                <a:solidFill>
                  <a:srgbClr val="0070C0"/>
                </a:solidFill>
              </a:rPr>
              <a:t>件</a:t>
            </a:r>
            <a:r>
              <a:rPr lang="zh-CN" altLang="zh-CN" sz="1600" b="1" smtClean="0">
                <a:solidFill>
                  <a:srgbClr val="0070C0"/>
                </a:solidFill>
              </a:rPr>
              <a:t>、</a:t>
            </a:r>
            <a:r>
              <a:rPr lang="zh-CN" altLang="zh-CN" sz="1600" b="1">
                <a:solidFill>
                  <a:srgbClr val="0070C0"/>
                </a:solidFill>
              </a:rPr>
              <a:t>自</a:t>
            </a:r>
            <a:r>
              <a:rPr lang="zh-CN" altLang="zh-CN" sz="1600" b="1" smtClean="0">
                <a:solidFill>
                  <a:srgbClr val="0070C0"/>
                </a:solidFill>
              </a:rPr>
              <a:t>制</a:t>
            </a:r>
            <a:r>
              <a:rPr lang="zh-CN" altLang="en-US" sz="1600" b="1" smtClean="0">
                <a:solidFill>
                  <a:srgbClr val="0070C0"/>
                </a:solidFill>
              </a:rPr>
              <a:t>件</a:t>
            </a:r>
            <a:endParaRPr lang="en-US" altLang="zh-CN" sz="1600" b="1" smtClean="0">
              <a:solidFill>
                <a:srgbClr val="0070C0"/>
              </a:solidFill>
            </a:endParaRPr>
          </a:p>
          <a:p>
            <a:pPr lvl="1"/>
            <a:r>
              <a:rPr lang="zh-CN" altLang="en-US" sz="1600" smtClean="0"/>
              <a:t>在零件下添加锻件</a:t>
            </a:r>
            <a:r>
              <a:rPr lang="en-US" altLang="zh-CN" sz="1600" smtClean="0"/>
              <a:t>/</a:t>
            </a:r>
            <a:r>
              <a:rPr lang="zh-CN" altLang="en-US" sz="1600" smtClean="0"/>
              <a:t>铸件子节点：图号后加</a:t>
            </a:r>
            <a:r>
              <a:rPr lang="en-US" altLang="zh-CN" sz="1600" smtClean="0"/>
              <a:t>MP</a:t>
            </a:r>
            <a:r>
              <a:rPr lang="zh-CN" altLang="en-US" sz="1600" smtClean="0"/>
              <a:t>；添加工艺中间件：图号后加</a:t>
            </a:r>
            <a:r>
              <a:rPr lang="en-US" altLang="zh-CN" sz="1600"/>
              <a:t>G</a:t>
            </a:r>
            <a:endParaRPr lang="zh-CN" altLang="zh-CN" sz="1600" b="1">
              <a:solidFill>
                <a:srgbClr val="0070C0"/>
              </a:solidFill>
            </a:endParaRPr>
          </a:p>
          <a:p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 sz="180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6" name="图片 2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299" y="3130574"/>
            <a:ext cx="4733925" cy="287655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sp>
        <p:nvSpPr>
          <p:cNvPr id="3" name="矩形 2"/>
          <p:cNvSpPr/>
          <p:nvPr/>
        </p:nvSpPr>
        <p:spPr>
          <a:xfrm>
            <a:off x="2604884" y="3198106"/>
            <a:ext cx="3556753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zh-CN" altLang="zh-CN"/>
              <a:t>“插入新的”：在</a:t>
            </a:r>
            <a:r>
              <a:rPr lang="en-US" altLang="zh-CN"/>
              <a:t>PBOM</a:t>
            </a:r>
            <a:r>
              <a:rPr lang="zh-CN" altLang="zh-CN"/>
              <a:t>上创建新的工艺组合件</a:t>
            </a:r>
            <a:r>
              <a:rPr lang="en-US" altLang="zh-CN"/>
              <a:t>Part</a:t>
            </a:r>
            <a:r>
              <a:rPr lang="zh-CN" altLang="zh-CN"/>
              <a:t>：</a:t>
            </a:r>
          </a:p>
        </p:txBody>
      </p:sp>
      <p:pic>
        <p:nvPicPr>
          <p:cNvPr id="28" name="图片 2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843" y="3155824"/>
            <a:ext cx="3600400" cy="2861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8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299" y="3087787"/>
            <a:ext cx="8640960" cy="292955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426541286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6. PBOM</a:t>
            </a:r>
            <a:r>
              <a:rPr lang="zh-CN" altLang="en-US" smtClean="0"/>
              <a:t>设计管理：</a:t>
            </a:r>
            <a:r>
              <a:rPr lang="zh-CN" altLang="en-US" smtClean="0">
                <a:solidFill>
                  <a:srgbClr val="FFFF00"/>
                </a:solidFill>
              </a:rPr>
              <a:t>基于</a:t>
            </a:r>
            <a:r>
              <a:rPr lang="en-US" altLang="zh-CN" smtClean="0">
                <a:solidFill>
                  <a:srgbClr val="FFFF00"/>
                </a:solidFill>
              </a:rPr>
              <a:t>PBOM</a:t>
            </a:r>
            <a:r>
              <a:rPr lang="zh-CN" altLang="en-US" smtClean="0">
                <a:solidFill>
                  <a:srgbClr val="FFFF00"/>
                </a:solidFill>
              </a:rPr>
              <a:t>工艺任务分工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51"/>
          <p:cNvSpPr>
            <a:spLocks noChangeArrowheads="1"/>
          </p:cNvSpPr>
          <p:nvPr/>
        </p:nvSpPr>
        <p:spPr bwMode="auto">
          <a:xfrm>
            <a:off x="272480" y="1936825"/>
            <a:ext cx="1380234" cy="4191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EBOM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创建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endParaRPr lang="en-US" altLang="zh-CN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272480" y="263785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详细设计</a:t>
            </a:r>
            <a:endParaRPr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6" name="Rectangle 53"/>
          <p:cNvSpPr>
            <a:spLocks noChangeArrowheads="1"/>
          </p:cNvSpPr>
          <p:nvPr/>
        </p:nvSpPr>
        <p:spPr bwMode="auto">
          <a:xfrm>
            <a:off x="272480" y="3364285"/>
            <a:ext cx="1380234" cy="444500"/>
          </a:xfrm>
          <a:prstGeom prst="rect">
            <a:avLst/>
          </a:prstGeom>
          <a:solidFill>
            <a:srgbClr val="00B050"/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工艺任务分工</a:t>
            </a:r>
            <a:endParaRPr lang="en-US" altLang="zh-CN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817688" y="1125538"/>
            <a:ext cx="0" cy="5549900"/>
          </a:xfrm>
          <a:prstGeom prst="line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AutoShape 48"/>
          <p:cNvSpPr>
            <a:spLocks noChangeArrowheads="1"/>
          </p:cNvSpPr>
          <p:nvPr/>
        </p:nvSpPr>
        <p:spPr bwMode="auto">
          <a:xfrm>
            <a:off x="344488" y="1431851"/>
            <a:ext cx="1223962" cy="431800"/>
          </a:xfrm>
          <a:prstGeom prst="roundRect">
            <a:avLst>
              <a:gd name="adj" fmla="val 2236"/>
            </a:avLst>
          </a:prstGeom>
          <a:gradFill rotWithShape="1">
            <a:gsLst>
              <a:gs pos="0">
                <a:srgbClr val="DFE5ED"/>
              </a:gs>
              <a:gs pos="100000">
                <a:srgbClr val="FFFFFF"/>
              </a:gs>
            </a:gsLst>
            <a:lin ang="0" scaled="1"/>
          </a:gradFill>
          <a:ln w="19050">
            <a:solidFill>
              <a:srgbClr val="40637A"/>
            </a:solidFill>
            <a:round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b="1" kern="0" smtClean="0">
                <a:solidFill>
                  <a:sysClr val="windowText" lastClr="000000"/>
                </a:solidFill>
              </a:rPr>
              <a:t>主任工艺师</a:t>
            </a:r>
            <a:endParaRPr kumimoji="0" lang="en-US" sz="1400" b="1" kern="0" dirty="0">
              <a:solidFill>
                <a:sysClr val="windowText" lastClr="000000"/>
              </a:solidFill>
            </a:endParaRPr>
          </a:p>
        </p:txBody>
      </p:sp>
      <p:pic>
        <p:nvPicPr>
          <p:cNvPr id="10" name="Picture 10" descr="D:\User Profiles\mtoolan.PTCNET\Local Settings\Temporary Internet Files\Content.IE5\EIABBXDZ\MCj0433942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069" y="836042"/>
            <a:ext cx="595561" cy="595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53"/>
          <p:cNvSpPr>
            <a:spLocks noChangeArrowheads="1"/>
          </p:cNvSpPr>
          <p:nvPr/>
        </p:nvSpPr>
        <p:spPr bwMode="auto">
          <a:xfrm>
            <a:off x="272480" y="4115892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录入工艺路线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2" name="Rectangle 53"/>
          <p:cNvSpPr>
            <a:spLocks noChangeArrowheads="1"/>
          </p:cNvSpPr>
          <p:nvPr/>
        </p:nvSpPr>
        <p:spPr bwMode="auto">
          <a:xfrm>
            <a:off x="275733" y="4835972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导入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CAPP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275733" y="552462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签</a:t>
            </a:r>
            <a:r>
              <a:rPr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审流程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864171" y="2381249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864171" y="3107393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864171" y="385928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864171" y="457936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864171" y="5268020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016299" y="1311966"/>
            <a:ext cx="7848872" cy="4942956"/>
          </a:xfrm>
        </p:spPr>
        <p:txBody>
          <a:bodyPr/>
          <a:lstStyle/>
          <a:p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主任工艺师可以根据</a:t>
            </a: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PBOM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中定义自制件的主制单位和辅制单位，启动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工艺任务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分工流程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详见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《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工艺任务分工管理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》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章节</a:t>
            </a:r>
            <a:endParaRPr lang="zh-CN" altLang="en-US" sz="180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24282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6. PBOM</a:t>
            </a:r>
            <a:r>
              <a:rPr lang="zh-CN" altLang="en-US" smtClean="0"/>
              <a:t>设计管理：</a:t>
            </a:r>
            <a:r>
              <a:rPr lang="zh-CN" altLang="en-US" smtClean="0">
                <a:solidFill>
                  <a:srgbClr val="FFFF00"/>
                </a:solidFill>
              </a:rPr>
              <a:t>基于</a:t>
            </a:r>
            <a:r>
              <a:rPr lang="en-US" altLang="zh-CN" smtClean="0">
                <a:solidFill>
                  <a:srgbClr val="FFFF00"/>
                </a:solidFill>
              </a:rPr>
              <a:t>PBOM</a:t>
            </a:r>
            <a:r>
              <a:rPr lang="zh-CN" altLang="en-US" smtClean="0">
                <a:solidFill>
                  <a:srgbClr val="FFFF00"/>
                </a:solidFill>
              </a:rPr>
              <a:t>录入工艺路线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51"/>
          <p:cNvSpPr>
            <a:spLocks noChangeArrowheads="1"/>
          </p:cNvSpPr>
          <p:nvPr/>
        </p:nvSpPr>
        <p:spPr bwMode="auto">
          <a:xfrm>
            <a:off x="272480" y="1936825"/>
            <a:ext cx="1380234" cy="4191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EBOM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创建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endParaRPr lang="en-US" altLang="zh-CN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272480" y="263785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详细设计</a:t>
            </a:r>
            <a:endParaRPr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6" name="Rectangle 53"/>
          <p:cNvSpPr>
            <a:spLocks noChangeArrowheads="1"/>
          </p:cNvSpPr>
          <p:nvPr/>
        </p:nvSpPr>
        <p:spPr bwMode="auto">
          <a:xfrm>
            <a:off x="272480" y="336428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工艺任务分工</a:t>
            </a:r>
            <a:endParaRPr lang="en-US" altLang="zh-CN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817688" y="1125538"/>
            <a:ext cx="0" cy="5549900"/>
          </a:xfrm>
          <a:prstGeom prst="line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AutoShape 48"/>
          <p:cNvSpPr>
            <a:spLocks noChangeArrowheads="1"/>
          </p:cNvSpPr>
          <p:nvPr/>
        </p:nvSpPr>
        <p:spPr bwMode="auto">
          <a:xfrm>
            <a:off x="344488" y="1431851"/>
            <a:ext cx="1223962" cy="431800"/>
          </a:xfrm>
          <a:prstGeom prst="roundRect">
            <a:avLst>
              <a:gd name="adj" fmla="val 2236"/>
            </a:avLst>
          </a:prstGeom>
          <a:gradFill rotWithShape="1">
            <a:gsLst>
              <a:gs pos="0">
                <a:srgbClr val="DFE5ED"/>
              </a:gs>
              <a:gs pos="100000">
                <a:srgbClr val="FFFFFF"/>
              </a:gs>
            </a:gsLst>
            <a:lin ang="0" scaled="1"/>
          </a:gradFill>
          <a:ln w="19050">
            <a:solidFill>
              <a:srgbClr val="40637A"/>
            </a:solidFill>
            <a:round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b="1" kern="0" smtClean="0">
                <a:solidFill>
                  <a:sysClr val="windowText" lastClr="000000"/>
                </a:solidFill>
              </a:rPr>
              <a:t>主任工艺师</a:t>
            </a:r>
            <a:endParaRPr kumimoji="0" lang="en-US" sz="1400" b="1" kern="0" dirty="0">
              <a:solidFill>
                <a:sysClr val="windowText" lastClr="000000"/>
              </a:solidFill>
            </a:endParaRPr>
          </a:p>
        </p:txBody>
      </p:sp>
      <p:pic>
        <p:nvPicPr>
          <p:cNvPr id="10" name="Picture 10" descr="D:\User Profiles\mtoolan.PTCNET\Local Settings\Temporary Internet Files\Content.IE5\EIABBXDZ\MCj0433942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069" y="836042"/>
            <a:ext cx="595561" cy="595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53"/>
          <p:cNvSpPr>
            <a:spLocks noChangeArrowheads="1"/>
          </p:cNvSpPr>
          <p:nvPr/>
        </p:nvSpPr>
        <p:spPr bwMode="auto">
          <a:xfrm>
            <a:off x="272480" y="4115892"/>
            <a:ext cx="1380234" cy="444500"/>
          </a:xfrm>
          <a:prstGeom prst="rect">
            <a:avLst/>
          </a:prstGeom>
          <a:solidFill>
            <a:srgbClr val="00B050"/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录入工艺路线</a:t>
            </a:r>
            <a:endParaRPr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2" name="Rectangle 53"/>
          <p:cNvSpPr>
            <a:spLocks noChangeArrowheads="1"/>
          </p:cNvSpPr>
          <p:nvPr/>
        </p:nvSpPr>
        <p:spPr bwMode="auto">
          <a:xfrm>
            <a:off x="275733" y="4835972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导入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CAPP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275733" y="552462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签</a:t>
            </a:r>
            <a:r>
              <a:rPr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审流程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864171" y="2381249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864171" y="3107393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864171" y="385928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864171" y="457936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864171" y="5268020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016299" y="1378226"/>
            <a:ext cx="7848872" cy="4876695"/>
          </a:xfrm>
        </p:spPr>
        <p:txBody>
          <a:bodyPr/>
          <a:lstStyle/>
          <a:p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未来在平台中由</a:t>
            </a:r>
            <a:r>
              <a:rPr lang="zh-CN" altLang="en-US" sz="1800" smtClean="0">
                <a:solidFill>
                  <a:srgbClr val="0070C0"/>
                </a:solidFill>
              </a:rPr>
              <a:t>主任工艺师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对自制件的工艺路线进行录入。平台提供</a:t>
            </a: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“工艺路线定义”操作入口，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可以对自制件进行工艺路线录入并保存</a:t>
            </a: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zh-CN" altLang="en-US" sz="180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4" name="图片 23"/>
          <p:cNvPicPr/>
          <p:nvPr/>
        </p:nvPicPr>
        <p:blipFill>
          <a:blip r:embed="rId3"/>
          <a:stretch>
            <a:fillRect/>
          </a:stretch>
        </p:blipFill>
        <p:spPr>
          <a:xfrm>
            <a:off x="2448347" y="3126056"/>
            <a:ext cx="7632848" cy="1873152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31134190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6. PBOM</a:t>
            </a:r>
            <a:r>
              <a:rPr lang="zh-CN" altLang="en-US" smtClean="0"/>
              <a:t>设计管理：</a:t>
            </a:r>
            <a:r>
              <a:rPr lang="en-US" altLang="zh-CN" smtClean="0">
                <a:solidFill>
                  <a:srgbClr val="FFFF00"/>
                </a:solidFill>
              </a:rPr>
              <a:t>PBOM</a:t>
            </a:r>
            <a:r>
              <a:rPr lang="zh-CN" altLang="en-US" smtClean="0">
                <a:solidFill>
                  <a:srgbClr val="FFFF00"/>
                </a:solidFill>
              </a:rPr>
              <a:t>导入</a:t>
            </a:r>
            <a:r>
              <a:rPr lang="en-US" altLang="zh-CN" smtClean="0">
                <a:solidFill>
                  <a:srgbClr val="FFFF00"/>
                </a:solidFill>
              </a:rPr>
              <a:t>CAPP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51"/>
          <p:cNvSpPr>
            <a:spLocks noChangeArrowheads="1"/>
          </p:cNvSpPr>
          <p:nvPr/>
        </p:nvSpPr>
        <p:spPr bwMode="auto">
          <a:xfrm>
            <a:off x="272480" y="1936825"/>
            <a:ext cx="1380234" cy="4191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EBOM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创建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endParaRPr lang="en-US" altLang="zh-CN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272480" y="263785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详细设计</a:t>
            </a:r>
            <a:endParaRPr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6" name="Rectangle 53"/>
          <p:cNvSpPr>
            <a:spLocks noChangeArrowheads="1"/>
          </p:cNvSpPr>
          <p:nvPr/>
        </p:nvSpPr>
        <p:spPr bwMode="auto">
          <a:xfrm>
            <a:off x="272480" y="336428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工艺任务分工</a:t>
            </a:r>
            <a:endParaRPr lang="en-US" altLang="zh-CN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817688" y="1125538"/>
            <a:ext cx="0" cy="5549900"/>
          </a:xfrm>
          <a:prstGeom prst="line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AutoShape 48"/>
          <p:cNvSpPr>
            <a:spLocks noChangeArrowheads="1"/>
          </p:cNvSpPr>
          <p:nvPr/>
        </p:nvSpPr>
        <p:spPr bwMode="auto">
          <a:xfrm>
            <a:off x="344488" y="1431851"/>
            <a:ext cx="1223962" cy="431800"/>
          </a:xfrm>
          <a:prstGeom prst="roundRect">
            <a:avLst>
              <a:gd name="adj" fmla="val 2236"/>
            </a:avLst>
          </a:prstGeom>
          <a:gradFill rotWithShape="1">
            <a:gsLst>
              <a:gs pos="0">
                <a:srgbClr val="DFE5ED"/>
              </a:gs>
              <a:gs pos="100000">
                <a:srgbClr val="FFFFFF"/>
              </a:gs>
            </a:gsLst>
            <a:lin ang="0" scaled="1"/>
          </a:gradFill>
          <a:ln w="19050">
            <a:solidFill>
              <a:srgbClr val="40637A"/>
            </a:solidFill>
            <a:round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b="1" kern="0" smtClean="0">
                <a:solidFill>
                  <a:sysClr val="windowText" lastClr="000000"/>
                </a:solidFill>
              </a:rPr>
              <a:t>主任工艺师</a:t>
            </a:r>
            <a:endParaRPr kumimoji="0" lang="en-US" sz="1400" b="1" kern="0" dirty="0">
              <a:solidFill>
                <a:sysClr val="windowText" lastClr="000000"/>
              </a:solidFill>
            </a:endParaRPr>
          </a:p>
        </p:txBody>
      </p:sp>
      <p:pic>
        <p:nvPicPr>
          <p:cNvPr id="10" name="Picture 10" descr="D:\User Profiles\mtoolan.PTCNET\Local Settings\Temporary Internet Files\Content.IE5\EIABBXDZ\MCj0433942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069" y="836042"/>
            <a:ext cx="595561" cy="595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53"/>
          <p:cNvSpPr>
            <a:spLocks noChangeArrowheads="1"/>
          </p:cNvSpPr>
          <p:nvPr/>
        </p:nvSpPr>
        <p:spPr bwMode="auto">
          <a:xfrm>
            <a:off x="272480" y="4115892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录入工艺路线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2" name="Rectangle 53"/>
          <p:cNvSpPr>
            <a:spLocks noChangeArrowheads="1"/>
          </p:cNvSpPr>
          <p:nvPr/>
        </p:nvSpPr>
        <p:spPr bwMode="auto">
          <a:xfrm>
            <a:off x="275733" y="4835972"/>
            <a:ext cx="1380234" cy="444500"/>
          </a:xfrm>
          <a:prstGeom prst="rect">
            <a:avLst/>
          </a:prstGeom>
          <a:solidFill>
            <a:srgbClr val="00B050"/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导入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CAPP</a:t>
            </a:r>
            <a:endParaRPr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275733" y="552462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签</a:t>
            </a:r>
            <a:r>
              <a:rPr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审流程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864171" y="2381249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864171" y="3107393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864171" y="385928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864171" y="457936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864171" y="5268020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016299" y="1431602"/>
            <a:ext cx="7848872" cy="4823319"/>
          </a:xfrm>
        </p:spPr>
        <p:txBody>
          <a:bodyPr/>
          <a:lstStyle/>
          <a:p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主任工艺师在成套件PBOM设计完成后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，可以在</a:t>
            </a: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CAPP中通过“</a:t>
            </a:r>
            <a:r>
              <a:rPr lang="en-US" altLang="zh-CN" sz="1800">
                <a:solidFill>
                  <a:srgbClr val="0070C0"/>
                </a:solidFill>
              </a:rPr>
              <a:t>PBOM导入</a:t>
            </a: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”集成命令，选择成套件并导入至CAPP中自动建树。如果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PBOM更新，采用同样的方式更新</a:t>
            </a: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CAPP系统中的结构树。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详</a:t>
            </a:r>
            <a:r>
              <a:rPr lang="zh-CN" altLang="en-US" sz="1800">
                <a:solidFill>
                  <a:schemeClr val="accent5">
                    <a:lumMod val="50000"/>
                  </a:schemeClr>
                </a:solidFill>
              </a:rPr>
              <a:t>见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《CAPP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系统集成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》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章节</a:t>
            </a:r>
            <a:endParaRPr lang="zh-CN" altLang="en-US" sz="180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06150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6. PBOM</a:t>
            </a:r>
            <a:r>
              <a:rPr lang="zh-CN" altLang="en-US" smtClean="0"/>
              <a:t>设计管理：</a:t>
            </a:r>
            <a:r>
              <a:rPr lang="en-US" altLang="zh-CN" smtClean="0">
                <a:solidFill>
                  <a:srgbClr val="FFFF00"/>
                </a:solidFill>
              </a:rPr>
              <a:t>PBOM</a:t>
            </a:r>
            <a:r>
              <a:rPr lang="zh-CN" altLang="en-US" smtClean="0">
                <a:solidFill>
                  <a:srgbClr val="FFFF00"/>
                </a:solidFill>
              </a:rPr>
              <a:t>签审流程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51"/>
          <p:cNvSpPr>
            <a:spLocks noChangeArrowheads="1"/>
          </p:cNvSpPr>
          <p:nvPr/>
        </p:nvSpPr>
        <p:spPr bwMode="auto">
          <a:xfrm>
            <a:off x="272480" y="1936825"/>
            <a:ext cx="1380234" cy="4191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EBOM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创建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endParaRPr lang="en-US" altLang="zh-CN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272480" y="263785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详细设计</a:t>
            </a:r>
            <a:endParaRPr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6" name="Rectangle 53"/>
          <p:cNvSpPr>
            <a:spLocks noChangeArrowheads="1"/>
          </p:cNvSpPr>
          <p:nvPr/>
        </p:nvSpPr>
        <p:spPr bwMode="auto">
          <a:xfrm>
            <a:off x="272480" y="3364285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工艺任务分工</a:t>
            </a:r>
            <a:endParaRPr lang="en-US" altLang="zh-CN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817688" y="1125538"/>
            <a:ext cx="0" cy="5549900"/>
          </a:xfrm>
          <a:prstGeom prst="line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AutoShape 48"/>
          <p:cNvSpPr>
            <a:spLocks noChangeArrowheads="1"/>
          </p:cNvSpPr>
          <p:nvPr/>
        </p:nvSpPr>
        <p:spPr bwMode="auto">
          <a:xfrm>
            <a:off x="344488" y="1431851"/>
            <a:ext cx="1223962" cy="431800"/>
          </a:xfrm>
          <a:prstGeom prst="roundRect">
            <a:avLst>
              <a:gd name="adj" fmla="val 2236"/>
            </a:avLst>
          </a:prstGeom>
          <a:gradFill rotWithShape="1">
            <a:gsLst>
              <a:gs pos="0">
                <a:srgbClr val="DFE5ED"/>
              </a:gs>
              <a:gs pos="100000">
                <a:srgbClr val="FFFFFF"/>
              </a:gs>
            </a:gsLst>
            <a:lin ang="0" scaled="1"/>
          </a:gradFill>
          <a:ln w="19050">
            <a:solidFill>
              <a:srgbClr val="40637A"/>
            </a:solidFill>
            <a:round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b="1" kern="0" smtClean="0">
                <a:solidFill>
                  <a:sysClr val="windowText" lastClr="000000"/>
                </a:solidFill>
              </a:rPr>
              <a:t>主任工艺师</a:t>
            </a:r>
            <a:endParaRPr kumimoji="0" lang="en-US" sz="1400" b="1" kern="0" dirty="0">
              <a:solidFill>
                <a:sysClr val="windowText" lastClr="000000"/>
              </a:solidFill>
            </a:endParaRPr>
          </a:p>
        </p:txBody>
      </p:sp>
      <p:pic>
        <p:nvPicPr>
          <p:cNvPr id="10" name="Picture 10" descr="D:\User Profiles\mtoolan.PTCNET\Local Settings\Temporary Internet Files\Content.IE5\EIABBXDZ\MCj0433942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069" y="836042"/>
            <a:ext cx="595561" cy="595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53"/>
          <p:cNvSpPr>
            <a:spLocks noChangeArrowheads="1"/>
          </p:cNvSpPr>
          <p:nvPr/>
        </p:nvSpPr>
        <p:spPr bwMode="auto">
          <a:xfrm>
            <a:off x="272480" y="4115892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基于</a:t>
            </a:r>
            <a:r>
              <a:rPr kumimoji="0" lang="en-US" altLang="zh-CN" sz="1400" kern="0" smtClea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kumimoji="0" lang="zh-CN" altLang="en-US" sz="1400" kern="0" smtClean="0">
                <a:solidFill>
                  <a:schemeClr val="bg1"/>
                </a:solidFill>
                <a:latin typeface="Arial Narrow" pitchFamily="34" charset="0"/>
              </a:rPr>
              <a:t>录入工艺路线</a:t>
            </a:r>
            <a:endParaRPr kumimoji="0"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2" name="Rectangle 53"/>
          <p:cNvSpPr>
            <a:spLocks noChangeArrowheads="1"/>
          </p:cNvSpPr>
          <p:nvPr/>
        </p:nvSpPr>
        <p:spPr bwMode="auto">
          <a:xfrm>
            <a:off x="275733" y="4835972"/>
            <a:ext cx="1380234" cy="444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导入</a:t>
            </a: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CAPP</a:t>
            </a:r>
            <a:endParaRPr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275733" y="5524625"/>
            <a:ext cx="1380234" cy="444500"/>
          </a:xfrm>
          <a:prstGeom prst="rect">
            <a:avLst/>
          </a:prstGeom>
          <a:solidFill>
            <a:srgbClr val="00B050"/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anchor="ctr"/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kern="0">
                <a:solidFill>
                  <a:schemeClr val="bg1"/>
                </a:solidFill>
                <a:latin typeface="Arial Narrow" pitchFamily="34" charset="0"/>
              </a:rPr>
              <a:t>PBOM</a:t>
            </a:r>
            <a:r>
              <a:rPr lang="zh-CN" altLang="en-US" sz="1400" kern="0">
                <a:solidFill>
                  <a:schemeClr val="bg1"/>
                </a:solidFill>
                <a:latin typeface="Arial Narrow" pitchFamily="34" charset="0"/>
              </a:rPr>
              <a:t>签审流程</a:t>
            </a:r>
            <a:endParaRPr lang="en-US" sz="1400" kern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864171" y="2381249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864171" y="3107393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864171" y="385928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864171" y="4579367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864171" y="5268020"/>
            <a:ext cx="216024" cy="25660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016299" y="1431602"/>
            <a:ext cx="7848872" cy="4823319"/>
          </a:xfrm>
        </p:spPr>
        <p:txBody>
          <a:bodyPr/>
          <a:lstStyle/>
          <a:p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由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主任工艺师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负责确保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PBOM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设计的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完整性</a:t>
            </a: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</a:rPr>
              <a:t>（零部件结构是否完整，自制件是否已经录入了工艺路线）、正确性与一致性（与EBOM进行比较确认零部件数量、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属性是否一致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）。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1800" smtClean="0"/>
              <a:t>本期</a:t>
            </a:r>
            <a:r>
              <a:rPr lang="en-US" altLang="zh-CN" sz="1800" smtClean="0"/>
              <a:t>PBOM</a:t>
            </a:r>
            <a:r>
              <a:rPr lang="zh-CN" altLang="en-US" sz="1800" smtClean="0"/>
              <a:t>暂不走签审流程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PBOM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零部件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生命周期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与</a:t>
            </a:r>
            <a:r>
              <a:rPr lang="en-US" altLang="zh-CN" sz="1800" smtClean="0">
                <a:solidFill>
                  <a:schemeClr val="accent5">
                    <a:lumMod val="50000"/>
                  </a:schemeClr>
                </a:solidFill>
              </a:rPr>
              <a:t>EBOM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零部件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保持</a:t>
            </a:r>
            <a:r>
              <a:rPr lang="zh-CN" altLang="zh-CN" sz="1800">
                <a:solidFill>
                  <a:schemeClr val="accent5">
                    <a:lumMod val="50000"/>
                  </a:schemeClr>
                </a:solidFill>
              </a:rPr>
              <a:t>一致</a:t>
            </a:r>
            <a:r>
              <a:rPr lang="zh-CN" altLang="zh-CN" sz="1800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zh-CN" altLang="zh-CN" sz="180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13510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未来实践设计</a:t>
            </a:r>
            <a:r>
              <a:rPr lang="zh-CN" altLang="en-US" smtClean="0">
                <a:solidFill>
                  <a:srgbClr val="FFFF00"/>
                </a:solidFill>
              </a:rPr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5904656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>
              <a:lnSpc>
                <a:spcPct val="150000"/>
              </a:lnSpc>
            </a:pPr>
            <a:r>
              <a:rPr lang="en-US" altLang="zh-CN" sz="2800" b="1">
                <a:solidFill>
                  <a:schemeClr val="bg1"/>
                </a:solidFill>
              </a:rPr>
              <a:t>7</a:t>
            </a:r>
            <a:r>
              <a:rPr lang="en-US" altLang="zh-CN" sz="2800" b="1" smtClean="0">
                <a:solidFill>
                  <a:schemeClr val="bg1"/>
                </a:solidFill>
              </a:rPr>
              <a:t>.  </a:t>
            </a:r>
            <a:r>
              <a:rPr lang="zh-CN" altLang="en-US" sz="2800" b="1" smtClean="0">
                <a:solidFill>
                  <a:schemeClr val="bg1"/>
                </a:solidFill>
              </a:rPr>
              <a:t>工艺任务分工管理</a:t>
            </a:r>
            <a:endParaRPr lang="en-US" altLang="zh-CN" sz="2800" b="1" smtClean="0">
              <a:solidFill>
                <a:schemeClr val="bg1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工艺设计任务分工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工艺更改任务分工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临时工艺任务分工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工艺任务进度查询</a:t>
            </a:r>
            <a:endParaRPr lang="en-US" altLang="zh-CN" b="1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13734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7. </a:t>
            </a:r>
            <a:r>
              <a:rPr lang="zh-CN" altLang="en-US" smtClean="0"/>
              <a:t>工艺任务分工管理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143571"/>
            <a:ext cx="9609816" cy="5328592"/>
          </a:xfrm>
        </p:spPr>
        <p:txBody>
          <a:bodyPr/>
          <a:lstStyle/>
          <a:p>
            <a:r>
              <a:rPr lang="zh-CN" altLang="en-US"/>
              <a:t>工艺任务</a:t>
            </a:r>
            <a:r>
              <a:rPr lang="zh-CN" altLang="en-US" smtClean="0"/>
              <a:t>分工目的：</a:t>
            </a:r>
            <a:endParaRPr lang="en-US" altLang="zh-CN" smtClean="0"/>
          </a:p>
          <a:p>
            <a:pPr lvl="1"/>
            <a:r>
              <a:rPr lang="zh-CN" altLang="en-US" smtClean="0"/>
              <a:t>依据</a:t>
            </a:r>
            <a:r>
              <a:rPr lang="en-US" altLang="zh-CN" smtClean="0"/>
              <a:t>PBOM</a:t>
            </a:r>
            <a:r>
              <a:rPr lang="zh-CN" altLang="en-US" smtClean="0"/>
              <a:t>开展各类工艺设计任务的分工</a:t>
            </a:r>
            <a:endParaRPr lang="en-US" altLang="zh-CN" smtClean="0"/>
          </a:p>
          <a:p>
            <a:pPr lvl="1"/>
            <a:r>
              <a:rPr lang="zh-CN" altLang="en-US" smtClean="0"/>
              <a:t>实现工艺任务逐级下达</a:t>
            </a:r>
            <a:endParaRPr lang="en-US" altLang="zh-CN" smtClean="0"/>
          </a:p>
          <a:p>
            <a:pPr lvl="1"/>
            <a:r>
              <a:rPr lang="zh-CN" altLang="en-US" smtClean="0"/>
              <a:t>实现工艺任务的接收与完工反馈</a:t>
            </a:r>
            <a:endParaRPr lang="en-US" altLang="zh-CN" smtClean="0"/>
          </a:p>
          <a:p>
            <a:pPr lvl="1"/>
            <a:r>
              <a:rPr lang="zh-CN" altLang="en-US" smtClean="0"/>
              <a:t>实现工艺任务进度跟踪与监控</a:t>
            </a:r>
            <a:endParaRPr lang="en-US" altLang="zh-CN" smtClean="0"/>
          </a:p>
          <a:p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工艺任务分工的方式可分为：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zh-CN" b="1" smtClean="0">
                <a:solidFill>
                  <a:srgbClr val="0070C0"/>
                </a:solidFill>
              </a:rPr>
              <a:t>成</a:t>
            </a:r>
            <a:r>
              <a:rPr lang="zh-CN" altLang="zh-CN" b="1">
                <a:solidFill>
                  <a:srgbClr val="0070C0"/>
                </a:solidFill>
              </a:rPr>
              <a:t>套件工艺任务</a:t>
            </a:r>
            <a:r>
              <a:rPr lang="zh-CN" altLang="zh-CN" b="1" smtClean="0">
                <a:solidFill>
                  <a:srgbClr val="0070C0"/>
                </a:solidFill>
              </a:rPr>
              <a:t>分工</a:t>
            </a:r>
            <a:r>
              <a:rPr lang="zh-CN" altLang="en-US" b="1" smtClean="0">
                <a:solidFill>
                  <a:srgbClr val="0070C0"/>
                </a:solidFill>
              </a:rPr>
              <a:t>：用于成套件首次工艺设计任务分工</a:t>
            </a:r>
            <a:endParaRPr lang="zh-CN" altLang="zh-CN" b="1">
              <a:solidFill>
                <a:srgbClr val="0070C0"/>
              </a:solidFill>
            </a:endParaRPr>
          </a:p>
          <a:p>
            <a:pPr lvl="1"/>
            <a:r>
              <a:rPr lang="zh-CN" altLang="zh-CN" b="1">
                <a:solidFill>
                  <a:srgbClr val="0070C0"/>
                </a:solidFill>
              </a:rPr>
              <a:t>零部件工艺任务</a:t>
            </a:r>
            <a:r>
              <a:rPr lang="zh-CN" altLang="zh-CN" b="1" smtClean="0">
                <a:solidFill>
                  <a:srgbClr val="0070C0"/>
                </a:solidFill>
              </a:rPr>
              <a:t>分工</a:t>
            </a:r>
            <a:r>
              <a:rPr lang="zh-CN" altLang="en-US" b="1" smtClean="0">
                <a:solidFill>
                  <a:srgbClr val="0070C0"/>
                </a:solidFill>
              </a:rPr>
              <a:t>：用于离散零部件的首次工艺设计任务分工</a:t>
            </a:r>
            <a:endParaRPr lang="zh-CN" altLang="zh-CN" b="1">
              <a:solidFill>
                <a:srgbClr val="0070C0"/>
              </a:solidFill>
            </a:endParaRPr>
          </a:p>
          <a:p>
            <a:pPr lvl="1"/>
            <a:r>
              <a:rPr lang="zh-CN" altLang="zh-CN" b="1">
                <a:solidFill>
                  <a:srgbClr val="0070C0"/>
                </a:solidFill>
              </a:rPr>
              <a:t>工艺更改任务</a:t>
            </a:r>
            <a:r>
              <a:rPr lang="zh-CN" altLang="zh-CN" b="1" smtClean="0">
                <a:solidFill>
                  <a:srgbClr val="0070C0"/>
                </a:solidFill>
              </a:rPr>
              <a:t>分工</a:t>
            </a:r>
            <a:r>
              <a:rPr lang="zh-CN" altLang="en-US" b="1" smtClean="0">
                <a:solidFill>
                  <a:srgbClr val="0070C0"/>
                </a:solidFill>
              </a:rPr>
              <a:t>：用于设计更改引起的工艺更改任务分工</a:t>
            </a:r>
            <a:endParaRPr lang="zh-CN" altLang="zh-CN" b="1">
              <a:solidFill>
                <a:srgbClr val="0070C0"/>
              </a:solidFill>
            </a:endParaRPr>
          </a:p>
          <a:p>
            <a:pPr lvl="1"/>
            <a:r>
              <a:rPr lang="en-US" altLang="zh-CN" b="1" smtClean="0">
                <a:solidFill>
                  <a:srgbClr val="0070C0"/>
                </a:solidFill>
              </a:rPr>
              <a:t>临时工艺任务分工</a:t>
            </a:r>
            <a:r>
              <a:rPr lang="zh-CN" altLang="en-US" b="1" smtClean="0">
                <a:solidFill>
                  <a:srgbClr val="0070C0"/>
                </a:solidFill>
              </a:rPr>
              <a:t>：用于设计通知单引起或根据需要发起的临时工艺任务分工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zh-CN" sz="2000" b="1">
                <a:solidFill>
                  <a:schemeClr val="accent5">
                    <a:lumMod val="50000"/>
                  </a:schemeClr>
                </a:solidFill>
              </a:rPr>
              <a:t>项目部主任工艺师负责工艺任务</a:t>
            </a:r>
            <a:r>
              <a:rPr lang="zh-CN" altLang="zh-CN" sz="2000" b="1" smtClean="0">
                <a:solidFill>
                  <a:schemeClr val="accent5">
                    <a:lumMod val="50000"/>
                  </a:schemeClr>
                </a:solidFill>
              </a:rPr>
              <a:t>分工</a:t>
            </a: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</a:rPr>
              <a:t>操作</a:t>
            </a:r>
            <a:r>
              <a:rPr lang="zh-CN" altLang="zh-CN" sz="2000" b="1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zh-CN" altLang="zh-CN" sz="2000" b="1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zh-CN" altLang="en-US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168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7. </a:t>
            </a:r>
            <a:r>
              <a:rPr lang="zh-CN" altLang="en-US"/>
              <a:t>工艺任务分工</a:t>
            </a:r>
            <a:r>
              <a:rPr lang="zh-CN" altLang="en-US" smtClean="0"/>
              <a:t>管理：</a:t>
            </a:r>
            <a:r>
              <a:rPr lang="zh-CN" altLang="en-US" smtClean="0">
                <a:solidFill>
                  <a:srgbClr val="FFFF00"/>
                </a:solidFill>
              </a:rPr>
              <a:t>成套件工艺任务分工流程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704553"/>
              </p:ext>
            </p:extLst>
          </p:nvPr>
        </p:nvGraphicFramePr>
        <p:xfrm>
          <a:off x="2160315" y="783531"/>
          <a:ext cx="5904656" cy="6250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8" name="Visio" r:id="rId3" imgW="8120361" imgH="8597654" progId="Visio.Drawing.11">
                  <p:embed/>
                </p:oleObj>
              </mc:Choice>
              <mc:Fallback>
                <p:oleObj name="Visio" r:id="rId3" imgW="8120361" imgH="859765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315" y="783531"/>
                        <a:ext cx="5904656" cy="625063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40760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7. </a:t>
            </a:r>
            <a:r>
              <a:rPr lang="zh-CN" altLang="en-US"/>
              <a:t>工艺任务分工</a:t>
            </a:r>
            <a:r>
              <a:rPr lang="zh-CN" altLang="en-US" smtClean="0"/>
              <a:t>管理：</a:t>
            </a:r>
            <a:r>
              <a:rPr lang="zh-CN" altLang="en-US" smtClean="0">
                <a:solidFill>
                  <a:srgbClr val="FFFF00"/>
                </a:solidFill>
              </a:rPr>
              <a:t>工艺更改任务分工流程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749426"/>
              </p:ext>
            </p:extLst>
          </p:nvPr>
        </p:nvGraphicFramePr>
        <p:xfrm>
          <a:off x="2520355" y="783531"/>
          <a:ext cx="5270500" cy="605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5" name="Visio" r:id="rId3" imgW="7940311" imgH="9113498" progId="Visio.Drawing.11">
                  <p:embed/>
                </p:oleObj>
              </mc:Choice>
              <mc:Fallback>
                <p:oleObj name="Visio" r:id="rId3" imgW="7940311" imgH="911349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355" y="783531"/>
                        <a:ext cx="5270500" cy="60563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210260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7. </a:t>
            </a:r>
            <a:r>
              <a:rPr lang="zh-CN" altLang="en-US"/>
              <a:t>工艺任务分工</a:t>
            </a:r>
            <a:r>
              <a:rPr lang="zh-CN" altLang="en-US" smtClean="0"/>
              <a:t>管理：</a:t>
            </a:r>
            <a:r>
              <a:rPr lang="zh-CN" altLang="en-US" smtClean="0">
                <a:solidFill>
                  <a:srgbClr val="FFFF00"/>
                </a:solidFill>
              </a:rPr>
              <a:t>临时工艺任务分工流程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007531"/>
              </p:ext>
            </p:extLst>
          </p:nvPr>
        </p:nvGraphicFramePr>
        <p:xfrm>
          <a:off x="2448347" y="783531"/>
          <a:ext cx="5184576" cy="6137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8" name="Visio" r:id="rId3" imgW="6855148" imgH="8129320" progId="Visio.Drawing.11">
                  <p:embed/>
                </p:oleObj>
              </mc:Choice>
              <mc:Fallback>
                <p:oleObj name="Visio" r:id="rId3" imgW="6855148" imgH="812932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347" y="783531"/>
                        <a:ext cx="5184576" cy="613786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383356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7. </a:t>
            </a:r>
            <a:r>
              <a:rPr lang="zh-CN" altLang="en-US"/>
              <a:t>工艺任务分工管理：</a:t>
            </a:r>
            <a:r>
              <a:rPr lang="zh-CN" altLang="en-US">
                <a:solidFill>
                  <a:srgbClr val="FFFF00"/>
                </a:solidFill>
              </a:rPr>
              <a:t>典型业务场景示意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1. 在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PBOM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的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零部件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（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Manufacturing视图）详细信息页面的“操作”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菜单中提供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相应的工艺任务分工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入口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：</a:t>
            </a:r>
            <a:endParaRPr lang="zh-CN" altLang="en-US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600475" y="5320035"/>
            <a:ext cx="108012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347" y="2511723"/>
            <a:ext cx="5638800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294700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7. </a:t>
            </a:r>
            <a:r>
              <a:rPr lang="zh-CN" altLang="en-US"/>
              <a:t>工艺任务分工管理：</a:t>
            </a:r>
            <a:r>
              <a:rPr lang="zh-CN" altLang="en-US">
                <a:solidFill>
                  <a:srgbClr val="FFFF00"/>
                </a:solidFill>
              </a:rPr>
              <a:t>典型业务场景示意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144091" y="783531"/>
            <a:ext cx="3528392" cy="568863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2. 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进入工艺任务分工界面：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1800" b="1">
                <a:solidFill>
                  <a:srgbClr val="0070C0"/>
                </a:solidFill>
              </a:rPr>
              <a:t>成</a:t>
            </a:r>
            <a:r>
              <a:rPr lang="zh-CN" altLang="en-US" sz="1800" b="1" smtClean="0">
                <a:solidFill>
                  <a:srgbClr val="0070C0"/>
                </a:solidFill>
              </a:rPr>
              <a:t>套件工艺任务分工</a:t>
            </a:r>
            <a:r>
              <a:rPr lang="zh-CN" altLang="en-US" sz="1800" b="1" smtClean="0">
                <a:solidFill>
                  <a:schemeClr val="accent5">
                    <a:lumMod val="50000"/>
                  </a:schemeClr>
                </a:solidFill>
              </a:rPr>
              <a:t>：</a:t>
            </a:r>
            <a:endParaRPr lang="en-US" altLang="zh-CN" sz="1800" b="1" smtClean="0">
              <a:solidFill>
                <a:schemeClr val="accent5">
                  <a:lumMod val="50000"/>
                </a:schemeClr>
              </a:solidFill>
            </a:endParaRPr>
          </a:p>
          <a:p>
            <a:pPr marL="400050" lvl="1" indent="0">
              <a:buNone/>
            </a:pPr>
            <a:r>
              <a:rPr lang="zh-CN" altLang="en-US" sz="1600" b="1" smtClean="0">
                <a:solidFill>
                  <a:srgbClr val="0070C0"/>
                </a:solidFill>
              </a:rPr>
              <a:t>系统自动收集成套件下所有自制件，过滤已经分工的自制件，不允许添加</a:t>
            </a:r>
            <a:r>
              <a:rPr lang="en-US" altLang="zh-CN" sz="1600" b="1" smtClean="0">
                <a:solidFill>
                  <a:srgbClr val="0070C0"/>
                </a:solidFill>
              </a:rPr>
              <a:t>/</a:t>
            </a:r>
            <a:r>
              <a:rPr lang="zh-CN" altLang="en-US" sz="1600" b="1">
                <a:solidFill>
                  <a:srgbClr val="0070C0"/>
                </a:solidFill>
              </a:rPr>
              <a:t>移</a:t>
            </a:r>
            <a:r>
              <a:rPr lang="zh-CN" altLang="en-US" sz="1600" b="1" smtClean="0">
                <a:solidFill>
                  <a:srgbClr val="0070C0"/>
                </a:solidFill>
              </a:rPr>
              <a:t>除自制件。</a:t>
            </a:r>
            <a:endParaRPr lang="en-US" altLang="zh-CN" sz="1600" b="1" smtClean="0">
              <a:solidFill>
                <a:srgbClr val="0070C0"/>
              </a:solidFill>
            </a:endParaRPr>
          </a:p>
          <a:p>
            <a:r>
              <a:rPr lang="zh-CN" altLang="en-US" sz="1800" smtClean="0">
                <a:solidFill>
                  <a:srgbClr val="0070C0"/>
                </a:solidFill>
              </a:rPr>
              <a:t>零部件工艺任务分工</a:t>
            </a:r>
            <a:r>
              <a:rPr lang="en-US" altLang="zh-CN" sz="1800" smtClean="0">
                <a:solidFill>
                  <a:srgbClr val="0070C0"/>
                </a:solidFill>
              </a:rPr>
              <a:t>/</a:t>
            </a:r>
            <a:r>
              <a:rPr lang="zh-CN" altLang="en-US" sz="1800" smtClean="0">
                <a:solidFill>
                  <a:srgbClr val="0070C0"/>
                </a:solidFill>
              </a:rPr>
              <a:t>工艺更改任务分工</a:t>
            </a:r>
            <a:r>
              <a:rPr lang="en-US" altLang="zh-CN" sz="1800" smtClean="0">
                <a:solidFill>
                  <a:srgbClr val="0070C0"/>
                </a:solidFill>
              </a:rPr>
              <a:t>/</a:t>
            </a:r>
            <a:r>
              <a:rPr lang="zh-CN" altLang="en-US" sz="1800" smtClean="0">
                <a:solidFill>
                  <a:srgbClr val="0070C0"/>
                </a:solidFill>
              </a:rPr>
              <a:t>临时工艺任务分工</a:t>
            </a:r>
            <a:r>
              <a:rPr lang="zh-CN" altLang="en-US" sz="1800" smtClean="0">
                <a:solidFill>
                  <a:schemeClr val="accent5">
                    <a:lumMod val="50000"/>
                  </a:schemeClr>
                </a:solidFill>
              </a:rPr>
              <a:t>：</a:t>
            </a:r>
            <a:endParaRPr lang="en-US" altLang="zh-CN" sz="1800" smtClean="0">
              <a:solidFill>
                <a:schemeClr val="accent5">
                  <a:lumMod val="50000"/>
                </a:schemeClr>
              </a:solidFill>
            </a:endParaRPr>
          </a:p>
          <a:p>
            <a:pPr marL="400050" lvl="1" indent="0">
              <a:buNone/>
            </a:pPr>
            <a:r>
              <a:rPr lang="zh-CN" altLang="en-US" sz="1600" b="1" smtClean="0">
                <a:solidFill>
                  <a:srgbClr val="0070C0"/>
                </a:solidFill>
              </a:rPr>
              <a:t>系统自动收集选择的自制件，允许手工添加</a:t>
            </a:r>
            <a:r>
              <a:rPr lang="en-US" altLang="zh-CN" sz="1600" b="1" smtClean="0">
                <a:solidFill>
                  <a:srgbClr val="0070C0"/>
                </a:solidFill>
              </a:rPr>
              <a:t>/</a:t>
            </a:r>
            <a:r>
              <a:rPr lang="zh-CN" altLang="en-US" sz="1600" b="1" smtClean="0">
                <a:solidFill>
                  <a:srgbClr val="0070C0"/>
                </a:solidFill>
              </a:rPr>
              <a:t>移除自制件</a:t>
            </a:r>
            <a:r>
              <a:rPr lang="zh-CN" altLang="en-US" sz="1600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en-US" altLang="zh-CN" sz="1600" smtClean="0">
              <a:solidFill>
                <a:schemeClr val="accent5">
                  <a:lumMod val="50000"/>
                </a:schemeClr>
              </a:solidFill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PBOM</a:t>
            </a:r>
            <a:r>
              <a:rPr lang="zh-CN" altLang="en-US"/>
              <a:t>属性中记录主制车间</a:t>
            </a:r>
            <a:r>
              <a:rPr lang="en-US" altLang="zh-CN"/>
              <a:t>/</a:t>
            </a:r>
            <a:r>
              <a:rPr lang="zh-CN" altLang="en-US"/>
              <a:t>辅制车间的</a:t>
            </a:r>
            <a:r>
              <a:rPr lang="zh-CN" altLang="en-US" smtClean="0"/>
              <a:t>信息</a:t>
            </a:r>
            <a:endParaRPr lang="en-US" altLang="zh-CN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mtClean="0"/>
              <a:t>分工任务记录自制件的阶段标记：</a:t>
            </a:r>
            <a:r>
              <a:rPr lang="en-US" altLang="zh-CN"/>
              <a:t>Y/M/C/S/Z/D/G/P</a:t>
            </a:r>
          </a:p>
          <a:p>
            <a:endParaRPr lang="zh-CN" altLang="en-US" sz="1800" b="1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770794" y="1371468"/>
            <a:ext cx="7030556" cy="3300495"/>
            <a:chOff x="3277368" y="2338935"/>
            <a:chExt cx="7488832" cy="3505107"/>
          </a:xfrm>
        </p:grpSpPr>
        <p:pic>
          <p:nvPicPr>
            <p:cNvPr id="6" name="图片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277368" y="2338935"/>
              <a:ext cx="7488832" cy="3505107"/>
            </a:xfrm>
            <a:prstGeom prst="rect">
              <a:avLst/>
            </a:prstGeom>
            <a:solidFill>
              <a:srgbClr val="FFFF00"/>
            </a:solidFill>
          </p:spPr>
        </p:pic>
        <p:sp>
          <p:nvSpPr>
            <p:cNvPr id="7" name="矩形 6"/>
            <p:cNvSpPr/>
            <p:nvPr/>
          </p:nvSpPr>
          <p:spPr>
            <a:xfrm>
              <a:off x="8029896" y="3314944"/>
              <a:ext cx="2592288" cy="18810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3493392" y="3124022"/>
              <a:ext cx="484505" cy="1905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cxnSp>
          <p:nvCxnSpPr>
            <p:cNvPr id="9" name="直接箭头连接符 8"/>
            <p:cNvCxnSpPr/>
            <p:nvPr/>
          </p:nvCxnSpPr>
          <p:spPr>
            <a:xfrm flipV="1">
              <a:off x="3977897" y="2897486"/>
              <a:ext cx="1391364" cy="226536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5369895" y="2679044"/>
              <a:ext cx="1939846" cy="6359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 algn="ctr">
                <a:spcAft>
                  <a:spcPts val="0"/>
                </a:spcAft>
                <a:buFont typeface="Arial" pitchFamily="34" charset="0"/>
                <a:buChar char="•"/>
              </a:pPr>
              <a:r>
                <a:rPr lang="zh-CN">
                  <a:solidFill>
                    <a:schemeClr val="tx1"/>
                  </a:solidFill>
                </a:rPr>
                <a:t>添加</a:t>
              </a:r>
              <a:r>
                <a:rPr lang="zh-CN" altLang="en-US">
                  <a:solidFill>
                    <a:schemeClr val="tx1"/>
                  </a:solidFill>
                </a:rPr>
                <a:t>自制</a:t>
              </a:r>
              <a:r>
                <a:rPr lang="zh-CN">
                  <a:solidFill>
                    <a:schemeClr val="tx1"/>
                  </a:solidFill>
                </a:rPr>
                <a:t>件</a:t>
              </a:r>
            </a:p>
            <a:p>
              <a:pPr marL="285750" indent="-285750" algn="ctr">
                <a:spcAft>
                  <a:spcPts val="0"/>
                </a:spcAft>
                <a:buFont typeface="Arial" pitchFamily="34" charset="0"/>
                <a:buChar char="•"/>
              </a:pPr>
              <a:r>
                <a:rPr lang="zh-CN">
                  <a:solidFill>
                    <a:schemeClr val="tx1"/>
                  </a:solidFill>
                </a:rPr>
                <a:t>移除</a:t>
              </a:r>
              <a:r>
                <a:rPr lang="zh-CN" altLang="en-US">
                  <a:solidFill>
                    <a:schemeClr val="tx1"/>
                  </a:solidFill>
                </a:rPr>
                <a:t>自制</a:t>
              </a:r>
              <a:r>
                <a:rPr lang="zh-CN">
                  <a:solidFill>
                    <a:schemeClr val="tx1"/>
                  </a:solidFill>
                </a:rPr>
                <a:t>件</a:t>
              </a:r>
            </a:p>
          </p:txBody>
        </p:sp>
      </p:grpSp>
      <p:sp>
        <p:nvSpPr>
          <p:cNvPr id="4" name="矩形标注 3"/>
          <p:cNvSpPr/>
          <p:nvPr/>
        </p:nvSpPr>
        <p:spPr>
          <a:xfrm>
            <a:off x="5904731" y="3124021"/>
            <a:ext cx="1944216" cy="1547942"/>
          </a:xfrm>
          <a:prstGeom prst="wedgeRectCallout">
            <a:avLst>
              <a:gd name="adj1" fmla="val 60961"/>
              <a:gd name="adj2" fmla="val -3887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mtClean="0">
                <a:solidFill>
                  <a:schemeClr val="tx1"/>
                </a:solidFill>
              </a:rPr>
              <a:t>选择填写：</a:t>
            </a:r>
            <a:endParaRPr lang="en-US" altLang="zh-CN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mtClean="0">
                <a:solidFill>
                  <a:schemeClr val="tx1"/>
                </a:solidFill>
              </a:rPr>
              <a:t>主制车间</a:t>
            </a:r>
            <a:endParaRPr lang="en-US" altLang="zh-CN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mtClean="0">
                <a:solidFill>
                  <a:schemeClr val="tx1"/>
                </a:solidFill>
              </a:rPr>
              <a:t>辅制车间</a:t>
            </a:r>
            <a:endParaRPr lang="en-US" altLang="zh-CN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mtClean="0">
                <a:solidFill>
                  <a:schemeClr val="tx1"/>
                </a:solidFill>
              </a:rPr>
              <a:t>计划完成时间</a:t>
            </a:r>
            <a:endParaRPr lang="en-US" altLang="zh-CN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mtClean="0">
                <a:solidFill>
                  <a:schemeClr val="tx1"/>
                </a:solidFill>
              </a:rPr>
              <a:t>任务要求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70794" y="5066179"/>
            <a:ext cx="5400675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zh-CN" altLang="zh-CN" b="1"/>
              <a:t>主制车间</a:t>
            </a:r>
            <a:r>
              <a:rPr lang="zh-CN" altLang="zh-CN" b="1" smtClean="0"/>
              <a:t>为</a:t>
            </a:r>
            <a:r>
              <a:rPr lang="zh-CN" altLang="en-US" b="1"/>
              <a:t>多个</a:t>
            </a:r>
            <a:r>
              <a:rPr lang="zh-CN" altLang="zh-CN" b="1" smtClean="0"/>
              <a:t>，</a:t>
            </a:r>
            <a:r>
              <a:rPr lang="zh-CN" altLang="zh-CN" b="1"/>
              <a:t>可以通过下拉</a:t>
            </a:r>
            <a:r>
              <a:rPr lang="zh-CN" altLang="zh-CN" b="1" smtClean="0"/>
              <a:t>框</a:t>
            </a:r>
            <a:r>
              <a:rPr lang="zh-CN" altLang="en-US" b="1"/>
              <a:t>多选</a:t>
            </a:r>
            <a:endParaRPr lang="zh-CN" altLang="zh-CN" b="1"/>
          </a:p>
          <a:p>
            <a:pPr marL="285750" lvl="0" indent="-285750">
              <a:buFont typeface="Arial" pitchFamily="34" charset="0"/>
              <a:buChar char="•"/>
            </a:pPr>
            <a:r>
              <a:rPr lang="zh-CN" altLang="zh-CN" b="1"/>
              <a:t>辅制车间为多个，可以通过下拉</a:t>
            </a:r>
            <a:r>
              <a:rPr lang="zh-CN" altLang="zh-CN" b="1" smtClean="0"/>
              <a:t>框</a:t>
            </a:r>
            <a:r>
              <a:rPr lang="zh-CN" altLang="en-US" b="1" smtClean="0"/>
              <a:t>多</a:t>
            </a:r>
            <a:r>
              <a:rPr lang="zh-CN" altLang="zh-CN" b="1" smtClean="0"/>
              <a:t>选</a:t>
            </a:r>
            <a:endParaRPr lang="zh-CN" altLang="zh-CN" b="1"/>
          </a:p>
          <a:p>
            <a:pPr marL="285750" lvl="0" indent="-285750">
              <a:buFont typeface="Arial" pitchFamily="34" charset="0"/>
              <a:buChar char="•"/>
            </a:pPr>
            <a:r>
              <a:rPr lang="zh-CN" altLang="zh-CN" b="1"/>
              <a:t>计划完成时间：选择日期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b="1"/>
              <a:t>任务要求：手工填写</a:t>
            </a:r>
            <a:endParaRPr lang="zh-CN" altLang="en-US" b="1"/>
          </a:p>
        </p:txBody>
      </p:sp>
      <p:sp>
        <p:nvSpPr>
          <p:cNvPr id="12" name="矩形标注 11"/>
          <p:cNvSpPr/>
          <p:nvPr/>
        </p:nvSpPr>
        <p:spPr>
          <a:xfrm>
            <a:off x="8353003" y="4710280"/>
            <a:ext cx="2313144" cy="1547942"/>
          </a:xfrm>
          <a:prstGeom prst="wedgeRectCallout">
            <a:avLst>
              <a:gd name="adj1" fmla="val -30376"/>
              <a:gd name="adj2" fmla="val -55998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mtClean="0">
                <a:solidFill>
                  <a:schemeClr val="tx1"/>
                </a:solidFill>
              </a:rPr>
              <a:t>点击下达工艺任务后，为每一自制件启动工艺任务分工流程，下达到各车间工艺组长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79302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7. </a:t>
            </a:r>
            <a:r>
              <a:rPr lang="zh-CN" altLang="en-US"/>
              <a:t>工艺任务分工管理：</a:t>
            </a:r>
            <a:r>
              <a:rPr lang="zh-CN" altLang="en-US">
                <a:solidFill>
                  <a:srgbClr val="FFFF00"/>
                </a:solidFill>
              </a:rPr>
              <a:t>典型业务场景示意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144091" y="1143571"/>
            <a:ext cx="3133277" cy="51125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3. 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车间工艺组长指派：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 sz="1800" b="1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44091" y="1863651"/>
            <a:ext cx="5832648" cy="1872208"/>
            <a:chOff x="144091" y="1863651"/>
            <a:chExt cx="5832648" cy="1872208"/>
          </a:xfrm>
        </p:grpSpPr>
        <p:pic>
          <p:nvPicPr>
            <p:cNvPr id="11" name="图片 10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44091" y="2007667"/>
              <a:ext cx="5832648" cy="1728192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</p:pic>
        <p:sp>
          <p:nvSpPr>
            <p:cNvPr id="4" name="矩形 3"/>
            <p:cNvSpPr/>
            <p:nvPr/>
          </p:nvSpPr>
          <p:spPr>
            <a:xfrm>
              <a:off x="1872284" y="1863651"/>
              <a:ext cx="3744416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r>
                <a:rPr lang="en-US" altLang="zh-CN" smtClean="0"/>
                <a:t>a.车间工艺组长在</a:t>
              </a:r>
              <a:r>
                <a:rPr lang="en-US" altLang="zh-CN"/>
                <a:t>“我的工作分配”中，查看到“工艺任务指派”任务</a:t>
              </a:r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60115" y="3951883"/>
            <a:ext cx="5256585" cy="2664296"/>
            <a:chOff x="360115" y="3951883"/>
            <a:chExt cx="5256585" cy="2664296"/>
          </a:xfrm>
        </p:grpSpPr>
        <p:grpSp>
          <p:nvGrpSpPr>
            <p:cNvPr id="16" name="组合 15"/>
            <p:cNvGrpSpPr/>
            <p:nvPr/>
          </p:nvGrpSpPr>
          <p:grpSpPr>
            <a:xfrm>
              <a:off x="360115" y="3951883"/>
              <a:ext cx="5256585" cy="2664296"/>
              <a:chOff x="360115" y="3951883"/>
              <a:chExt cx="5256585" cy="2664296"/>
            </a:xfrm>
          </p:grpSpPr>
          <p:pic>
            <p:nvPicPr>
              <p:cNvPr id="14" name="图片 1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0115" y="3951883"/>
                <a:ext cx="5256584" cy="2664296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</p:spPr>
          </p:pic>
          <p:sp>
            <p:nvSpPr>
              <p:cNvPr id="15" name="矩形 14"/>
              <p:cNvSpPr/>
              <p:nvPr/>
            </p:nvSpPr>
            <p:spPr>
              <a:xfrm>
                <a:off x="2160316" y="4204995"/>
                <a:ext cx="3456384" cy="64633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mtClean="0"/>
                  <a:t>b.车间工艺组长在任务详细页面选择</a:t>
                </a:r>
                <a:r>
                  <a:rPr lang="en-US" altLang="zh-CN"/>
                  <a:t>“指派任务</a:t>
                </a:r>
                <a:r>
                  <a:rPr lang="en-US" altLang="zh-CN" smtClean="0"/>
                  <a:t>”</a:t>
                </a:r>
                <a:endParaRPr lang="zh-CN" altLang="en-US"/>
              </a:p>
            </p:txBody>
          </p:sp>
        </p:grpSp>
        <p:sp>
          <p:nvSpPr>
            <p:cNvPr id="17" name="矩形 16"/>
            <p:cNvSpPr/>
            <p:nvPr/>
          </p:nvSpPr>
          <p:spPr>
            <a:xfrm>
              <a:off x="720155" y="5824091"/>
              <a:ext cx="1224136" cy="6480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下箭头 11"/>
          <p:cNvSpPr/>
          <p:nvPr/>
        </p:nvSpPr>
        <p:spPr>
          <a:xfrm>
            <a:off x="2808387" y="3735859"/>
            <a:ext cx="648072" cy="432048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5832723" y="5032003"/>
            <a:ext cx="360040" cy="79208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6336779" y="3951883"/>
            <a:ext cx="4186007" cy="2664296"/>
            <a:chOff x="6480795" y="3951883"/>
            <a:chExt cx="4186007" cy="2664296"/>
          </a:xfrm>
        </p:grpSpPr>
        <p:pic>
          <p:nvPicPr>
            <p:cNvPr id="20" name="图片 19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480795" y="3951883"/>
              <a:ext cx="4176464" cy="2664296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</p:pic>
        <p:sp>
          <p:nvSpPr>
            <p:cNvPr id="21" name="矩形 20"/>
            <p:cNvSpPr/>
            <p:nvPr/>
          </p:nvSpPr>
          <p:spPr>
            <a:xfrm>
              <a:off x="7930423" y="4095920"/>
              <a:ext cx="2736379" cy="92333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r>
                <a:rPr lang="en-US" altLang="zh-CN" smtClean="0"/>
                <a:t>c.选择</a:t>
              </a:r>
              <a:r>
                <a:rPr lang="en-US" altLang="zh-CN"/>
                <a:t>“指派任务”，</a:t>
              </a:r>
              <a:r>
                <a:rPr lang="en-US" altLang="zh-CN" smtClean="0"/>
                <a:t>则显示用户选择界面</a:t>
              </a:r>
              <a:r>
                <a:rPr lang="zh-CN" altLang="en-US" smtClean="0"/>
                <a:t>，选择负责工艺任务的车间工艺员</a:t>
              </a:r>
              <a:endParaRPr lang="zh-CN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6605647" y="1863651"/>
            <a:ext cx="3638727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mtClean="0"/>
              <a:t>d.工艺组长选择相应的工艺员后</a:t>
            </a:r>
            <a:r>
              <a:rPr lang="en-US" altLang="zh-CN"/>
              <a:t>，点击完成任务，</a:t>
            </a:r>
            <a:r>
              <a:rPr lang="en-US" altLang="zh-CN" smtClean="0"/>
              <a:t>则任务指派到选择的车间工艺员</a:t>
            </a:r>
          </a:p>
        </p:txBody>
      </p:sp>
      <p:sp>
        <p:nvSpPr>
          <p:cNvPr id="7" name="上箭头 6"/>
          <p:cNvSpPr/>
          <p:nvPr/>
        </p:nvSpPr>
        <p:spPr>
          <a:xfrm>
            <a:off x="7786407" y="3447827"/>
            <a:ext cx="854628" cy="360040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4608587" y="3333428"/>
            <a:ext cx="1872208" cy="2994719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888508" y="6215269"/>
            <a:ext cx="720079" cy="4009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36179" y="6148127"/>
            <a:ext cx="792088" cy="267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9313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  <p:bldP spid="6" grpId="0" animBg="1"/>
      <p:bldP spid="7" grpId="0" animBg="1"/>
      <p:bldP spid="1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7. </a:t>
            </a:r>
            <a:r>
              <a:rPr lang="zh-CN" altLang="en-US"/>
              <a:t>工艺任务分工管理：</a:t>
            </a:r>
            <a:r>
              <a:rPr lang="zh-CN" altLang="en-US">
                <a:solidFill>
                  <a:srgbClr val="FFFF00"/>
                </a:solidFill>
              </a:rPr>
              <a:t>典型业务场景示意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144091" y="1143571"/>
            <a:ext cx="7848872" cy="51125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4. 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车间工艺员接收任务，进行工艺设计，完成后进行完工反馈：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 sz="1800" b="1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16099" y="2079675"/>
            <a:ext cx="5616625" cy="1872208"/>
            <a:chOff x="216099" y="2079675"/>
            <a:chExt cx="5616625" cy="1872208"/>
          </a:xfrm>
        </p:grpSpPr>
        <p:pic>
          <p:nvPicPr>
            <p:cNvPr id="23" name="图片 2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16099" y="2295699"/>
              <a:ext cx="5616624" cy="1656184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</p:pic>
        <p:sp>
          <p:nvSpPr>
            <p:cNvPr id="24" name="矩形 23"/>
            <p:cNvSpPr/>
            <p:nvPr/>
          </p:nvSpPr>
          <p:spPr>
            <a:xfrm>
              <a:off x="2376340" y="2079675"/>
              <a:ext cx="3456384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pPr lvl="0"/>
              <a:r>
                <a:rPr lang="en-US" altLang="zh-CN" smtClean="0"/>
                <a:t>a.</a:t>
              </a:r>
              <a:r>
                <a:rPr lang="zh-CN" altLang="zh-CN" smtClean="0"/>
                <a:t>车间</a:t>
              </a:r>
              <a:r>
                <a:rPr lang="zh-CN" altLang="zh-CN"/>
                <a:t>工艺员在“我的工作分配”中，查看到相应的工艺任务</a:t>
              </a:r>
            </a:p>
          </p:txBody>
        </p:sp>
      </p:grpSp>
      <p:sp>
        <p:nvSpPr>
          <p:cNvPr id="26" name="下箭头 25"/>
          <p:cNvSpPr/>
          <p:nvPr/>
        </p:nvSpPr>
        <p:spPr>
          <a:xfrm>
            <a:off x="2808387" y="3934869"/>
            <a:ext cx="648072" cy="432048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/>
        </p:nvSpPr>
        <p:spPr>
          <a:xfrm>
            <a:off x="5328667" y="5095503"/>
            <a:ext cx="360040" cy="79208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648147" y="4366917"/>
            <a:ext cx="5400600" cy="2249261"/>
            <a:chOff x="648147" y="4366917"/>
            <a:chExt cx="5400600" cy="2249261"/>
          </a:xfrm>
        </p:grpSpPr>
        <p:pic>
          <p:nvPicPr>
            <p:cNvPr id="25" name="图片 24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48147" y="4366917"/>
              <a:ext cx="4491637" cy="2249261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</p:pic>
        <p:sp>
          <p:nvSpPr>
            <p:cNvPr id="27" name="矩形 26"/>
            <p:cNvSpPr/>
            <p:nvPr/>
          </p:nvSpPr>
          <p:spPr>
            <a:xfrm>
              <a:off x="2592363" y="4405757"/>
              <a:ext cx="3456384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pPr lvl="0"/>
              <a:r>
                <a:rPr lang="en-US" altLang="zh-CN" smtClean="0"/>
                <a:t>b.车间工艺员在任务详细页面选择</a:t>
              </a:r>
              <a:r>
                <a:rPr lang="en-US" altLang="zh-CN"/>
                <a:t>“任务完工</a:t>
              </a:r>
              <a:r>
                <a:rPr lang="en-US" altLang="zh-CN" smtClean="0"/>
                <a:t>”</a:t>
              </a:r>
              <a:endParaRPr lang="zh-CN" altLang="zh-CN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1008187" y="5805100"/>
              <a:ext cx="1152128" cy="81107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矩形 29"/>
          <p:cNvSpPr/>
          <p:nvPr/>
        </p:nvSpPr>
        <p:spPr>
          <a:xfrm>
            <a:off x="5832724" y="5204935"/>
            <a:ext cx="3638727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mtClean="0"/>
              <a:t>c.</a:t>
            </a:r>
            <a:r>
              <a:rPr lang="zh-CN" altLang="en-US" smtClean="0"/>
              <a:t>工艺员选择“任务完工”，点完成任务，则说明工艺任务完成</a:t>
            </a:r>
            <a:endParaRPr lang="en-US" altLang="zh-CN" smtClean="0"/>
          </a:p>
        </p:txBody>
      </p:sp>
      <p:sp>
        <p:nvSpPr>
          <p:cNvPr id="14" name="矩形 13"/>
          <p:cNvSpPr/>
          <p:nvPr/>
        </p:nvSpPr>
        <p:spPr>
          <a:xfrm>
            <a:off x="1152203" y="6276575"/>
            <a:ext cx="792088" cy="267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78644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3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7. </a:t>
            </a:r>
            <a:r>
              <a:rPr lang="zh-CN" altLang="en-US"/>
              <a:t>工艺任务分工管理：</a:t>
            </a:r>
            <a:r>
              <a:rPr lang="zh-CN" altLang="en-US">
                <a:solidFill>
                  <a:srgbClr val="FFFF00"/>
                </a:solidFill>
              </a:rPr>
              <a:t>典型业务场景示意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144091" y="1143571"/>
            <a:ext cx="8784976" cy="51125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5.  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主任工艺师在工艺任务分工过程中，如果发现分工出错，或意外情况需要终止任务，可以选择相应的自制件工艺分工流程，将流程终止。同时，系统将通知流程中的相关人员。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 sz="18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52203" y="6276575"/>
            <a:ext cx="792088" cy="267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24094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7. </a:t>
            </a:r>
            <a:r>
              <a:rPr lang="zh-CN" altLang="en-US"/>
              <a:t>工艺任务分工管理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工艺任务进度查询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未来平台为不同角色提供相应的工艺任务进度跟踪查询功能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zh-CN" b="1" u="sng">
                <a:solidFill>
                  <a:srgbClr val="0070C0"/>
                </a:solidFill>
              </a:rPr>
              <a:t>主任</a:t>
            </a:r>
            <a:r>
              <a:rPr lang="zh-CN" altLang="zh-CN" b="1" u="sng" smtClean="0">
                <a:solidFill>
                  <a:srgbClr val="0070C0"/>
                </a:solidFill>
              </a:rPr>
              <a:t>工艺师</a:t>
            </a:r>
            <a:r>
              <a:rPr lang="zh-CN" altLang="en-US" b="1" smtClean="0">
                <a:solidFill>
                  <a:srgbClr val="0070C0"/>
                </a:solidFill>
              </a:rPr>
              <a:t>：</a:t>
            </a:r>
            <a:r>
              <a:rPr lang="zh-CN" altLang="zh-CN" b="1" smtClean="0">
                <a:solidFill>
                  <a:srgbClr val="0070C0"/>
                </a:solidFill>
              </a:rPr>
              <a:t>可以</a:t>
            </a:r>
            <a:r>
              <a:rPr lang="zh-CN" altLang="en-US" b="1">
                <a:solidFill>
                  <a:srgbClr val="0070C0"/>
                </a:solidFill>
              </a:rPr>
              <a:t>按</a:t>
            </a:r>
            <a:r>
              <a:rPr lang="zh-CN" altLang="zh-CN" b="1" smtClean="0">
                <a:solidFill>
                  <a:srgbClr val="0070C0"/>
                </a:solidFill>
              </a:rPr>
              <a:t>成套件</a:t>
            </a:r>
            <a:r>
              <a:rPr lang="zh-CN" altLang="en-US" b="1" smtClean="0">
                <a:solidFill>
                  <a:srgbClr val="0070C0"/>
                </a:solidFill>
              </a:rPr>
              <a:t>对所有</a:t>
            </a:r>
            <a:r>
              <a:rPr lang="zh-CN" altLang="zh-CN" b="1" smtClean="0">
                <a:solidFill>
                  <a:srgbClr val="0070C0"/>
                </a:solidFill>
              </a:rPr>
              <a:t>工艺</a:t>
            </a:r>
            <a:r>
              <a:rPr lang="zh-CN" altLang="zh-CN" b="1">
                <a:solidFill>
                  <a:srgbClr val="0070C0"/>
                </a:solidFill>
              </a:rPr>
              <a:t>任务</a:t>
            </a:r>
            <a:r>
              <a:rPr lang="zh-CN" altLang="zh-CN" b="1" smtClean="0">
                <a:solidFill>
                  <a:srgbClr val="0070C0"/>
                </a:solidFill>
              </a:rPr>
              <a:t>状态查询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2"/>
            <a:r>
              <a:rPr lang="zh-CN" altLang="zh-CN" b="1" smtClean="0">
                <a:solidFill>
                  <a:srgbClr val="0070C0"/>
                </a:solidFill>
              </a:rPr>
              <a:t>查询</a:t>
            </a:r>
            <a:r>
              <a:rPr lang="zh-CN" altLang="zh-CN" b="1">
                <a:solidFill>
                  <a:srgbClr val="0070C0"/>
                </a:solidFill>
              </a:rPr>
              <a:t>成套件下级所有自制件</a:t>
            </a:r>
          </a:p>
          <a:p>
            <a:pPr lvl="2"/>
            <a:r>
              <a:rPr lang="zh-CN" altLang="zh-CN" b="1">
                <a:solidFill>
                  <a:srgbClr val="00B050"/>
                </a:solidFill>
              </a:rPr>
              <a:t>针对每一自制件查找工艺任务分工的记录</a:t>
            </a:r>
          </a:p>
          <a:p>
            <a:pPr lvl="2"/>
            <a:r>
              <a:rPr lang="zh-CN" altLang="zh-CN" b="1">
                <a:solidFill>
                  <a:srgbClr val="0070C0"/>
                </a:solidFill>
              </a:rPr>
              <a:t>在查询记录中可以按照任务类型进行过滤</a:t>
            </a:r>
            <a:r>
              <a:rPr lang="zh-CN" altLang="zh-CN" b="1" smtClean="0">
                <a:solidFill>
                  <a:srgbClr val="0070C0"/>
                </a:solidFill>
              </a:rPr>
              <a:t>显示</a:t>
            </a:r>
            <a:r>
              <a:rPr lang="zh-CN" altLang="en-US" b="1" smtClean="0">
                <a:solidFill>
                  <a:srgbClr val="0070C0"/>
                </a:solidFill>
              </a:rPr>
              <a:t>：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3"/>
            <a:r>
              <a:rPr lang="zh-CN" altLang="en-US" b="1" smtClean="0">
                <a:solidFill>
                  <a:srgbClr val="0070C0"/>
                </a:solidFill>
              </a:rPr>
              <a:t>工艺设计任务、工艺更改任务、临时工艺任务</a:t>
            </a:r>
            <a:endParaRPr lang="zh-CN" altLang="zh-CN" b="1">
              <a:solidFill>
                <a:srgbClr val="0070C0"/>
              </a:solidFill>
            </a:endParaRPr>
          </a:p>
          <a:p>
            <a:pPr lvl="2"/>
            <a:r>
              <a:rPr lang="zh-CN" altLang="zh-CN" b="1">
                <a:solidFill>
                  <a:srgbClr val="0070C0"/>
                </a:solidFill>
              </a:rPr>
              <a:t>在查询记录中可以按照任务状态进行过滤</a:t>
            </a:r>
            <a:r>
              <a:rPr lang="zh-CN" altLang="zh-CN" b="1" smtClean="0">
                <a:solidFill>
                  <a:srgbClr val="0070C0"/>
                </a:solidFill>
              </a:rPr>
              <a:t>显示</a:t>
            </a:r>
            <a:r>
              <a:rPr lang="zh-CN" altLang="en-US" b="1" smtClean="0">
                <a:solidFill>
                  <a:srgbClr val="0070C0"/>
                </a:solidFill>
              </a:rPr>
              <a:t>：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3"/>
            <a:r>
              <a:rPr lang="zh-CN" altLang="en-US" b="1" smtClean="0">
                <a:solidFill>
                  <a:srgbClr val="0070C0"/>
                </a:solidFill>
              </a:rPr>
              <a:t>进行中、已完成</a:t>
            </a:r>
            <a:endParaRPr lang="zh-CN" altLang="zh-CN" b="1">
              <a:solidFill>
                <a:srgbClr val="0070C0"/>
              </a:solidFill>
            </a:endParaRPr>
          </a:p>
          <a:p>
            <a:pPr lvl="1"/>
            <a:r>
              <a:rPr lang="zh-CN" altLang="zh-CN" b="1" u="sng">
                <a:solidFill>
                  <a:srgbClr val="0070C0"/>
                </a:solidFill>
              </a:rPr>
              <a:t>车间工艺</a:t>
            </a:r>
            <a:r>
              <a:rPr lang="zh-CN" altLang="zh-CN" b="1" u="sng" smtClean="0">
                <a:solidFill>
                  <a:srgbClr val="0070C0"/>
                </a:solidFill>
              </a:rPr>
              <a:t>组长</a:t>
            </a:r>
            <a:r>
              <a:rPr lang="zh-CN" altLang="en-US" b="1" smtClean="0">
                <a:solidFill>
                  <a:srgbClr val="0070C0"/>
                </a:solidFill>
              </a:rPr>
              <a:t>：</a:t>
            </a:r>
            <a:r>
              <a:rPr lang="zh-CN" altLang="zh-CN" b="1" smtClean="0">
                <a:solidFill>
                  <a:srgbClr val="0070C0"/>
                </a:solidFill>
              </a:rPr>
              <a:t>可以</a:t>
            </a:r>
            <a:r>
              <a:rPr lang="zh-CN" altLang="en-US" b="1">
                <a:solidFill>
                  <a:srgbClr val="0070C0"/>
                </a:solidFill>
              </a:rPr>
              <a:t>按</a:t>
            </a:r>
            <a:r>
              <a:rPr lang="zh-CN" altLang="zh-CN" b="1" smtClean="0">
                <a:solidFill>
                  <a:srgbClr val="0070C0"/>
                </a:solidFill>
              </a:rPr>
              <a:t>成套件</a:t>
            </a:r>
            <a:r>
              <a:rPr lang="zh-CN" altLang="en-US" b="1" smtClean="0">
                <a:solidFill>
                  <a:srgbClr val="0070C0"/>
                </a:solidFill>
              </a:rPr>
              <a:t>对本车间的</a:t>
            </a:r>
            <a:r>
              <a:rPr lang="zh-CN" altLang="zh-CN" b="1" smtClean="0">
                <a:solidFill>
                  <a:srgbClr val="0070C0"/>
                </a:solidFill>
              </a:rPr>
              <a:t>工艺</a:t>
            </a:r>
            <a:r>
              <a:rPr lang="zh-CN" altLang="zh-CN" b="1">
                <a:solidFill>
                  <a:srgbClr val="0070C0"/>
                </a:solidFill>
              </a:rPr>
              <a:t>任务状态</a:t>
            </a:r>
            <a:r>
              <a:rPr lang="zh-CN" altLang="zh-CN" b="1" smtClean="0">
                <a:solidFill>
                  <a:srgbClr val="0070C0"/>
                </a:solidFill>
              </a:rPr>
              <a:t>查询</a:t>
            </a:r>
            <a:r>
              <a:rPr lang="zh-CN" altLang="en-US" b="1" smtClean="0">
                <a:solidFill>
                  <a:srgbClr val="0070C0"/>
                </a:solidFill>
              </a:rPr>
              <a:t>：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2"/>
            <a:r>
              <a:rPr lang="zh-CN" altLang="zh-CN" b="1" smtClean="0">
                <a:solidFill>
                  <a:srgbClr val="0070C0"/>
                </a:solidFill>
              </a:rPr>
              <a:t>查询</a:t>
            </a:r>
            <a:r>
              <a:rPr lang="zh-CN" altLang="zh-CN" b="1">
                <a:solidFill>
                  <a:srgbClr val="0070C0"/>
                </a:solidFill>
              </a:rPr>
              <a:t>成套件下级所有自制件</a:t>
            </a:r>
          </a:p>
          <a:p>
            <a:pPr lvl="2"/>
            <a:r>
              <a:rPr lang="zh-CN" altLang="zh-CN" b="1">
                <a:solidFill>
                  <a:srgbClr val="00B050"/>
                </a:solidFill>
              </a:rPr>
              <a:t>针对每一自制件查找本车间为主制或辅制车间的工艺任务分工记录</a:t>
            </a:r>
          </a:p>
          <a:p>
            <a:pPr lvl="2"/>
            <a:r>
              <a:rPr lang="zh-CN" altLang="zh-CN" b="1">
                <a:solidFill>
                  <a:srgbClr val="0070C0"/>
                </a:solidFill>
              </a:rPr>
              <a:t>在查询记录中可以按照任务类型进行过滤显示</a:t>
            </a:r>
          </a:p>
          <a:p>
            <a:pPr lvl="2"/>
            <a:r>
              <a:rPr lang="zh-CN" altLang="zh-CN" b="1">
                <a:solidFill>
                  <a:srgbClr val="0070C0"/>
                </a:solidFill>
              </a:rPr>
              <a:t>在查询记录中可以按照任务状态进行过滤显示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64155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7. </a:t>
            </a:r>
            <a:r>
              <a:rPr lang="zh-CN" altLang="en-US"/>
              <a:t>工艺任务分工管理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工艺任务进度查询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未来平台为不同角色提供相应的工艺任务进度跟踪查询功能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b="1" u="sng" smtClean="0">
                <a:solidFill>
                  <a:srgbClr val="0070C0"/>
                </a:solidFill>
              </a:rPr>
              <a:t>车间工艺员</a:t>
            </a:r>
            <a:r>
              <a:rPr lang="zh-CN" altLang="en-US" b="1" smtClean="0">
                <a:solidFill>
                  <a:srgbClr val="0070C0"/>
                </a:solidFill>
              </a:rPr>
              <a:t>：</a:t>
            </a:r>
            <a:r>
              <a:rPr lang="zh-CN" altLang="zh-CN" b="1" smtClean="0">
                <a:solidFill>
                  <a:srgbClr val="0070C0"/>
                </a:solidFill>
              </a:rPr>
              <a:t>可以</a:t>
            </a:r>
            <a:r>
              <a:rPr lang="zh-CN" altLang="en-US" b="1">
                <a:solidFill>
                  <a:srgbClr val="0070C0"/>
                </a:solidFill>
              </a:rPr>
              <a:t>按</a:t>
            </a:r>
            <a:r>
              <a:rPr lang="zh-CN" altLang="zh-CN" b="1" smtClean="0">
                <a:solidFill>
                  <a:srgbClr val="0070C0"/>
                </a:solidFill>
              </a:rPr>
              <a:t>成套件</a:t>
            </a:r>
            <a:r>
              <a:rPr lang="zh-CN" altLang="en-US" b="1" smtClean="0">
                <a:solidFill>
                  <a:srgbClr val="0070C0"/>
                </a:solidFill>
              </a:rPr>
              <a:t>对本人的</a:t>
            </a:r>
            <a:r>
              <a:rPr lang="zh-CN" altLang="zh-CN" b="1" smtClean="0">
                <a:solidFill>
                  <a:srgbClr val="0070C0"/>
                </a:solidFill>
              </a:rPr>
              <a:t>工艺</a:t>
            </a:r>
            <a:r>
              <a:rPr lang="zh-CN" altLang="zh-CN" b="1">
                <a:solidFill>
                  <a:srgbClr val="0070C0"/>
                </a:solidFill>
              </a:rPr>
              <a:t>任务状态</a:t>
            </a:r>
            <a:r>
              <a:rPr lang="zh-CN" altLang="zh-CN" b="1" smtClean="0">
                <a:solidFill>
                  <a:srgbClr val="0070C0"/>
                </a:solidFill>
              </a:rPr>
              <a:t>查询</a:t>
            </a:r>
            <a:r>
              <a:rPr lang="zh-CN" altLang="en-US" b="1" smtClean="0">
                <a:solidFill>
                  <a:srgbClr val="0070C0"/>
                </a:solidFill>
              </a:rPr>
              <a:t>：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2"/>
            <a:r>
              <a:rPr lang="zh-CN" altLang="zh-CN" b="1" smtClean="0">
                <a:solidFill>
                  <a:srgbClr val="0070C0"/>
                </a:solidFill>
              </a:rPr>
              <a:t>查询</a:t>
            </a:r>
            <a:r>
              <a:rPr lang="zh-CN" altLang="zh-CN" b="1">
                <a:solidFill>
                  <a:srgbClr val="0070C0"/>
                </a:solidFill>
              </a:rPr>
              <a:t>成套件下级所有自制件</a:t>
            </a:r>
          </a:p>
          <a:p>
            <a:pPr lvl="2"/>
            <a:r>
              <a:rPr lang="zh-CN" altLang="zh-CN" b="1">
                <a:solidFill>
                  <a:srgbClr val="00B050"/>
                </a:solidFill>
              </a:rPr>
              <a:t>针对每一自</a:t>
            </a:r>
            <a:r>
              <a:rPr lang="zh-CN" altLang="zh-CN" b="1" smtClean="0">
                <a:solidFill>
                  <a:srgbClr val="00B050"/>
                </a:solidFill>
              </a:rPr>
              <a:t>制件</a:t>
            </a:r>
            <a:r>
              <a:rPr lang="zh-CN" altLang="en-US" b="1" smtClean="0">
                <a:solidFill>
                  <a:srgbClr val="00B050"/>
                </a:solidFill>
              </a:rPr>
              <a:t>本人负责</a:t>
            </a:r>
            <a:r>
              <a:rPr lang="zh-CN" altLang="zh-CN" b="1" smtClean="0">
                <a:solidFill>
                  <a:srgbClr val="00B050"/>
                </a:solidFill>
              </a:rPr>
              <a:t>的</a:t>
            </a:r>
            <a:r>
              <a:rPr lang="zh-CN" altLang="zh-CN" b="1">
                <a:solidFill>
                  <a:srgbClr val="00B050"/>
                </a:solidFill>
              </a:rPr>
              <a:t>工艺任务分工记录</a:t>
            </a:r>
          </a:p>
          <a:p>
            <a:pPr lvl="2"/>
            <a:r>
              <a:rPr lang="zh-CN" altLang="zh-CN" b="1">
                <a:solidFill>
                  <a:srgbClr val="0070C0"/>
                </a:solidFill>
              </a:rPr>
              <a:t>在查询记录中可以按照任务类型进行过滤显示</a:t>
            </a:r>
          </a:p>
          <a:p>
            <a:pPr lvl="2"/>
            <a:r>
              <a:rPr lang="zh-CN" altLang="zh-CN" b="1">
                <a:solidFill>
                  <a:srgbClr val="0070C0"/>
                </a:solidFill>
              </a:rPr>
              <a:t>在查询记录中可以按照任务状态进行过滤</a:t>
            </a:r>
            <a:r>
              <a:rPr lang="zh-CN" altLang="zh-CN" b="1" smtClean="0">
                <a:solidFill>
                  <a:srgbClr val="0070C0"/>
                </a:solidFill>
              </a:rPr>
              <a:t>显示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lvl="1"/>
            <a:r>
              <a:rPr lang="zh-CN" altLang="en-US" b="1">
                <a:solidFill>
                  <a:srgbClr val="0070C0"/>
                </a:solidFill>
              </a:rPr>
              <a:t>查询报表</a:t>
            </a:r>
            <a:r>
              <a:rPr lang="zh-CN" altLang="en-US" b="1" smtClean="0">
                <a:solidFill>
                  <a:srgbClr val="0070C0"/>
                </a:solidFill>
              </a:rPr>
              <a:t>示意：</a:t>
            </a:r>
            <a:endParaRPr lang="zh-CN" altLang="zh-CN" b="1">
              <a:solidFill>
                <a:srgbClr val="0070C0"/>
              </a:solidFill>
            </a:endParaRPr>
          </a:p>
          <a:p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475275"/>
              </p:ext>
            </p:extLst>
          </p:nvPr>
        </p:nvGraphicFramePr>
        <p:xfrm>
          <a:off x="720155" y="4455939"/>
          <a:ext cx="9433047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695"/>
                <a:gridCol w="720080"/>
                <a:gridCol w="720080"/>
                <a:gridCol w="654618"/>
                <a:gridCol w="1112851"/>
                <a:gridCol w="1178313"/>
                <a:gridCol w="916465"/>
                <a:gridCol w="1014658"/>
                <a:gridCol w="877187"/>
                <a:gridCol w="857550"/>
                <a:gridCol w="8575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序号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编号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名称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车间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是否主制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任务类型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任务状态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任务要求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工艺员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计划完成时间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实际完成时间</a:t>
                      </a:r>
                      <a:endParaRPr lang="zh-CN" altLang="en-US" sz="140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XX-01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导轨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是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工艺设计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已完成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Xx</a:t>
                      </a:r>
                      <a:r>
                        <a:rPr lang="zh-CN" altLang="en-US" sz="1400" smtClean="0"/>
                        <a:t>要求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张三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smtClean="0"/>
                        <a:t>2012-7-3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2012-7-2</a:t>
                      </a:r>
                      <a:endParaRPr lang="zh-CN" altLang="en-US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XX-01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导轨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否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工艺设计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进行中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Xx</a:t>
                      </a:r>
                      <a:r>
                        <a:rPr lang="zh-CN" altLang="en-US" sz="1400" smtClean="0"/>
                        <a:t>要求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李四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smtClean="0"/>
                        <a:t>2012-7-3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3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smtClean="0"/>
                        <a:t>XX-02</a:t>
                      </a:r>
                      <a:endParaRPr lang="zh-CN" altLang="en-US" sz="140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上盖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否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工艺更改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进行中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Xx</a:t>
                      </a:r>
                      <a:r>
                        <a:rPr lang="zh-CN" altLang="en-US" sz="1400" smtClean="0"/>
                        <a:t>要求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smtClean="0"/>
                        <a:t>王五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smtClean="0"/>
                        <a:t>2012-7-3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09523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未来实践设计</a:t>
            </a:r>
            <a:r>
              <a:rPr lang="zh-CN" altLang="en-US" smtClean="0">
                <a:solidFill>
                  <a:srgbClr val="FFFF00"/>
                </a:solidFill>
              </a:rPr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5904656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>
              <a:lnSpc>
                <a:spcPct val="150000"/>
              </a:lnSpc>
            </a:pPr>
            <a:r>
              <a:rPr lang="en-US" altLang="zh-CN" sz="2800" b="1" smtClean="0">
                <a:solidFill>
                  <a:schemeClr val="bg1"/>
                </a:solidFill>
              </a:rPr>
              <a:t>8.  </a:t>
            </a:r>
            <a:r>
              <a:rPr lang="zh-CN" altLang="en-US" sz="2800" b="1" smtClean="0">
                <a:solidFill>
                  <a:schemeClr val="bg1"/>
                </a:solidFill>
              </a:rPr>
              <a:t>三维工艺设计管理</a:t>
            </a:r>
            <a:endParaRPr lang="en-US" altLang="zh-CN" sz="2800" b="1" smtClean="0">
              <a:solidFill>
                <a:schemeClr val="bg1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三维装配工艺设计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三维零件工艺设计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三维工艺文件签审</a:t>
            </a:r>
            <a:endParaRPr lang="en-US" altLang="zh-CN" b="1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6237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8. </a:t>
            </a:r>
            <a:r>
              <a:rPr lang="zh-CN" altLang="en-US" smtClean="0"/>
              <a:t>三维工艺设计管理</a:t>
            </a:r>
            <a:endParaRPr lang="zh-CN" altLang="en-US"/>
          </a:p>
        </p:txBody>
      </p:sp>
      <p:sp>
        <p:nvSpPr>
          <p:cNvPr id="5" name="折角形 4"/>
          <p:cNvSpPr/>
          <p:nvPr/>
        </p:nvSpPr>
        <p:spPr>
          <a:xfrm>
            <a:off x="1584251" y="927547"/>
            <a:ext cx="7560840" cy="5544616"/>
          </a:xfrm>
          <a:prstGeom prst="foldedCorner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2000" b="1" smtClean="0">
                <a:solidFill>
                  <a:srgbClr val="FFFF00"/>
                </a:solidFill>
              </a:rPr>
              <a:t>三维工艺的概念</a:t>
            </a:r>
            <a:endParaRPr lang="en-US" altLang="zh-CN" sz="2000" b="1" smtClean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smtClean="0"/>
              <a:t>在型号产品研制过程中</a:t>
            </a:r>
            <a:r>
              <a:rPr lang="zh-CN" altLang="en-US" b="1"/>
              <a:t>开展</a:t>
            </a:r>
            <a:r>
              <a:rPr lang="zh-CN" altLang="en-US" b="1" smtClean="0"/>
              <a:t>三维工程化工作，在产品设计、工艺设计、制造装配、检验、维修全生命周期构建基于三维</a:t>
            </a:r>
            <a:r>
              <a:rPr lang="en-US" altLang="zh-CN" b="1" smtClean="0"/>
              <a:t>MBD</a:t>
            </a:r>
            <a:r>
              <a:rPr lang="zh-CN" altLang="en-US" b="1"/>
              <a:t>的</a:t>
            </a:r>
            <a:r>
              <a:rPr lang="zh-CN" altLang="en-US" b="1" smtClean="0"/>
              <a:t>数字化信息传递及应用体系。</a:t>
            </a:r>
            <a:endParaRPr lang="en-US" altLang="zh-CN" b="1" smtClean="0"/>
          </a:p>
          <a:p>
            <a:pPr>
              <a:lnSpc>
                <a:spcPct val="150000"/>
              </a:lnSpc>
            </a:pPr>
            <a:r>
              <a:rPr lang="zh-CN" altLang="en-US" b="1" smtClean="0"/>
              <a:t>三维工艺的特点：</a:t>
            </a:r>
            <a:endParaRPr lang="en-US" altLang="zh-CN" b="1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/>
              <a:t>基于设计单位全三维</a:t>
            </a:r>
            <a:r>
              <a:rPr lang="en-US" altLang="zh-CN" b="1" smtClean="0"/>
              <a:t>MBD</a:t>
            </a:r>
            <a:r>
              <a:rPr lang="zh-CN" altLang="en-US" b="1" smtClean="0"/>
              <a:t>模型构建的数字化样机进行工艺设计，不再依赖于二维图纸；</a:t>
            </a:r>
            <a:endParaRPr lang="en-US" altLang="zh-CN" b="1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/>
              <a:t>基于全三维</a:t>
            </a:r>
            <a:r>
              <a:rPr lang="en-US" altLang="zh-CN" b="1" smtClean="0"/>
              <a:t>MBD</a:t>
            </a:r>
            <a:r>
              <a:rPr lang="zh-CN" altLang="en-US" b="1" smtClean="0"/>
              <a:t>模型进行装配工艺设计和零件工艺设计：包括基于三维</a:t>
            </a:r>
            <a:r>
              <a:rPr lang="en-US" altLang="zh-CN" b="1" smtClean="0"/>
              <a:t>MBD</a:t>
            </a:r>
            <a:r>
              <a:rPr lang="zh-CN" altLang="en-US" b="1"/>
              <a:t>模型的装配过程仿真、基于零件三维</a:t>
            </a:r>
            <a:r>
              <a:rPr lang="en-US" altLang="zh-CN" b="1" smtClean="0"/>
              <a:t>MBD</a:t>
            </a:r>
            <a:r>
              <a:rPr lang="zh-CN" altLang="en-US" b="1" smtClean="0"/>
              <a:t>模型构建加工中间模型并与工序工步关联、数控零件直接生成加工代码下厂生产；</a:t>
            </a:r>
            <a:endParaRPr lang="en-US" altLang="zh-CN" b="1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/>
              <a:t>三维工艺不代表完全抛弃二维的方式，而是根据实际需要三维和二维结合的方式来表达完整的、可准确指导车间加工装配的工艺文件。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304167966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8. </a:t>
            </a:r>
            <a:r>
              <a:rPr lang="zh-CN" altLang="en-US" smtClean="0"/>
              <a:t>三维工艺设计管理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未来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使用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天河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CAPP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中编制二维工艺文件，并在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CAPP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中完成电子签审流程和更改管理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未来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805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所将开展基于试点型号典型零部件进行三维工程化设计工作，因此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149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厂需要在数字化工艺设计环境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(MPMLink)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下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，利用</a:t>
            </a:r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接收到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的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三维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MBD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模型开展三维工艺设计验证工作。本期项目包括以下验证内容：</a:t>
            </a:r>
          </a:p>
          <a:p>
            <a:pPr lvl="1"/>
            <a:r>
              <a:rPr lang="zh-CN" altLang="zh-CN" b="1">
                <a:solidFill>
                  <a:srgbClr val="0070C0"/>
                </a:solidFill>
              </a:rPr>
              <a:t>三维装配工艺设计</a:t>
            </a:r>
          </a:p>
          <a:p>
            <a:pPr lvl="1"/>
            <a:r>
              <a:rPr lang="zh-CN" altLang="zh-CN" b="1">
                <a:solidFill>
                  <a:srgbClr val="0070C0"/>
                </a:solidFill>
              </a:rPr>
              <a:t>三维零件加工工艺设计</a:t>
            </a:r>
          </a:p>
          <a:p>
            <a:pPr lvl="1"/>
            <a:r>
              <a:rPr lang="zh-CN" altLang="zh-CN" b="1">
                <a:solidFill>
                  <a:srgbClr val="0070C0"/>
                </a:solidFill>
              </a:rPr>
              <a:t>结构化工艺文件电子签审</a:t>
            </a:r>
          </a:p>
          <a:p>
            <a:pPr lvl="1"/>
            <a:r>
              <a:rPr lang="zh-CN" altLang="zh-CN" b="1">
                <a:solidFill>
                  <a:srgbClr val="0070C0"/>
                </a:solidFill>
              </a:rPr>
              <a:t>结构化工艺文件</a:t>
            </a:r>
            <a:r>
              <a:rPr lang="zh-CN" altLang="zh-CN" b="1" smtClean="0">
                <a:solidFill>
                  <a:srgbClr val="0070C0"/>
                </a:solidFill>
              </a:rPr>
              <a:t>变更</a:t>
            </a:r>
            <a:endParaRPr lang="zh-CN" altLang="zh-CN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20641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8.</a:t>
            </a:r>
            <a:r>
              <a:rPr lang="zh-CN" altLang="en-US"/>
              <a:t>三维工艺</a:t>
            </a:r>
            <a:r>
              <a:rPr lang="zh-CN" altLang="en-US" smtClean="0"/>
              <a:t>设计管理：</a:t>
            </a:r>
            <a:r>
              <a:rPr lang="zh-CN" altLang="en-US" smtClean="0">
                <a:solidFill>
                  <a:srgbClr val="FFFF00"/>
                </a:solidFill>
              </a:rPr>
              <a:t>三维装配工艺设计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、 基于三维可视化信息，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实现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EBOM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到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PBOM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的重构，形成最终的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PBOM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、 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基于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PBOM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中的成套件或部件创建装配工艺文件，并进行详细装配操作设计，针对每个工序操作完成零部件装配的分配。</a:t>
            </a:r>
          </a:p>
          <a:p>
            <a:pPr marL="457200" lvl="0" indent="-457200">
              <a:buFont typeface="+mj-lt"/>
              <a:buAutoNum type="arabicPeriod"/>
            </a:pPr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1224061" y="2796239"/>
            <a:ext cx="6417419" cy="2545059"/>
            <a:chOff x="279400" y="2796239"/>
            <a:chExt cx="6417419" cy="2545059"/>
          </a:xfrm>
        </p:grpSpPr>
        <p:pic>
          <p:nvPicPr>
            <p:cNvPr id="26626" name="图片 226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400" y="2798547"/>
              <a:ext cx="6417419" cy="254275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1584251" y="2796239"/>
              <a:ext cx="2736304" cy="36933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zh-CN" b="0" i="0" u="none" strike="noStrike" cap="none" normalizeH="0" baseline="0" smtClean="0">
                  <a:ln>
                    <a:noFill/>
                  </a:ln>
                  <a:solidFill>
                    <a:srgbClr val="595959"/>
                  </a:solidFill>
                  <a:effectLst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a. </a:t>
              </a:r>
              <a:r>
                <a:rPr kumimoji="0" lang="zh-CN" b="0" i="0" u="none" strike="noStrike" cap="none" normalizeH="0" baseline="0" smtClean="0">
                  <a:ln>
                    <a:noFill/>
                  </a:ln>
                  <a:solidFill>
                    <a:srgbClr val="595959"/>
                  </a:solidFill>
                  <a:effectLst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创建新的装配工艺文件</a:t>
              </a:r>
              <a:endParaRPr kumimoji="0" lang="zh-CN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pic>
        <p:nvPicPr>
          <p:cNvPr id="26625" name="图片 226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016" y="4206877"/>
            <a:ext cx="6696744" cy="2268842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箭头连接符 9"/>
          <p:cNvCxnSpPr/>
          <p:nvPr/>
        </p:nvCxnSpPr>
        <p:spPr>
          <a:xfrm>
            <a:off x="7137424" y="3879875"/>
            <a:ext cx="792088" cy="100811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368227" y="2796239"/>
            <a:ext cx="7704856" cy="3679480"/>
            <a:chOff x="1368227" y="2796239"/>
            <a:chExt cx="7704856" cy="3679480"/>
          </a:xfrm>
        </p:grpSpPr>
        <p:pic>
          <p:nvPicPr>
            <p:cNvPr id="13" name="图片 12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8227" y="2796239"/>
              <a:ext cx="7704856" cy="367948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</p:pic>
        <p:sp>
          <p:nvSpPr>
            <p:cNvPr id="11" name="矩形 10"/>
            <p:cNvSpPr/>
            <p:nvPr/>
          </p:nvSpPr>
          <p:spPr>
            <a:xfrm>
              <a:off x="2808387" y="2796239"/>
              <a:ext cx="5400675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>
              <a:spAutoFit/>
            </a:bodyPr>
            <a:lstStyle/>
            <a:p>
              <a:pPr lvl="0"/>
              <a:r>
                <a:rPr lang="en-US" altLang="zh-CN" smtClean="0"/>
                <a:t>b. </a:t>
              </a:r>
              <a:r>
                <a:rPr lang="zh-CN" altLang="zh-CN" smtClean="0"/>
                <a:t>使用</a:t>
              </a:r>
              <a:r>
                <a:rPr lang="zh-CN" altLang="zh-CN"/>
                <a:t>“工艺计划浏览器”打开装配工艺文件，并进行结构化的装配工序操作</a:t>
              </a:r>
              <a:r>
                <a:rPr lang="zh-CN" altLang="zh-CN" smtClean="0"/>
                <a:t>设计</a:t>
              </a:r>
              <a:endParaRPr lang="zh-CN" altLang="zh-CN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224061" y="2798547"/>
            <a:ext cx="6840910" cy="2542751"/>
            <a:chOff x="1224061" y="2798547"/>
            <a:chExt cx="6840910" cy="2542751"/>
          </a:xfrm>
        </p:grpSpPr>
        <p:pic>
          <p:nvPicPr>
            <p:cNvPr id="16" name="图片 15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4061" y="2798547"/>
              <a:ext cx="6840910" cy="254275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</p:pic>
        <p:sp>
          <p:nvSpPr>
            <p:cNvPr id="14" name="矩形 13"/>
            <p:cNvSpPr/>
            <p:nvPr/>
          </p:nvSpPr>
          <p:spPr>
            <a:xfrm>
              <a:off x="2871283" y="3165571"/>
              <a:ext cx="4185761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pPr lvl="0"/>
              <a:r>
                <a:rPr lang="en-US" altLang="zh-CN" smtClean="0"/>
                <a:t>c. </a:t>
              </a:r>
              <a:r>
                <a:rPr lang="zh-CN" altLang="zh-CN" smtClean="0"/>
                <a:t>为</a:t>
              </a:r>
              <a:r>
                <a:rPr lang="zh-CN" altLang="zh-CN"/>
                <a:t>每</a:t>
              </a:r>
              <a:r>
                <a:rPr lang="zh-CN" altLang="zh-CN" smtClean="0"/>
                <a:t>一</a:t>
              </a:r>
              <a:r>
                <a:rPr lang="zh-CN" altLang="zh-CN"/>
                <a:t>装配</a:t>
              </a:r>
              <a:r>
                <a:rPr lang="zh-CN" altLang="zh-CN" smtClean="0"/>
                <a:t>工序</a:t>
              </a:r>
              <a:r>
                <a:rPr lang="en-US" altLang="zh-CN" smtClean="0"/>
                <a:t>/</a:t>
              </a:r>
              <a:r>
                <a:rPr lang="zh-CN" altLang="en-US" smtClean="0"/>
                <a:t>工步</a:t>
              </a:r>
              <a:r>
                <a:rPr lang="zh-CN" altLang="zh-CN" smtClean="0"/>
                <a:t>分配</a:t>
              </a:r>
              <a:r>
                <a:rPr lang="zh-CN" altLang="en-US" smtClean="0"/>
                <a:t>参装</a:t>
              </a:r>
              <a:r>
                <a:rPr lang="zh-CN" altLang="zh-CN" smtClean="0"/>
                <a:t>零部件</a:t>
              </a:r>
              <a:endParaRPr lang="zh-CN" altLang="zh-CN"/>
            </a:p>
          </p:txBody>
        </p:sp>
      </p:grpSp>
      <p:pic>
        <p:nvPicPr>
          <p:cNvPr id="17" name="图片 16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027" y="4295403"/>
            <a:ext cx="7893733" cy="232077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cxnSp>
        <p:nvCxnSpPr>
          <p:cNvPr id="19" name="直接箭头连接符 18"/>
          <p:cNvCxnSpPr/>
          <p:nvPr/>
        </p:nvCxnSpPr>
        <p:spPr>
          <a:xfrm>
            <a:off x="7533468" y="4206877"/>
            <a:ext cx="396044" cy="124891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416" y="2798547"/>
            <a:ext cx="3758934" cy="3677172"/>
          </a:xfrm>
          <a:prstGeom prst="rect">
            <a:avLst/>
          </a:prstGeom>
          <a:noFill/>
          <a:ln>
            <a:solidFill>
              <a:srgbClr val="0070C0"/>
            </a:solidFill>
          </a:ln>
          <a:scene3d>
            <a:camera prst="isometricOffAxis2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38136244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66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8.</a:t>
            </a:r>
            <a:r>
              <a:rPr lang="zh-CN" altLang="en-US"/>
              <a:t>三维工艺</a:t>
            </a:r>
            <a:r>
              <a:rPr lang="zh-CN" altLang="en-US" smtClean="0"/>
              <a:t>设计管理：</a:t>
            </a:r>
            <a:r>
              <a:rPr lang="zh-CN" altLang="en-US" smtClean="0">
                <a:solidFill>
                  <a:srgbClr val="FFFF00"/>
                </a:solidFill>
              </a:rPr>
              <a:t>三维装配工艺设计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3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、 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建立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每个装配工序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工步设置与工艺制造资源数据关系。</a:t>
            </a:r>
          </a:p>
          <a:p>
            <a:pPr marL="457200" lvl="0" indent="-457200">
              <a:buFont typeface="+mj-lt"/>
              <a:buAutoNum type="arabicPeriod"/>
            </a:pPr>
            <a:endParaRPr lang="zh-CN" altLang="en-US"/>
          </a:p>
        </p:txBody>
      </p:sp>
      <p:pic>
        <p:nvPicPr>
          <p:cNvPr id="25" name="图片 2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251" y="2190802"/>
            <a:ext cx="6408712" cy="384885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pic>
        <p:nvPicPr>
          <p:cNvPr id="26" name="图片 2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371" y="2119253"/>
            <a:ext cx="5147072" cy="399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图片 2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315" y="4156905"/>
            <a:ext cx="4908550" cy="7848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cxnSp>
        <p:nvCxnSpPr>
          <p:cNvPr id="20" name="直接箭头连接符 19"/>
          <p:cNvCxnSpPr/>
          <p:nvPr/>
        </p:nvCxnSpPr>
        <p:spPr>
          <a:xfrm flipH="1" flipV="1">
            <a:off x="6192763" y="4941765"/>
            <a:ext cx="252028" cy="45027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64519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8.</a:t>
            </a:r>
            <a:r>
              <a:rPr lang="zh-CN" altLang="en-US"/>
              <a:t>三维工艺设计管理：</a:t>
            </a:r>
            <a:r>
              <a:rPr lang="zh-CN" altLang="en-US">
                <a:solidFill>
                  <a:srgbClr val="FFFF00"/>
                </a:solidFill>
              </a:rPr>
              <a:t>三维装配工艺</a:t>
            </a:r>
            <a:r>
              <a:rPr lang="zh-CN" altLang="en-US" smtClean="0">
                <a:solidFill>
                  <a:srgbClr val="FFFF00"/>
                </a:solidFill>
              </a:rPr>
              <a:t>设计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4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、 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可以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通过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Creo View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进行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产品装配过程仿真，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包括装配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过程注释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、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三维装配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仿真动画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制作与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浏览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，并实现仿真动画与工序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工步</a:t>
            </a:r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关联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zh-CN" altLang="zh-CN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99" y="2439715"/>
            <a:ext cx="4752528" cy="4032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045" y="2459692"/>
            <a:ext cx="5330206" cy="25922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53777382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8.</a:t>
            </a:r>
            <a:r>
              <a:rPr lang="zh-CN" altLang="en-US"/>
              <a:t>三维工艺设计管理：</a:t>
            </a:r>
            <a:r>
              <a:rPr lang="zh-CN" altLang="en-US">
                <a:solidFill>
                  <a:srgbClr val="FFFF00"/>
                </a:solidFill>
              </a:rPr>
              <a:t>三维装配工艺</a:t>
            </a:r>
            <a:r>
              <a:rPr lang="zh-CN" altLang="en-US" smtClean="0">
                <a:solidFill>
                  <a:srgbClr val="FFFF00"/>
                </a:solidFill>
              </a:rPr>
              <a:t>设计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5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、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基于装配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工艺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设计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输出装配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现场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所需要的装配工作指令文件，确保现场工作人员可以直接在基于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Web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环境下查看和操作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3D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工艺数据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未来可根据需要定义输出的工艺文件格式。</a:t>
            </a:r>
            <a:endParaRPr lang="zh-CN" altLang="zh-CN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251" y="2871763"/>
            <a:ext cx="7992888" cy="35283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13021251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8.</a:t>
            </a:r>
            <a:r>
              <a:rPr lang="zh-CN" altLang="en-US"/>
              <a:t>三维工艺设计管理：</a:t>
            </a:r>
            <a:r>
              <a:rPr lang="zh-CN" altLang="en-US" smtClean="0">
                <a:solidFill>
                  <a:srgbClr val="FFFF00"/>
                </a:solidFill>
              </a:rPr>
              <a:t>三维</a:t>
            </a:r>
            <a:r>
              <a:rPr lang="zh-CN" altLang="en-US">
                <a:solidFill>
                  <a:srgbClr val="FFFF00"/>
                </a:solidFill>
              </a:rPr>
              <a:t>零件</a:t>
            </a:r>
            <a:r>
              <a:rPr lang="zh-CN" altLang="en-US" smtClean="0">
                <a:solidFill>
                  <a:srgbClr val="FFFF00"/>
                </a:solidFill>
              </a:rPr>
              <a:t>工艺设计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855539"/>
            <a:ext cx="9609816" cy="5400600"/>
          </a:xfrm>
        </p:spPr>
        <p:txBody>
          <a:bodyPr/>
          <a:lstStyle/>
          <a:p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普通加工零件：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利用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805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所发放的零件三维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MBD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模型</a:t>
            </a:r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进行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零件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加工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工艺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设计，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基于设计三维模型创建毛坯和中间模型，并与每一工序工步关联。</a:t>
            </a:r>
          </a:p>
          <a:p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针对数控加工零件在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Pro/E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中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生成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刀位文件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，通过</a:t>
            </a: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NC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代码后处理生成可用于加工的数控代码，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传输到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数控设备加工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。 </a:t>
            </a:r>
            <a:endParaRPr lang="zh-CN" altLang="zh-CN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363" y="2871763"/>
            <a:ext cx="4896544" cy="38164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02023285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8.</a:t>
            </a:r>
            <a:r>
              <a:rPr lang="zh-CN" altLang="en-US"/>
              <a:t>三维工艺设计管理：</a:t>
            </a:r>
            <a:r>
              <a:rPr lang="zh-CN" altLang="en-US">
                <a:solidFill>
                  <a:srgbClr val="FFFF00"/>
                </a:solidFill>
              </a:rPr>
              <a:t>三维零件工艺</a:t>
            </a:r>
            <a:r>
              <a:rPr lang="zh-CN" altLang="en-US" smtClean="0">
                <a:solidFill>
                  <a:srgbClr val="FFFF00"/>
                </a:solidFill>
              </a:rPr>
              <a:t>设计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、 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零件工艺三维建模：在ProE中基于零件的设计模型构建出毛坯模型和加工中间模型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en-US" altLang="zh-CN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259" y="2295699"/>
            <a:ext cx="6912768" cy="37723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844606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8.</a:t>
            </a:r>
            <a:r>
              <a:rPr lang="zh-CN" altLang="en-US"/>
              <a:t>三维工艺设计管理：</a:t>
            </a:r>
            <a:r>
              <a:rPr lang="zh-CN" altLang="en-US">
                <a:solidFill>
                  <a:srgbClr val="FFFF00"/>
                </a:solidFill>
              </a:rPr>
              <a:t>三维零件工艺</a:t>
            </a:r>
            <a:r>
              <a:rPr lang="zh-CN" altLang="en-US" smtClean="0">
                <a:solidFill>
                  <a:srgbClr val="FFFF00"/>
                </a:solidFill>
              </a:rPr>
              <a:t>设计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、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在制造结构浏览器中，创建机械加工工艺文件，进行详细的工序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工步操作设计，创建每一加工工序与制造资源数据的关联关系，并实现与对应三维中间模型的关联。可以利用可视化工具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CreoView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实现对毛坯、中间模型的尺寸标注与注释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en-US" altLang="zh-CN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294" y="2655739"/>
            <a:ext cx="5916653" cy="3960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814007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8.</a:t>
            </a:r>
            <a:r>
              <a:rPr lang="zh-CN" altLang="en-US"/>
              <a:t>三维工艺设计管理：</a:t>
            </a:r>
            <a:r>
              <a:rPr lang="zh-CN" altLang="en-US">
                <a:solidFill>
                  <a:srgbClr val="FFFF00"/>
                </a:solidFill>
              </a:rPr>
              <a:t>三维零件工艺</a:t>
            </a:r>
            <a:r>
              <a:rPr lang="zh-CN" altLang="en-US" smtClean="0">
                <a:solidFill>
                  <a:srgbClr val="FFFF00"/>
                </a:solidFill>
              </a:rPr>
              <a:t>设计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3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、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基于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零件加工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工艺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文件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生成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生产制造现场所需要的工作指令文件，保证现场人员可以直接在基于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Web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环境下查看和操作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3D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机加工艺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数据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259" y="2367707"/>
            <a:ext cx="7632848" cy="35283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4567482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8.</a:t>
            </a:r>
            <a:r>
              <a:rPr lang="zh-CN" altLang="en-US"/>
              <a:t>三维工艺设计管理：</a:t>
            </a:r>
            <a:r>
              <a:rPr lang="zh-CN" altLang="en-US">
                <a:solidFill>
                  <a:srgbClr val="FFFF00"/>
                </a:solidFill>
              </a:rPr>
              <a:t>三维零件工艺</a:t>
            </a:r>
            <a:r>
              <a:rPr lang="zh-CN" altLang="en-US" smtClean="0">
                <a:solidFill>
                  <a:srgbClr val="FFFF00"/>
                </a:solidFill>
              </a:rPr>
              <a:t>设计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3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、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基于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零件加工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工艺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文件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生成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生产制造现场所需要的工作指令文件，保证现场人员可以直接在基于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Web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环境下查看和操作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3D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机加工艺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数据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259" y="2367707"/>
            <a:ext cx="7632848" cy="35283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31873446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8.</a:t>
            </a:r>
            <a:r>
              <a:rPr lang="zh-CN" altLang="en-US"/>
              <a:t>三维工艺设计管理：</a:t>
            </a:r>
            <a:r>
              <a:rPr lang="zh-CN" altLang="en-US">
                <a:solidFill>
                  <a:srgbClr val="FFFF00"/>
                </a:solidFill>
              </a:rPr>
              <a:t>三维零件工艺</a:t>
            </a:r>
            <a:r>
              <a:rPr lang="zh-CN" altLang="en-US" smtClean="0">
                <a:solidFill>
                  <a:srgbClr val="FFFF00"/>
                </a:solidFill>
              </a:rPr>
              <a:t>设计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smtClean="0">
                <a:solidFill>
                  <a:schemeClr val="accent5">
                    <a:lumMod val="50000"/>
                  </a:schemeClr>
                </a:solidFill>
              </a:rPr>
              <a:t>4</a:t>
            </a:r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、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针对数控加工零件，基于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CAM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自动化加工，即在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Pro/E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的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CAM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模块中设置加工机床、刀具、编程零点等参数，然后指定加工工艺，自动产生加工数据文件和刀位轨迹文件。</a:t>
            </a:r>
          </a:p>
          <a:p>
            <a:pPr lvl="0"/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NC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代码后处理技术，上述所产生的刀位轨迹文件并不是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NC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代码，需要经过机床的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后处理，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转换成数控机床所能识别的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NC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代码，最后传送到数控机床中，进行加工。</a:t>
            </a:r>
          </a:p>
        </p:txBody>
      </p:sp>
    </p:spTree>
    <p:extLst>
      <p:ext uri="{BB962C8B-B14F-4D97-AF65-F5344CB8AC3E}">
        <p14:creationId xmlns:p14="http://schemas.microsoft.com/office/powerpoint/2010/main" val="33201987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8.</a:t>
            </a:r>
            <a:r>
              <a:rPr lang="zh-CN" altLang="en-US"/>
              <a:t>三维工艺设计管理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三维工艺文件签审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16099" y="1143571"/>
            <a:ext cx="3888432" cy="5112568"/>
          </a:xfrm>
        </p:spPr>
        <p:txBody>
          <a:bodyPr/>
          <a:lstStyle/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三维</a:t>
            </a:r>
            <a:r>
              <a:rPr lang="zh-CN" altLang="zh-CN" smtClean="0">
                <a:solidFill>
                  <a:schemeClr val="accent5">
                    <a:lumMod val="50000"/>
                  </a:schemeClr>
                </a:solidFill>
              </a:rPr>
              <a:t>工艺</a:t>
            </a:r>
            <a:r>
              <a:rPr lang="zh-CN" altLang="zh-CN">
                <a:solidFill>
                  <a:schemeClr val="accent5">
                    <a:lumMod val="50000"/>
                  </a:schemeClr>
                </a:solidFill>
              </a:rPr>
              <a:t>文件签审流程和文档的签审流程相同：</a:t>
            </a:r>
          </a:p>
          <a:p>
            <a:pPr marL="400050" lvl="1" indent="0">
              <a:buNone/>
            </a:pPr>
            <a:r>
              <a:rPr lang="zh-CN" altLang="zh-CN" b="1" smtClean="0">
                <a:solidFill>
                  <a:srgbClr val="0070C0"/>
                </a:solidFill>
              </a:rPr>
              <a:t>编制—校对—审核—内部会签—外部会签—标审—批准</a:t>
            </a:r>
          </a:p>
          <a:p>
            <a:pPr marL="0" lvl="0" indent="0">
              <a:buNone/>
            </a:pPr>
            <a:endParaRPr lang="zh-CN" altLang="zh-CN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674455"/>
              </p:ext>
            </p:extLst>
          </p:nvPr>
        </p:nvGraphicFramePr>
        <p:xfrm>
          <a:off x="4104530" y="999555"/>
          <a:ext cx="6696819" cy="571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23" name="Visio" r:id="rId3" imgW="6916965" imgH="5905337" progId="Visio.Drawing.11">
                  <p:embed/>
                </p:oleObj>
              </mc:Choice>
              <mc:Fallback>
                <p:oleObj name="Visio" r:id="rId3" imgW="6916965" imgH="590533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530" y="999555"/>
                        <a:ext cx="6696819" cy="5713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850966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8.</a:t>
            </a:r>
            <a:r>
              <a:rPr lang="zh-CN" altLang="en-US"/>
              <a:t>三维工艺设计管理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三维工艺文件签审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16099" y="1143571"/>
            <a:ext cx="3888432" cy="5112568"/>
          </a:xfrm>
        </p:spPr>
        <p:txBody>
          <a:bodyPr/>
          <a:lstStyle/>
          <a:p>
            <a:r>
              <a:rPr lang="zh-CN" altLang="en-US" smtClean="0">
                <a:solidFill>
                  <a:schemeClr val="accent5">
                    <a:lumMod val="50000"/>
                  </a:schemeClr>
                </a:solidFill>
              </a:rPr>
              <a:t>启动三维工艺签审流程的入口：</a:t>
            </a:r>
            <a:endParaRPr lang="en-US" altLang="zh-CN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b="1" smtClean="0">
                <a:solidFill>
                  <a:schemeClr val="accent5">
                    <a:lumMod val="50000"/>
                  </a:schemeClr>
                </a:solidFill>
              </a:rPr>
              <a:t>产品库文件夹上方按钮</a:t>
            </a:r>
            <a:endParaRPr lang="en-US" altLang="zh-CN" b="1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b="1" smtClean="0">
                <a:solidFill>
                  <a:schemeClr val="accent5">
                    <a:lumMod val="50000"/>
                  </a:schemeClr>
                </a:solidFill>
              </a:rPr>
              <a:t>制造结构浏览器菜单</a:t>
            </a:r>
            <a:endParaRPr lang="zh-CN" altLang="zh-CN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3600475" y="2178209"/>
            <a:ext cx="7056784" cy="1557650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1627207" y="4023891"/>
            <a:ext cx="6365756" cy="2288877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4715412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未来实践设计</a:t>
            </a:r>
            <a:r>
              <a:rPr lang="zh-CN" altLang="en-US" smtClean="0">
                <a:solidFill>
                  <a:srgbClr val="FFFF00"/>
                </a:solidFill>
              </a:rPr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6336704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>
              <a:lnSpc>
                <a:spcPct val="150000"/>
              </a:lnSpc>
            </a:pPr>
            <a:r>
              <a:rPr lang="en-US" altLang="zh-CN" sz="2800" b="1">
                <a:solidFill>
                  <a:schemeClr val="bg1"/>
                </a:solidFill>
              </a:rPr>
              <a:t>9</a:t>
            </a:r>
            <a:r>
              <a:rPr lang="en-US" altLang="zh-CN" sz="2800" b="1" smtClean="0">
                <a:solidFill>
                  <a:schemeClr val="bg1"/>
                </a:solidFill>
              </a:rPr>
              <a:t>.  </a:t>
            </a:r>
            <a:r>
              <a:rPr lang="zh-CN" altLang="en-US" sz="2800" b="1" smtClean="0">
                <a:solidFill>
                  <a:schemeClr val="bg1"/>
                </a:solidFill>
              </a:rPr>
              <a:t>自研产品与工装设计管理</a:t>
            </a:r>
            <a:endParaRPr lang="en-US" altLang="zh-CN" sz="2800" b="1" smtClean="0">
              <a:solidFill>
                <a:schemeClr val="bg1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b="1" smtClean="0">
                <a:solidFill>
                  <a:srgbClr val="FFFF00"/>
                </a:solidFill>
              </a:rPr>
              <a:t>Pro/E</a:t>
            </a:r>
            <a:r>
              <a:rPr lang="zh-CN" altLang="en-US" b="1" smtClean="0">
                <a:solidFill>
                  <a:srgbClr val="FFFF00"/>
                </a:solidFill>
              </a:rPr>
              <a:t>集成及设计协同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自研产品设计模式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工装设计数据管理</a:t>
            </a:r>
            <a:endParaRPr lang="en-US" altLang="zh-CN" b="1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96109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9. </a:t>
            </a:r>
            <a:r>
              <a:rPr lang="zh-CN" altLang="en-US" smtClean="0"/>
              <a:t>自研产品与工装设计管理：</a:t>
            </a:r>
            <a:r>
              <a:rPr lang="en-US" altLang="zh-CN" smtClean="0">
                <a:solidFill>
                  <a:srgbClr val="FFFF00"/>
                </a:solidFill>
              </a:rPr>
              <a:t>Pro/E</a:t>
            </a:r>
            <a:r>
              <a:rPr lang="zh-CN" altLang="en-US" smtClean="0">
                <a:solidFill>
                  <a:srgbClr val="FFFF00"/>
                </a:solidFill>
              </a:rPr>
              <a:t>集成及设计协同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smtClean="0"/>
              <a:t>建立设计标准环境及规范：</a:t>
            </a:r>
            <a:endParaRPr lang="en-US" altLang="zh-CN" smtClean="0"/>
          </a:p>
          <a:p>
            <a:pPr lvl="1"/>
            <a:r>
              <a:rPr lang="zh-CN" altLang="en-US" smtClean="0"/>
              <a:t>统一</a:t>
            </a:r>
            <a:r>
              <a:rPr lang="en-US" altLang="zh-CN" smtClean="0"/>
              <a:t>Pro/E</a:t>
            </a:r>
            <a:r>
              <a:rPr lang="zh-CN" altLang="en-US" smtClean="0"/>
              <a:t>版本：由信维</a:t>
            </a:r>
            <a:r>
              <a:rPr lang="en-US" altLang="zh-CN" smtClean="0"/>
              <a:t>MCAD</a:t>
            </a:r>
            <a:r>
              <a:rPr lang="zh-CN" altLang="en-US" smtClean="0"/>
              <a:t>实施顾问协助确定版本</a:t>
            </a:r>
            <a:endParaRPr lang="en-US" altLang="zh-CN" smtClean="0"/>
          </a:p>
          <a:p>
            <a:pPr lvl="1"/>
            <a:r>
              <a:rPr lang="en-US" altLang="zh-CN"/>
              <a:t>Pro/E</a:t>
            </a:r>
            <a:r>
              <a:rPr lang="zh-CN" altLang="en-US"/>
              <a:t>设计标准模板的</a:t>
            </a:r>
            <a:r>
              <a:rPr lang="zh-CN" altLang="en-US" smtClean="0"/>
              <a:t>建立</a:t>
            </a:r>
            <a:endParaRPr lang="en-US" altLang="zh-CN" smtClean="0"/>
          </a:p>
          <a:p>
            <a:pPr lvl="1"/>
            <a:r>
              <a:rPr lang="zh-CN" altLang="en-US" smtClean="0"/>
              <a:t>二维</a:t>
            </a:r>
            <a:r>
              <a:rPr lang="zh-CN" altLang="en-US"/>
              <a:t>图纸</a:t>
            </a:r>
            <a:r>
              <a:rPr lang="zh-CN" altLang="zh-CN" smtClean="0"/>
              <a:t>模板</a:t>
            </a:r>
            <a:r>
              <a:rPr lang="zh-CN" altLang="zh-CN"/>
              <a:t>的建立：</a:t>
            </a:r>
          </a:p>
          <a:p>
            <a:pPr lvl="2"/>
            <a:r>
              <a:rPr lang="zh-CN" altLang="en-US" smtClean="0"/>
              <a:t>二维</a:t>
            </a:r>
            <a:r>
              <a:rPr lang="zh-CN" altLang="zh-CN" smtClean="0"/>
              <a:t>标准设计图框</a:t>
            </a:r>
            <a:r>
              <a:rPr lang="zh-CN" altLang="en-US" smtClean="0"/>
              <a:t>：</a:t>
            </a:r>
            <a:r>
              <a:rPr lang="zh-CN" altLang="zh-CN" smtClean="0"/>
              <a:t>包括</a:t>
            </a:r>
            <a:r>
              <a:rPr lang="zh-CN" altLang="zh-CN"/>
              <a:t>企业标准工程图框、二维工程图</a:t>
            </a:r>
            <a:r>
              <a:rPr lang="en-US" altLang="zh-CN"/>
              <a:t>BOM</a:t>
            </a:r>
            <a:r>
              <a:rPr lang="zh-CN" altLang="zh-CN"/>
              <a:t>格式建立、二维工程图中使用的一些符号标注等</a:t>
            </a:r>
            <a:r>
              <a:rPr lang="zh-CN" altLang="zh-CN" smtClean="0"/>
              <a:t>。</a:t>
            </a:r>
            <a:endParaRPr lang="en-US" altLang="zh-CN" smtClean="0"/>
          </a:p>
          <a:p>
            <a:pPr lvl="2"/>
            <a:r>
              <a:rPr lang="zh-CN" altLang="zh-CN" smtClean="0"/>
              <a:t>标准</a:t>
            </a:r>
            <a:r>
              <a:rPr lang="zh-CN" altLang="zh-CN"/>
              <a:t>零件和组件设计模板，各类用于工程图</a:t>
            </a:r>
            <a:r>
              <a:rPr lang="en-US" altLang="zh-CN"/>
              <a:t>BOM</a:t>
            </a:r>
            <a:r>
              <a:rPr lang="zh-CN" altLang="zh-CN"/>
              <a:t>和与</a:t>
            </a:r>
            <a:r>
              <a:rPr lang="en-US" altLang="zh-CN"/>
              <a:t>PDM</a:t>
            </a:r>
            <a:r>
              <a:rPr lang="zh-CN" altLang="zh-CN"/>
              <a:t>互通的属性的定义，如重量、材料等</a:t>
            </a:r>
            <a:r>
              <a:rPr lang="zh-CN" altLang="zh-CN" smtClean="0"/>
              <a:t>。</a:t>
            </a:r>
            <a:endParaRPr lang="en-US" altLang="zh-CN" smtClean="0"/>
          </a:p>
          <a:p>
            <a:pPr lvl="1"/>
            <a:r>
              <a:rPr lang="zh-CN" altLang="zh-CN" smtClean="0"/>
              <a:t>标准件</a:t>
            </a:r>
            <a:r>
              <a:rPr lang="zh-CN" altLang="zh-CN"/>
              <a:t>的规范使用</a:t>
            </a:r>
          </a:p>
          <a:p>
            <a:pPr lvl="2"/>
            <a:r>
              <a:rPr lang="zh-CN" altLang="zh-CN"/>
              <a:t>设计师在产品设计时应注意标准件的规范使用，在</a:t>
            </a:r>
            <a:r>
              <a:rPr lang="en-US" altLang="zh-CN"/>
              <a:t>Pro/E</a:t>
            </a:r>
            <a:r>
              <a:rPr lang="zh-CN" altLang="zh-CN"/>
              <a:t>中装配标准件时，应当从标准件库检出标准件到工作区进行装配引用，不允许直接在本地创建或修改标准件。如果需要新增或修改标准件，需要通过标准件入库</a:t>
            </a:r>
            <a:r>
              <a:rPr lang="en-US" altLang="zh-CN"/>
              <a:t>/</a:t>
            </a:r>
            <a:r>
              <a:rPr lang="zh-CN" altLang="zh-CN"/>
              <a:t>更改流程进行。</a:t>
            </a:r>
          </a:p>
          <a:p>
            <a:pPr lvl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77399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9. </a:t>
            </a:r>
            <a:r>
              <a:rPr lang="zh-CN" altLang="en-US"/>
              <a:t>自研产品与工装设计管理：</a:t>
            </a:r>
            <a:r>
              <a:rPr lang="en-US" altLang="zh-CN">
                <a:solidFill>
                  <a:srgbClr val="FFFF00"/>
                </a:solidFill>
              </a:rPr>
              <a:t>Pro/E</a:t>
            </a:r>
            <a:r>
              <a:rPr lang="zh-CN" altLang="en-US">
                <a:solidFill>
                  <a:srgbClr val="FFFF00"/>
                </a:solidFill>
              </a:rPr>
              <a:t>集成及设计</a:t>
            </a:r>
            <a:r>
              <a:rPr lang="zh-CN" altLang="en-US" smtClean="0">
                <a:solidFill>
                  <a:srgbClr val="FFFF00"/>
                </a:solidFill>
              </a:rPr>
              <a:t>协同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smtClean="0"/>
              <a:t>Pro/E</a:t>
            </a:r>
            <a:r>
              <a:rPr lang="zh-CN" altLang="en-US" smtClean="0"/>
              <a:t>模板中参数配置说明（参照</a:t>
            </a:r>
            <a:r>
              <a:rPr lang="en-US" altLang="zh-CN" smtClean="0"/>
              <a:t>805</a:t>
            </a:r>
            <a:r>
              <a:rPr lang="zh-CN" altLang="en-US" smtClean="0"/>
              <a:t>所）：</a:t>
            </a:r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323995"/>
              </p:ext>
            </p:extLst>
          </p:nvPr>
        </p:nvGraphicFramePr>
        <p:xfrm>
          <a:off x="792163" y="2079675"/>
          <a:ext cx="8424936" cy="41423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2208"/>
                <a:gridCol w="2016224"/>
                <a:gridCol w="4536504"/>
              </a:tblGrid>
              <a:tr h="469947">
                <a:tc>
                  <a:txBody>
                    <a:bodyPr/>
                    <a:lstStyle/>
                    <a:p>
                      <a:pPr marL="36576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属性名称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显示名称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smtClean="0">
                          <a:effectLst/>
                        </a:rPr>
                        <a:t>备注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PINDEX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产品代号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手动输入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CINDEX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图号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手动输入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CMAT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材料名称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手动输入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CMAT_UP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材料上标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手动输入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CMAT_DOWN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材料下标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手动输入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REMARK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备注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手动输入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CSIZE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规格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手动输入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DESCRIPTION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数模描述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手动输入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PTC_MATERIAL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PTC</a:t>
                      </a:r>
                      <a:r>
                        <a:rPr lang="zh-CN" sz="1400">
                          <a:effectLst/>
                        </a:rPr>
                        <a:t>内部材料参数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默认值为“</a:t>
                      </a:r>
                      <a:r>
                        <a:rPr lang="x-none" sz="1400">
                          <a:effectLst/>
                        </a:rPr>
                        <a:t>LF6</a:t>
                      </a:r>
                      <a:r>
                        <a:rPr lang="zh-CN" sz="1400">
                          <a:effectLst/>
                        </a:rPr>
                        <a:t>”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SETMARK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成套件标识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默认值为“否”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SIZE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对应工程图图幅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手动输入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CTYPE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类型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默认值为“自制件”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82785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KEYCOMPONENT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关重件标识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默认值为“</a:t>
                      </a:r>
                      <a:r>
                        <a:rPr lang="x-none" sz="1400">
                          <a:effectLst/>
                        </a:rPr>
                        <a:t>N</a:t>
                      </a:r>
                      <a:r>
                        <a:rPr lang="zh-CN" sz="1400">
                          <a:effectLst/>
                        </a:rPr>
                        <a:t>”。</a:t>
                      </a:r>
                      <a:r>
                        <a:rPr lang="x-none" sz="1400">
                          <a:effectLst/>
                        </a:rPr>
                        <a:t>N-</a:t>
                      </a:r>
                      <a:r>
                        <a:rPr lang="zh-CN" sz="1400">
                          <a:effectLst/>
                        </a:rPr>
                        <a:t>一般件；</a:t>
                      </a:r>
                      <a:r>
                        <a:rPr lang="x-none" sz="1400">
                          <a:effectLst/>
                        </a:rPr>
                        <a:t>G-</a:t>
                      </a:r>
                      <a:r>
                        <a:rPr lang="zh-CN" sz="1400">
                          <a:effectLst/>
                        </a:rPr>
                        <a:t>关键件；</a:t>
                      </a:r>
                      <a:r>
                        <a:rPr lang="x-none" sz="1400">
                          <a:effectLst/>
                        </a:rPr>
                        <a:t>Z-</a:t>
                      </a:r>
                      <a:r>
                        <a:rPr lang="zh-CN" sz="1400">
                          <a:effectLst/>
                        </a:rPr>
                        <a:t>重要件。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PHASE_CODE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阶段标识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默认值为“</a:t>
                      </a:r>
                      <a:r>
                        <a:rPr lang="x-none" sz="1400">
                          <a:effectLst/>
                        </a:rPr>
                        <a:t>M</a:t>
                      </a:r>
                      <a:r>
                        <a:rPr lang="zh-CN" sz="1400">
                          <a:effectLst/>
                        </a:rPr>
                        <a:t>”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34973"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x-none" sz="1400">
                          <a:effectLst/>
                        </a:rPr>
                        <a:t>SECRET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密级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576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400">
                          <a:effectLst/>
                        </a:rPr>
                        <a:t>默认值为“内部”</a:t>
                      </a:r>
                      <a:endParaRPr lang="zh-CN" sz="1200">
                        <a:solidFill>
                          <a:srgbClr val="000000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95208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9. </a:t>
            </a:r>
            <a:r>
              <a:rPr lang="zh-CN" altLang="en-US"/>
              <a:t>自研产品与工装设计管理：</a:t>
            </a:r>
            <a:r>
              <a:rPr lang="en-US" altLang="zh-CN">
                <a:solidFill>
                  <a:srgbClr val="FFFF00"/>
                </a:solidFill>
              </a:rPr>
              <a:t>Pro/E</a:t>
            </a:r>
            <a:r>
              <a:rPr lang="zh-CN" altLang="en-US">
                <a:solidFill>
                  <a:srgbClr val="FFFF00"/>
                </a:solidFill>
              </a:rPr>
              <a:t>集成及设计</a:t>
            </a:r>
            <a:r>
              <a:rPr lang="zh-CN" altLang="en-US" smtClean="0">
                <a:solidFill>
                  <a:srgbClr val="FFFF00"/>
                </a:solidFill>
              </a:rPr>
              <a:t>协同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zh-CN"/>
              <a:t>通过</a:t>
            </a:r>
            <a:r>
              <a:rPr lang="en-US" altLang="zh-CN"/>
              <a:t>Pro/E</a:t>
            </a:r>
            <a:r>
              <a:rPr lang="zh-CN" altLang="zh-CN"/>
              <a:t>与</a:t>
            </a:r>
            <a:r>
              <a:rPr lang="en-US" altLang="zh-CN"/>
              <a:t>Windchill 10</a:t>
            </a:r>
            <a:r>
              <a:rPr lang="zh-CN" altLang="zh-CN"/>
              <a:t>的集成配置，用</a:t>
            </a:r>
            <a:r>
              <a:rPr lang="en-US" altLang="zh-CN"/>
              <a:t>Windchill PDMLink</a:t>
            </a:r>
            <a:r>
              <a:rPr lang="zh-CN" altLang="zh-CN"/>
              <a:t>管理设计数据，实现权限、版本管理；实现设计数据的共享和充分</a:t>
            </a:r>
            <a:r>
              <a:rPr lang="zh-CN" altLang="zh-CN" smtClean="0"/>
              <a:t>利用。</a:t>
            </a:r>
            <a:endParaRPr lang="zh-CN" altLang="zh-CN"/>
          </a:p>
          <a:p>
            <a:r>
              <a:rPr lang="zh-CN" altLang="zh-CN"/>
              <a:t>对于</a:t>
            </a:r>
            <a:r>
              <a:rPr lang="en-US" altLang="zh-CN"/>
              <a:t>Pro/E</a:t>
            </a:r>
            <a:r>
              <a:rPr lang="zh-CN" altLang="zh-CN"/>
              <a:t>实现如下集成：</a:t>
            </a:r>
          </a:p>
          <a:p>
            <a:pPr lvl="1"/>
            <a:r>
              <a:rPr lang="zh-CN" altLang="zh-CN"/>
              <a:t>从</a:t>
            </a:r>
            <a:r>
              <a:rPr lang="en-US" altLang="zh-CN"/>
              <a:t>Pro/E</a:t>
            </a:r>
            <a:r>
              <a:rPr lang="zh-CN" altLang="zh-CN"/>
              <a:t>环境中，直接连接、浏览</a:t>
            </a:r>
            <a:r>
              <a:rPr lang="en-US" altLang="zh-CN" smtClean="0"/>
              <a:t>Windchill</a:t>
            </a:r>
            <a:r>
              <a:rPr lang="zh-CN" altLang="zh-CN" smtClean="0"/>
              <a:t>服务器</a:t>
            </a:r>
            <a:r>
              <a:rPr lang="zh-CN" altLang="zh-CN"/>
              <a:t>；</a:t>
            </a:r>
          </a:p>
          <a:p>
            <a:pPr lvl="1"/>
            <a:r>
              <a:rPr lang="zh-CN" altLang="zh-CN"/>
              <a:t>创建、检入、检出</a:t>
            </a:r>
            <a:r>
              <a:rPr lang="en-US" altLang="zh-CN"/>
              <a:t>Pro/E</a:t>
            </a:r>
            <a:r>
              <a:rPr lang="zh-CN" altLang="zh-CN"/>
              <a:t>数据模型并实现版本控制；</a:t>
            </a:r>
          </a:p>
          <a:p>
            <a:pPr lvl="1"/>
            <a:r>
              <a:rPr lang="zh-CN" altLang="zh-CN"/>
              <a:t>关联</a:t>
            </a:r>
            <a:r>
              <a:rPr lang="en-US" altLang="zh-CN"/>
              <a:t>Pro/E</a:t>
            </a:r>
            <a:r>
              <a:rPr lang="zh-CN" altLang="zh-CN"/>
              <a:t>三维模型（装配与零件）、二维图（零件与二维图），并在</a:t>
            </a:r>
            <a:r>
              <a:rPr lang="en-US" altLang="zh-CN"/>
              <a:t>PDMLink</a:t>
            </a:r>
            <a:r>
              <a:rPr lang="zh-CN" altLang="zh-CN"/>
              <a:t>系统中维护；</a:t>
            </a:r>
          </a:p>
          <a:p>
            <a:pPr lvl="1"/>
            <a:r>
              <a:rPr lang="zh-CN" altLang="zh-CN"/>
              <a:t>实现</a:t>
            </a:r>
            <a:r>
              <a:rPr lang="en-US" altLang="zh-CN"/>
              <a:t>PDMLink</a:t>
            </a:r>
            <a:r>
              <a:rPr lang="zh-CN" altLang="zh-CN"/>
              <a:t>属性与</a:t>
            </a:r>
            <a:r>
              <a:rPr lang="en-US" altLang="zh-CN"/>
              <a:t>Pro/E</a:t>
            </a:r>
            <a:r>
              <a:rPr lang="zh-CN" altLang="zh-CN"/>
              <a:t>模型文件参数之间的映射；</a:t>
            </a:r>
          </a:p>
          <a:p>
            <a:pPr lvl="1"/>
            <a:r>
              <a:rPr lang="zh-CN" altLang="zh-CN"/>
              <a:t>实现将三维模型自动转换为轻量化的可视化文件。</a:t>
            </a:r>
          </a:p>
        </p:txBody>
      </p:sp>
    </p:spTree>
    <p:extLst>
      <p:ext uri="{BB962C8B-B14F-4D97-AF65-F5344CB8AC3E}">
        <p14:creationId xmlns:p14="http://schemas.microsoft.com/office/powerpoint/2010/main" val="44808503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9. </a:t>
            </a:r>
            <a:r>
              <a:rPr lang="zh-CN" altLang="en-US"/>
              <a:t>自研产品与工装设计管理：</a:t>
            </a:r>
            <a:r>
              <a:rPr lang="en-US" altLang="zh-CN">
                <a:solidFill>
                  <a:srgbClr val="FFFF00"/>
                </a:solidFill>
              </a:rPr>
              <a:t>Pro/E</a:t>
            </a:r>
            <a:r>
              <a:rPr lang="zh-CN" altLang="en-US">
                <a:solidFill>
                  <a:srgbClr val="FFFF00"/>
                </a:solidFill>
              </a:rPr>
              <a:t>集成及设计</a:t>
            </a:r>
            <a:r>
              <a:rPr lang="zh-CN" altLang="en-US" smtClean="0">
                <a:solidFill>
                  <a:srgbClr val="FFFF00"/>
                </a:solidFill>
              </a:rPr>
              <a:t>协同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/>
              <a:t>自研产品与工装</a:t>
            </a:r>
            <a:r>
              <a:rPr lang="zh-CN" altLang="en-US" smtClean="0"/>
              <a:t>协同设计方式：</a:t>
            </a:r>
            <a:endParaRPr lang="en-US" altLang="zh-CN" smtClean="0"/>
          </a:p>
          <a:p>
            <a:pPr lvl="1"/>
            <a:r>
              <a:rPr lang="zh-CN" altLang="en-US" smtClean="0"/>
              <a:t>基于</a:t>
            </a:r>
            <a:r>
              <a:rPr lang="en-US" altLang="zh-CN" smtClean="0"/>
              <a:t>Pro/E</a:t>
            </a:r>
            <a:r>
              <a:rPr lang="zh-CN" altLang="en-US" smtClean="0"/>
              <a:t>与</a:t>
            </a:r>
            <a:r>
              <a:rPr lang="en-US" altLang="zh-CN" smtClean="0"/>
              <a:t>Windchill</a:t>
            </a:r>
            <a:r>
              <a:rPr lang="zh-CN" altLang="en-US" smtClean="0"/>
              <a:t>集成中的“</a:t>
            </a:r>
            <a:r>
              <a:rPr lang="zh-CN" altLang="en-US" smtClean="0">
                <a:solidFill>
                  <a:srgbClr val="00B050"/>
                </a:solidFill>
              </a:rPr>
              <a:t>工作区</a:t>
            </a:r>
            <a:r>
              <a:rPr lang="zh-CN" altLang="en-US" smtClean="0"/>
              <a:t>”实现</a:t>
            </a:r>
            <a:r>
              <a:rPr lang="en-US" altLang="zh-CN" smtClean="0"/>
              <a:t>临时设计结果</a:t>
            </a:r>
            <a:r>
              <a:rPr lang="zh-CN" altLang="en-US" smtClean="0"/>
              <a:t>存储</a:t>
            </a:r>
            <a:r>
              <a:rPr lang="en-US" altLang="zh-CN" smtClean="0"/>
              <a:t>，</a:t>
            </a:r>
            <a:r>
              <a:rPr lang="en-US" altLang="zh-CN"/>
              <a:t>当完成较大的设计结果及与设计小组中其他人员共享沟通时，需要将工作区中的对象检入产品库中保存</a:t>
            </a:r>
            <a:r>
              <a:rPr lang="en-US" altLang="zh-CN" smtClean="0"/>
              <a:t>。</a:t>
            </a:r>
          </a:p>
          <a:p>
            <a:pPr lvl="1"/>
            <a:r>
              <a:rPr lang="zh-CN" altLang="zh-CN"/>
              <a:t>同</a:t>
            </a:r>
            <a:r>
              <a:rPr lang="zh-CN" altLang="zh-CN" smtClean="0"/>
              <a:t>一</a:t>
            </a:r>
            <a:r>
              <a:rPr lang="zh-CN" altLang="en-US" smtClean="0"/>
              <a:t>设计团队</a:t>
            </a:r>
            <a:r>
              <a:rPr lang="zh-CN" altLang="zh-CN" smtClean="0"/>
              <a:t>的</a:t>
            </a:r>
            <a:r>
              <a:rPr lang="zh-CN" altLang="zh-CN"/>
              <a:t>用户</a:t>
            </a:r>
            <a:r>
              <a:rPr lang="zh-CN" altLang="zh-CN" smtClean="0"/>
              <a:t>对</a:t>
            </a:r>
            <a:r>
              <a:rPr lang="zh-CN" altLang="en-US"/>
              <a:t>团队</a:t>
            </a:r>
            <a:r>
              <a:rPr lang="zh-CN" altLang="zh-CN" smtClean="0"/>
              <a:t>的</a:t>
            </a:r>
            <a:r>
              <a:rPr lang="zh-CN" altLang="zh-CN"/>
              <a:t>设计数据</a:t>
            </a:r>
            <a:r>
              <a:rPr lang="zh-CN" altLang="zh-CN" smtClean="0"/>
              <a:t>拥有</a:t>
            </a:r>
            <a:r>
              <a:rPr lang="zh-CN" altLang="en-US"/>
              <a:t>修改</a:t>
            </a:r>
            <a:r>
              <a:rPr lang="zh-CN" altLang="zh-CN" smtClean="0"/>
              <a:t>权限</a:t>
            </a:r>
            <a:r>
              <a:rPr lang="zh-CN" altLang="zh-CN"/>
              <a:t>，如果意外的修改了设计数据，会</a:t>
            </a:r>
            <a:r>
              <a:rPr lang="zh-CN" altLang="zh-CN" smtClean="0"/>
              <a:t>有</a:t>
            </a:r>
            <a:r>
              <a:rPr lang="zh-CN" altLang="en-US"/>
              <a:t>修改</a:t>
            </a:r>
            <a:r>
              <a:rPr lang="zh-CN" altLang="zh-CN" smtClean="0"/>
              <a:t>记录</a:t>
            </a:r>
            <a:r>
              <a:rPr lang="zh-CN" altLang="zh-CN"/>
              <a:t>，由产品经理处理此问题</a:t>
            </a:r>
            <a:r>
              <a:rPr lang="zh-CN" altLang="zh-CN" smtClean="0"/>
              <a:t>。</a:t>
            </a:r>
            <a:endParaRPr lang="en-US" altLang="zh-CN" smtClean="0"/>
          </a:p>
          <a:p>
            <a:pPr lvl="1"/>
            <a:r>
              <a:rPr lang="zh-CN" altLang="zh-CN"/>
              <a:t>所有的标准件必须使用数据共享平台标准件库中的模型，设计人员不能使用自己硬盘上的标准件零件，否则会导致系统中标准件管理混乱。</a:t>
            </a:r>
          </a:p>
          <a:p>
            <a:pPr lvl="1"/>
            <a:r>
              <a:rPr lang="zh-CN" altLang="zh-CN"/>
              <a:t>结构设计、电气设计与软件设计可以同时进行</a:t>
            </a:r>
            <a:r>
              <a:rPr lang="zh-CN" altLang="zh-CN" smtClean="0"/>
              <a:t>。</a:t>
            </a:r>
            <a:endParaRPr lang="zh-CN" altLang="zh-CN"/>
          </a:p>
          <a:p>
            <a:pPr lvl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369325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9. </a:t>
            </a:r>
            <a:r>
              <a:rPr lang="zh-CN" altLang="en-US"/>
              <a:t>自研产品与工装设计管理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自研产品的设计模式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143570"/>
            <a:ext cx="9609816" cy="5608067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自研产品与工装设计</a:t>
            </a:r>
            <a:r>
              <a:rPr lang="zh-CN" altLang="en-US" smtClean="0"/>
              <a:t>模式：</a:t>
            </a:r>
            <a:endParaRPr lang="en-US" altLang="zh-CN" smtClean="0"/>
          </a:p>
          <a:p>
            <a:pPr lvl="0"/>
            <a:r>
              <a:rPr lang="zh-CN" altLang="zh-CN"/>
              <a:t>三维设计模式</a:t>
            </a:r>
            <a:r>
              <a:rPr lang="en-US" altLang="zh-CN"/>
              <a:t> </a:t>
            </a:r>
            <a:endParaRPr lang="zh-CN" altLang="zh-CN"/>
          </a:p>
          <a:p>
            <a:pPr lvl="1"/>
            <a:r>
              <a:rPr lang="zh-CN" altLang="zh-CN"/>
              <a:t>基于三维设计的自研产品，可以采用通过</a:t>
            </a:r>
            <a:r>
              <a:rPr lang="en-US" altLang="zh-CN" smtClean="0"/>
              <a:t>Pro/E</a:t>
            </a:r>
            <a:r>
              <a:rPr lang="zh-CN" altLang="zh-CN" smtClean="0"/>
              <a:t>集成</a:t>
            </a:r>
            <a:r>
              <a:rPr lang="zh-CN" altLang="zh-CN"/>
              <a:t>检入</a:t>
            </a:r>
            <a:r>
              <a:rPr lang="en-US" altLang="zh-CN" smtClean="0"/>
              <a:t>Windchill</a:t>
            </a:r>
            <a:r>
              <a:rPr lang="zh-CN" altLang="en-US" smtClean="0"/>
              <a:t>，自动</a:t>
            </a:r>
            <a:r>
              <a:rPr lang="zh-CN" altLang="zh-CN" smtClean="0"/>
              <a:t>形成</a:t>
            </a:r>
            <a:r>
              <a:rPr lang="zh-CN" altLang="zh-CN"/>
              <a:t>产品</a:t>
            </a:r>
            <a:r>
              <a:rPr lang="zh-CN" altLang="zh-CN" smtClean="0"/>
              <a:t>结构</a:t>
            </a:r>
            <a:r>
              <a:rPr lang="zh-CN" altLang="en-US" smtClean="0"/>
              <a:t>，并关联三维模型和</a:t>
            </a:r>
            <a:r>
              <a:rPr lang="en-US" altLang="zh-CN" smtClean="0"/>
              <a:t>DRW</a:t>
            </a:r>
            <a:r>
              <a:rPr lang="zh-CN" altLang="en-US" smtClean="0"/>
              <a:t>二维图</a:t>
            </a:r>
            <a:r>
              <a:rPr lang="zh-CN" altLang="zh-CN" smtClean="0"/>
              <a:t>。</a:t>
            </a:r>
            <a:endParaRPr lang="zh-CN" altLang="zh-CN"/>
          </a:p>
          <a:p>
            <a:pPr lvl="1"/>
            <a:r>
              <a:rPr lang="zh-CN" altLang="zh-CN"/>
              <a:t>本阶段自研产品使用</a:t>
            </a:r>
            <a:r>
              <a:rPr lang="en-US" altLang="zh-CN"/>
              <a:t>Pro/E</a:t>
            </a:r>
            <a:r>
              <a:rPr lang="zh-CN" altLang="zh-CN"/>
              <a:t>产生的三维模型仅作为参考，仍然需转为</a:t>
            </a:r>
            <a:r>
              <a:rPr lang="en-US" altLang="zh-CN"/>
              <a:t>DRW</a:t>
            </a:r>
            <a:r>
              <a:rPr lang="zh-CN" altLang="zh-CN"/>
              <a:t>二维工程图作为签审和生产的正式数据。</a:t>
            </a:r>
          </a:p>
          <a:p>
            <a:pPr lvl="1"/>
            <a:r>
              <a:rPr lang="zh-CN" altLang="zh-CN"/>
              <a:t>如果未来采用</a:t>
            </a:r>
            <a:r>
              <a:rPr lang="en-US" altLang="zh-CN"/>
              <a:t>TOP-DOWN</a:t>
            </a:r>
            <a:r>
              <a:rPr lang="zh-CN" altLang="zh-CN"/>
              <a:t>设计</a:t>
            </a:r>
            <a:r>
              <a:rPr lang="zh-CN" altLang="zh-CN" smtClean="0"/>
              <a:t>模式</a:t>
            </a:r>
            <a:r>
              <a:rPr lang="zh-CN" altLang="en-US" smtClean="0"/>
              <a:t>，</a:t>
            </a:r>
            <a:r>
              <a:rPr lang="zh-CN" altLang="zh-CN" smtClean="0"/>
              <a:t>需要</a:t>
            </a:r>
            <a:r>
              <a:rPr lang="zh-CN" altLang="zh-CN"/>
              <a:t>由总体人员手工建立系统、分系统层的产品结构。</a:t>
            </a:r>
          </a:p>
          <a:p>
            <a:pPr lvl="1"/>
            <a:r>
              <a:rPr lang="zh-CN" altLang="zh-CN"/>
              <a:t>如果不采用</a:t>
            </a:r>
            <a:r>
              <a:rPr lang="en-US" altLang="zh-CN"/>
              <a:t>TOP-DOWN</a:t>
            </a:r>
            <a:r>
              <a:rPr lang="zh-CN" altLang="zh-CN" smtClean="0"/>
              <a:t>方式</a:t>
            </a:r>
            <a:r>
              <a:rPr lang="zh-CN" altLang="en-US" smtClean="0"/>
              <a:t>，</a:t>
            </a:r>
            <a:r>
              <a:rPr lang="zh-CN" altLang="zh-CN" smtClean="0"/>
              <a:t>则</a:t>
            </a:r>
            <a:r>
              <a:rPr lang="zh-CN" altLang="zh-CN"/>
              <a:t>需要由各设计师分别建立不同的部套结构模型，然后集成检入至</a:t>
            </a:r>
            <a:r>
              <a:rPr lang="en-US" altLang="zh-CN"/>
              <a:t>Windchill</a:t>
            </a:r>
            <a:r>
              <a:rPr lang="zh-CN" altLang="zh-CN"/>
              <a:t>，再由总体人员手工将部套挂接至产品主结构的方式。</a:t>
            </a:r>
          </a:p>
          <a:p>
            <a:pPr lvl="1"/>
            <a:r>
              <a:rPr lang="zh-CN" altLang="zh-CN"/>
              <a:t>电气设计（</a:t>
            </a:r>
            <a:r>
              <a:rPr lang="en-US" altLang="zh-CN"/>
              <a:t>PCB</a:t>
            </a:r>
            <a:r>
              <a:rPr lang="zh-CN" altLang="zh-CN"/>
              <a:t>）和软件如果需要节点，设计师手工在结构树中建立</a:t>
            </a:r>
            <a:r>
              <a:rPr lang="en-US" altLang="zh-CN"/>
              <a:t>Part</a:t>
            </a:r>
            <a:r>
              <a:rPr lang="zh-CN" altLang="zh-CN"/>
              <a:t>，并建立该</a:t>
            </a:r>
            <a:r>
              <a:rPr lang="en-US" altLang="zh-CN"/>
              <a:t>Part</a:t>
            </a:r>
            <a:r>
              <a:rPr lang="zh-CN" altLang="zh-CN"/>
              <a:t>与电气设计文件与软件文件的关联关系。</a:t>
            </a:r>
          </a:p>
          <a:p>
            <a:pPr lvl="1"/>
            <a:endParaRPr lang="zh-CN" altLang="zh-CN"/>
          </a:p>
          <a:p>
            <a:pPr lvl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5206062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9. </a:t>
            </a:r>
            <a:r>
              <a:rPr lang="zh-CN" altLang="en-US"/>
              <a:t>自研产品与工装设计管理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自研产品的设计模式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143570"/>
            <a:ext cx="9609816" cy="560806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mtClean="0"/>
              <a:t>自研产品与工装设计模式：</a:t>
            </a:r>
            <a:endParaRPr lang="en-US" altLang="zh-CN" smtClean="0"/>
          </a:p>
          <a:p>
            <a:pPr lvl="0"/>
            <a:r>
              <a:rPr lang="zh-CN" altLang="en-US"/>
              <a:t>二维</a:t>
            </a:r>
            <a:r>
              <a:rPr lang="zh-CN" altLang="zh-CN" smtClean="0"/>
              <a:t>设计</a:t>
            </a:r>
            <a:r>
              <a:rPr lang="zh-CN" altLang="zh-CN"/>
              <a:t>模式</a:t>
            </a:r>
            <a:r>
              <a:rPr lang="en-US" altLang="zh-CN"/>
              <a:t> </a:t>
            </a:r>
            <a:endParaRPr lang="zh-CN" altLang="zh-CN"/>
          </a:p>
          <a:p>
            <a:pPr lvl="1"/>
            <a:r>
              <a:rPr lang="zh-CN" altLang="zh-CN"/>
              <a:t>基于</a:t>
            </a:r>
            <a:r>
              <a:rPr lang="en-US" altLang="zh-CN"/>
              <a:t>AutoCAD</a:t>
            </a:r>
            <a:r>
              <a:rPr lang="zh-CN" altLang="zh-CN"/>
              <a:t>二维设计的自研产品，可以采用手工创建产品结构的</a:t>
            </a:r>
            <a:r>
              <a:rPr lang="zh-CN" altLang="zh-CN" smtClean="0"/>
              <a:t>方式。</a:t>
            </a:r>
            <a:endParaRPr lang="zh-CN" altLang="zh-CN"/>
          </a:p>
          <a:p>
            <a:pPr lvl="1"/>
            <a:r>
              <a:rPr lang="zh-CN" altLang="zh-CN"/>
              <a:t>在</a:t>
            </a:r>
            <a:r>
              <a:rPr lang="en-US" altLang="zh-CN"/>
              <a:t>Windchill</a:t>
            </a:r>
            <a:r>
              <a:rPr lang="zh-CN" altLang="zh-CN"/>
              <a:t>平台中基于手工建立的</a:t>
            </a:r>
            <a:r>
              <a:rPr lang="en-US" altLang="zh-CN"/>
              <a:t>Part</a:t>
            </a:r>
            <a:r>
              <a:rPr lang="zh-CN" altLang="zh-CN"/>
              <a:t>对象，创建“图样”对象，将图纸作为主内容上传至</a:t>
            </a:r>
            <a:r>
              <a:rPr lang="en-US" altLang="zh-CN"/>
              <a:t>Windchill</a:t>
            </a:r>
            <a:r>
              <a:rPr lang="zh-CN" altLang="zh-CN" smtClean="0"/>
              <a:t>平台</a:t>
            </a:r>
            <a:r>
              <a:rPr lang="zh-CN" altLang="en-US" smtClean="0"/>
              <a:t>，手工建立图纸与对应的</a:t>
            </a:r>
            <a:r>
              <a:rPr lang="en-US" altLang="zh-CN" smtClean="0"/>
              <a:t>Part</a:t>
            </a:r>
            <a:r>
              <a:rPr lang="zh-CN" altLang="en-US" smtClean="0"/>
              <a:t>对象的关联关系</a:t>
            </a:r>
            <a:r>
              <a:rPr lang="zh-CN" altLang="zh-CN" smtClean="0"/>
              <a:t>。</a:t>
            </a:r>
            <a:endParaRPr lang="zh-CN" altLang="zh-CN"/>
          </a:p>
          <a:p>
            <a:pPr lvl="1"/>
            <a:r>
              <a:rPr lang="zh-CN" altLang="zh-CN" smtClean="0"/>
              <a:t>二</a:t>
            </a:r>
            <a:r>
              <a:rPr lang="zh-CN" altLang="zh-CN"/>
              <a:t>维图纸需要由设计师手工转化为</a:t>
            </a:r>
            <a:r>
              <a:rPr lang="en-US" altLang="zh-CN"/>
              <a:t>PDF</a:t>
            </a:r>
            <a:r>
              <a:rPr lang="zh-CN" altLang="zh-CN"/>
              <a:t>文档，和图纸一起检入至</a:t>
            </a:r>
            <a:r>
              <a:rPr lang="en-US" altLang="zh-CN"/>
              <a:t>Windchill</a:t>
            </a:r>
            <a:r>
              <a:rPr lang="zh-CN" altLang="zh-CN"/>
              <a:t>平台，用于后续的签审和电子签名。</a:t>
            </a:r>
          </a:p>
          <a:p>
            <a:pPr lvl="1"/>
            <a:endParaRPr lang="zh-CN" altLang="zh-CN"/>
          </a:p>
          <a:p>
            <a:pPr lvl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5512517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9. </a:t>
            </a:r>
            <a:r>
              <a:rPr lang="zh-CN" altLang="en-US"/>
              <a:t>自研产品与工装设计管理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自研产品的设计模式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143570"/>
            <a:ext cx="9609816" cy="560806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mtClean="0"/>
              <a:t>自研产品与工装设计模式：</a:t>
            </a:r>
            <a:endParaRPr lang="en-US" altLang="zh-CN" smtClean="0"/>
          </a:p>
          <a:p>
            <a:pPr lvl="0"/>
            <a:r>
              <a:rPr lang="zh-CN" altLang="zh-CN"/>
              <a:t>建议未来新的自研</a:t>
            </a:r>
            <a:r>
              <a:rPr lang="zh-CN" altLang="zh-CN" smtClean="0"/>
              <a:t>产品</a:t>
            </a:r>
            <a:r>
              <a:rPr lang="en-US" altLang="zh-CN" smtClean="0"/>
              <a:t>/</a:t>
            </a:r>
            <a:r>
              <a:rPr lang="zh-CN" altLang="en-US" smtClean="0"/>
              <a:t>工装</a:t>
            </a:r>
            <a:r>
              <a:rPr lang="zh-CN" altLang="zh-CN" smtClean="0"/>
              <a:t>全部</a:t>
            </a:r>
            <a:r>
              <a:rPr lang="zh-CN" altLang="zh-CN"/>
              <a:t>统一采用</a:t>
            </a:r>
            <a:r>
              <a:rPr lang="en-US" altLang="zh-CN"/>
              <a:t>Pro/E</a:t>
            </a:r>
            <a:r>
              <a:rPr lang="zh-CN" altLang="zh-CN"/>
              <a:t>三维建模，转为</a:t>
            </a:r>
            <a:r>
              <a:rPr lang="en-US" altLang="zh-CN"/>
              <a:t>DRW</a:t>
            </a:r>
            <a:r>
              <a:rPr lang="zh-CN" altLang="zh-CN"/>
              <a:t>二维工程图的方式，为将来可能开展的三维工程化设计工作打好基础。</a:t>
            </a:r>
          </a:p>
          <a:p>
            <a:pPr lvl="0"/>
            <a:r>
              <a:rPr lang="zh-CN" altLang="zh-CN" smtClean="0"/>
              <a:t>设计</a:t>
            </a:r>
            <a:r>
              <a:rPr lang="zh-CN" altLang="zh-CN"/>
              <a:t>文件电子签审流程：参见章节</a:t>
            </a:r>
            <a:r>
              <a:rPr lang="zh-CN" altLang="zh-CN" smtClean="0"/>
              <a:t>《</a:t>
            </a:r>
            <a:r>
              <a:rPr lang="zh-CN" altLang="en-US" smtClean="0"/>
              <a:t>文档管理：</a:t>
            </a:r>
            <a:r>
              <a:rPr lang="zh-CN" altLang="zh-CN" smtClean="0"/>
              <a:t>电子签审流程》</a:t>
            </a:r>
            <a:r>
              <a:rPr lang="zh-CN" altLang="zh-CN"/>
              <a:t>。</a:t>
            </a:r>
          </a:p>
          <a:p>
            <a:pPr lvl="1"/>
            <a:endParaRPr lang="zh-CN" altLang="zh-CN"/>
          </a:p>
          <a:p>
            <a:pPr lvl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2512652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9. </a:t>
            </a:r>
            <a:r>
              <a:rPr lang="zh-CN" altLang="en-US"/>
              <a:t>自研产品与工装设计管理：</a:t>
            </a:r>
            <a:r>
              <a:rPr lang="zh-CN" altLang="en-US">
                <a:solidFill>
                  <a:srgbClr val="FFFF00"/>
                </a:solidFill>
              </a:rPr>
              <a:t>工装设计数据管理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143571"/>
            <a:ext cx="9937104" cy="5112568"/>
          </a:xfrm>
        </p:spPr>
        <p:txBody>
          <a:bodyPr/>
          <a:lstStyle/>
          <a:p>
            <a:r>
              <a:rPr lang="zh-CN" altLang="en-US" smtClean="0"/>
              <a:t>工装设计方式与自研产品相同</a:t>
            </a:r>
            <a:endParaRPr lang="en-US" altLang="zh-CN" smtClean="0"/>
          </a:p>
          <a:p>
            <a:r>
              <a:rPr lang="zh-CN" altLang="en-US" smtClean="0"/>
              <a:t>工装设计数据与型号产品或自研产品相关，未来数据存储在相应的产品库文件夹下。</a:t>
            </a:r>
            <a:endParaRPr lang="en-US" altLang="zh-CN" smtClean="0"/>
          </a:p>
          <a:p>
            <a:r>
              <a:rPr lang="zh-CN" altLang="en-US" smtClean="0"/>
              <a:t>工装零部件包含的属性与型号产品或自研产品属性不同，需要单独定义对象及属性</a:t>
            </a:r>
            <a:endParaRPr lang="en-US" altLang="zh-CN" smtClean="0"/>
          </a:p>
          <a:p>
            <a:r>
              <a:rPr lang="en-US" altLang="zh-CN"/>
              <a:t>如果新增工装，</a:t>
            </a:r>
            <a:r>
              <a:rPr lang="en-US" altLang="zh-CN" smtClean="0"/>
              <a:t>则需要产品经理或有权限的人员</a:t>
            </a:r>
            <a:r>
              <a:rPr lang="en-US" altLang="zh-CN"/>
              <a:t>（例如为工装管理员）</a:t>
            </a:r>
            <a:r>
              <a:rPr lang="en-US" altLang="zh-CN" smtClean="0"/>
              <a:t>在</a:t>
            </a:r>
            <a:r>
              <a:rPr lang="zh-CN" altLang="en-US" smtClean="0"/>
              <a:t>产品库</a:t>
            </a:r>
            <a:r>
              <a:rPr lang="en-US" altLang="zh-CN" smtClean="0"/>
              <a:t>“04工装数据</a:t>
            </a:r>
            <a:r>
              <a:rPr lang="en-US" altLang="zh-CN"/>
              <a:t>”文件夹下手工建立新的文件夹，文件夹名称为“工装编号+工装名称</a:t>
            </a:r>
            <a:r>
              <a:rPr lang="en-US" altLang="zh-CN" smtClean="0"/>
              <a:t>”</a:t>
            </a:r>
            <a:r>
              <a:rPr lang="zh-CN" altLang="en-US" smtClean="0"/>
              <a:t>。</a:t>
            </a:r>
            <a:endParaRPr lang="en-US" altLang="zh-CN" smtClean="0"/>
          </a:p>
          <a:p>
            <a:endParaRPr lang="zh-CN" altLang="en-US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219" y="4311923"/>
            <a:ext cx="5609423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364542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9. </a:t>
            </a:r>
            <a:r>
              <a:rPr lang="zh-CN" altLang="en-US"/>
              <a:t>自研产品与工装设计管理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典型</a:t>
            </a:r>
            <a:r>
              <a:rPr lang="zh-CN" altLang="en-US">
                <a:solidFill>
                  <a:srgbClr val="FFFF00"/>
                </a:solidFill>
              </a:rPr>
              <a:t>业务</a:t>
            </a:r>
            <a:r>
              <a:rPr lang="zh-CN" altLang="en-US" smtClean="0">
                <a:solidFill>
                  <a:srgbClr val="FFFF00"/>
                </a:solidFill>
              </a:rPr>
              <a:t>场景示意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143570"/>
            <a:ext cx="9609816" cy="5608067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smtClean="0"/>
              <a:t>1</a:t>
            </a:r>
            <a:r>
              <a:rPr lang="zh-CN" altLang="en-US" smtClean="0"/>
              <a:t>、产品经理根据“自研产品模板”创建自研产品库，进行初始化设置：</a:t>
            </a:r>
            <a:endParaRPr lang="zh-CN" altLang="zh-CN" smtClean="0"/>
          </a:p>
          <a:p>
            <a:pPr lvl="1"/>
            <a:endParaRPr lang="zh-CN" altLang="zh-CN"/>
          </a:p>
          <a:p>
            <a:pPr lvl="1"/>
            <a:endParaRPr lang="zh-CN" altLang="zh-CN"/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589" y="1900380"/>
            <a:ext cx="4608512" cy="4643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324462" y="2959011"/>
            <a:ext cx="723275" cy="20005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sz="700" smtClean="0"/>
              <a:t>自研产品模板</a:t>
            </a:r>
            <a:endParaRPr lang="zh-CN" altLang="en-US" sz="700"/>
          </a:p>
        </p:txBody>
      </p:sp>
      <p:pic>
        <p:nvPicPr>
          <p:cNvPr id="9" name="图片 8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12643" y="1900380"/>
            <a:ext cx="5472608" cy="309115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336779" y="2367707"/>
            <a:ext cx="272382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mtClean="0"/>
              <a:t>添加人员到产品团队角色</a:t>
            </a:r>
            <a:endParaRPr lang="zh-CN" altLang="en-US"/>
          </a:p>
        </p:txBody>
      </p:sp>
      <p:pic>
        <p:nvPicPr>
          <p:cNvPr id="11" name="图片 10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12643" y="4707847"/>
            <a:ext cx="5472608" cy="2043791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6336779" y="4991530"/>
            <a:ext cx="364715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mtClean="0"/>
              <a:t>根据需要修改产品库的文件夹结构</a:t>
            </a:r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48147" y="4037609"/>
            <a:ext cx="364715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mtClean="0"/>
              <a:t>创建产品，选择“自研产品模板”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12212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9. </a:t>
            </a:r>
            <a:r>
              <a:rPr lang="zh-CN" altLang="en-US"/>
              <a:t>自研产品与工装设计管理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典型</a:t>
            </a:r>
            <a:r>
              <a:rPr lang="zh-CN" altLang="en-US">
                <a:solidFill>
                  <a:srgbClr val="FFFF00"/>
                </a:solidFill>
              </a:rPr>
              <a:t>业务</a:t>
            </a:r>
            <a:r>
              <a:rPr lang="zh-CN" altLang="en-US" smtClean="0">
                <a:solidFill>
                  <a:srgbClr val="FFFF00"/>
                </a:solidFill>
              </a:rPr>
              <a:t>场景示意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143570"/>
            <a:ext cx="9609816" cy="5608067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smtClean="0"/>
              <a:t>2</a:t>
            </a:r>
            <a:r>
              <a:rPr lang="zh-CN" altLang="en-US" smtClean="0"/>
              <a:t>、如果是</a:t>
            </a:r>
            <a:r>
              <a:rPr lang="en-US" altLang="zh-CN" smtClean="0"/>
              <a:t>Top-Down</a:t>
            </a:r>
            <a:r>
              <a:rPr lang="zh-CN" altLang="en-US" smtClean="0"/>
              <a:t>设计，则由产品主任设计师建立顶层结构：</a:t>
            </a:r>
            <a:endParaRPr lang="zh-CN" altLang="zh-CN" smtClean="0"/>
          </a:p>
          <a:p>
            <a:pPr lvl="1"/>
            <a:endParaRPr lang="zh-CN" altLang="zh-CN"/>
          </a:p>
          <a:p>
            <a:pPr lvl="1"/>
            <a:endParaRPr lang="zh-CN" altLang="zh-CN"/>
          </a:p>
        </p:txBody>
      </p:sp>
      <p:pic>
        <p:nvPicPr>
          <p:cNvPr id="14" name="图片 1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107" y="2070848"/>
            <a:ext cx="4824536" cy="381642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pic>
        <p:nvPicPr>
          <p:cNvPr id="15" name="图片 1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80759" y="2028030"/>
            <a:ext cx="4988467" cy="385924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397664" y="4025473"/>
            <a:ext cx="295465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mtClean="0"/>
              <a:t>如果需要，可挂接研试文件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65858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9. </a:t>
            </a:r>
            <a:r>
              <a:rPr lang="zh-CN" altLang="en-US"/>
              <a:t>自研产品与工装设计管理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典型</a:t>
            </a:r>
            <a:r>
              <a:rPr lang="zh-CN" altLang="en-US">
                <a:solidFill>
                  <a:srgbClr val="FFFF00"/>
                </a:solidFill>
              </a:rPr>
              <a:t>业务</a:t>
            </a:r>
            <a:r>
              <a:rPr lang="zh-CN" altLang="en-US" smtClean="0">
                <a:solidFill>
                  <a:srgbClr val="FFFF00"/>
                </a:solidFill>
              </a:rPr>
              <a:t>场景示意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143570"/>
            <a:ext cx="9609816" cy="5608067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smtClean="0"/>
              <a:t>3</a:t>
            </a:r>
            <a:r>
              <a:rPr lang="zh-CN" altLang="en-US" smtClean="0"/>
              <a:t>、设计师进行各分机或部套设计，与产品主结构关联，形成产品结构：</a:t>
            </a:r>
            <a:endParaRPr lang="zh-CN" altLang="zh-CN" smtClean="0"/>
          </a:p>
          <a:p>
            <a:pPr lvl="1"/>
            <a:endParaRPr lang="zh-CN" altLang="zh-CN"/>
          </a:p>
          <a:p>
            <a:pPr lvl="1"/>
            <a:endParaRPr lang="zh-CN" altLang="zh-CN"/>
          </a:p>
        </p:txBody>
      </p:sp>
      <p:pic>
        <p:nvPicPr>
          <p:cNvPr id="7" name="图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0435" y="1863651"/>
            <a:ext cx="3220085" cy="4655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5565948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9. </a:t>
            </a:r>
            <a:r>
              <a:rPr lang="zh-CN" altLang="en-US"/>
              <a:t>自研产品与工装设计管理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典型</a:t>
            </a:r>
            <a:r>
              <a:rPr lang="zh-CN" altLang="en-US">
                <a:solidFill>
                  <a:srgbClr val="FFFF00"/>
                </a:solidFill>
              </a:rPr>
              <a:t>业务</a:t>
            </a:r>
            <a:r>
              <a:rPr lang="zh-CN" altLang="en-US" smtClean="0">
                <a:solidFill>
                  <a:srgbClr val="FFFF00"/>
                </a:solidFill>
              </a:rPr>
              <a:t>场景示意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143570"/>
            <a:ext cx="9609816" cy="5608067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smtClean="0"/>
              <a:t>4</a:t>
            </a:r>
            <a:r>
              <a:rPr lang="zh-CN" altLang="en-US" smtClean="0"/>
              <a:t>、电气设计或软件设计，需要由设计师在结构中手工建立相应的节点，将文件检入至系统，手工挂接到节点：</a:t>
            </a:r>
            <a:endParaRPr lang="zh-CN" altLang="zh-CN" smtClean="0"/>
          </a:p>
          <a:p>
            <a:pPr lvl="1"/>
            <a:endParaRPr lang="zh-CN" altLang="zh-CN"/>
          </a:p>
          <a:p>
            <a:pPr lvl="1"/>
            <a:endParaRPr lang="zh-CN" altLang="zh-CN"/>
          </a:p>
        </p:txBody>
      </p:sp>
      <p:pic>
        <p:nvPicPr>
          <p:cNvPr id="5" name="图片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6219" y="2367707"/>
            <a:ext cx="3744416" cy="417646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pic>
        <p:nvPicPr>
          <p:cNvPr id="6" name="图片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88707" y="2367707"/>
            <a:ext cx="3528392" cy="417646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8593637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未来实践设计</a:t>
            </a:r>
            <a:r>
              <a:rPr lang="zh-CN" altLang="en-US" smtClean="0">
                <a:solidFill>
                  <a:srgbClr val="FFFF00"/>
                </a:solidFill>
              </a:rPr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5904656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b="1" smtClean="0">
                <a:solidFill>
                  <a:schemeClr val="bg1"/>
                </a:solidFill>
              </a:rPr>
              <a:t>10.  </a:t>
            </a:r>
            <a:r>
              <a:rPr lang="zh-CN" altLang="en-US" sz="2800" b="1" smtClean="0">
                <a:solidFill>
                  <a:schemeClr val="bg1"/>
                </a:solidFill>
              </a:rPr>
              <a:t>变更过程管理</a:t>
            </a:r>
            <a:endParaRPr lang="en-US" altLang="zh-CN" sz="2800" b="1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33901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10. </a:t>
            </a:r>
            <a:r>
              <a:rPr lang="zh-CN" altLang="en-US" smtClean="0"/>
              <a:t>变更过程管理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smtClean="0"/>
              <a:t>149</a:t>
            </a:r>
            <a:r>
              <a:rPr lang="zh-CN" altLang="zh-CN"/>
              <a:t>厂</a:t>
            </a:r>
            <a:r>
              <a:rPr lang="en-US" altLang="zh-CN"/>
              <a:t>Windchill</a:t>
            </a:r>
            <a:r>
              <a:rPr lang="zh-CN" altLang="zh-CN"/>
              <a:t>平台的变更过程管理主要涉及：</a:t>
            </a:r>
          </a:p>
          <a:p>
            <a:pPr lvl="1"/>
            <a:r>
              <a:rPr lang="zh-CN" altLang="zh-CN"/>
              <a:t>自研产品设计变更</a:t>
            </a:r>
          </a:p>
          <a:p>
            <a:pPr lvl="1"/>
            <a:r>
              <a:rPr lang="zh-CN" altLang="zh-CN"/>
              <a:t>工装设计变更</a:t>
            </a:r>
          </a:p>
          <a:p>
            <a:pPr lvl="1"/>
            <a:r>
              <a:rPr lang="zh-CN" altLang="zh-CN"/>
              <a:t>三维工艺文件变更</a:t>
            </a:r>
            <a:r>
              <a:rPr lang="zh-CN" altLang="zh-CN" smtClean="0"/>
              <a:t>（</a:t>
            </a:r>
            <a:r>
              <a:rPr lang="zh-CN" altLang="en-US" smtClean="0"/>
              <a:t>* </a:t>
            </a:r>
            <a:r>
              <a:rPr lang="zh-CN" altLang="zh-CN" smtClean="0"/>
              <a:t>二</a:t>
            </a:r>
            <a:r>
              <a:rPr lang="zh-CN" altLang="zh-CN"/>
              <a:t>维</a:t>
            </a:r>
            <a:r>
              <a:rPr lang="zh-CN" altLang="zh-CN" smtClean="0"/>
              <a:t>工艺</a:t>
            </a:r>
            <a:r>
              <a:rPr lang="zh-CN" altLang="en-US" smtClean="0"/>
              <a:t>文件</a:t>
            </a:r>
            <a:r>
              <a:rPr lang="zh-CN" altLang="zh-CN" smtClean="0"/>
              <a:t>变更</a:t>
            </a:r>
            <a:r>
              <a:rPr lang="zh-CN" altLang="zh-CN"/>
              <a:t>在</a:t>
            </a:r>
            <a:r>
              <a:rPr lang="en-US" altLang="zh-CN"/>
              <a:t>CAPP</a:t>
            </a:r>
            <a:r>
              <a:rPr lang="zh-CN" altLang="zh-CN"/>
              <a:t>完成）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88678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10. </a:t>
            </a:r>
            <a:r>
              <a:rPr lang="zh-CN" altLang="en-US"/>
              <a:t>变更过程</a:t>
            </a:r>
            <a:r>
              <a:rPr lang="zh-CN" altLang="en-US" smtClean="0"/>
              <a:t>管理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zh-CN"/>
              <a:t>未来的变更过程基于</a:t>
            </a:r>
            <a:r>
              <a:rPr lang="en-US" altLang="zh-CN"/>
              <a:t>Windchill10</a:t>
            </a:r>
            <a:r>
              <a:rPr lang="zh-CN" altLang="zh-CN"/>
              <a:t>的</a:t>
            </a:r>
            <a:r>
              <a:rPr lang="en-US" altLang="zh-CN"/>
              <a:t>CMII</a:t>
            </a:r>
            <a:r>
              <a:rPr lang="zh-CN" altLang="zh-CN"/>
              <a:t>变更管理功能实现。完整的</a:t>
            </a:r>
            <a:r>
              <a:rPr lang="en-US" altLang="zh-CN"/>
              <a:t>CMII</a:t>
            </a:r>
            <a:r>
              <a:rPr lang="zh-CN" altLang="zh-CN"/>
              <a:t>变更管理由以下业务对象组成：</a:t>
            </a:r>
          </a:p>
          <a:p>
            <a:pPr lvl="1"/>
            <a:r>
              <a:rPr lang="zh-CN" altLang="zh-CN"/>
              <a:t>问题报告（</a:t>
            </a:r>
            <a:r>
              <a:rPr lang="en-US" altLang="zh-CN"/>
              <a:t>PR</a:t>
            </a:r>
            <a:r>
              <a:rPr lang="zh-CN" altLang="zh-CN"/>
              <a:t>）：问题记录与确认</a:t>
            </a:r>
          </a:p>
          <a:p>
            <a:pPr lvl="1"/>
            <a:r>
              <a:rPr lang="zh-CN" altLang="zh-CN"/>
              <a:t>变更请求（</a:t>
            </a:r>
            <a:r>
              <a:rPr lang="en-US" altLang="zh-CN"/>
              <a:t>ECR</a:t>
            </a:r>
            <a:r>
              <a:rPr lang="zh-CN" altLang="zh-CN"/>
              <a:t>）：分析与决策</a:t>
            </a:r>
          </a:p>
          <a:p>
            <a:pPr lvl="1"/>
            <a:r>
              <a:rPr lang="zh-CN" altLang="zh-CN"/>
              <a:t>变更通告（</a:t>
            </a:r>
            <a:r>
              <a:rPr lang="en-US" altLang="zh-CN"/>
              <a:t>ECN</a:t>
            </a:r>
            <a:r>
              <a:rPr lang="zh-CN" altLang="zh-CN"/>
              <a:t>）：授权与规划实施方案</a:t>
            </a:r>
          </a:p>
          <a:p>
            <a:pPr lvl="1"/>
            <a:r>
              <a:rPr lang="zh-CN" altLang="zh-CN"/>
              <a:t>变更任务（</a:t>
            </a:r>
            <a:r>
              <a:rPr lang="en-US" altLang="zh-CN"/>
              <a:t>ECA</a:t>
            </a:r>
            <a:r>
              <a:rPr lang="zh-CN" altLang="zh-CN"/>
              <a:t>）：具体实施</a:t>
            </a:r>
          </a:p>
          <a:p>
            <a:r>
              <a:rPr lang="zh-CN" altLang="zh-CN"/>
              <a:t>平台可以支持“问题报告→变更请求→变更通告→变更任务”的完整</a:t>
            </a:r>
            <a:r>
              <a:rPr lang="en-US" altLang="zh-CN"/>
              <a:t>CMII</a:t>
            </a:r>
            <a:r>
              <a:rPr lang="zh-CN" altLang="zh-CN"/>
              <a:t>变更过程管理</a:t>
            </a:r>
            <a:r>
              <a:rPr lang="zh-CN" altLang="zh-CN" smtClean="0"/>
              <a:t>。</a:t>
            </a:r>
            <a:endParaRPr lang="en-US" altLang="zh-CN" smtClean="0"/>
          </a:p>
          <a:p>
            <a:r>
              <a:rPr lang="zh-CN" altLang="zh-CN" smtClean="0"/>
              <a:t>根据</a:t>
            </a:r>
            <a:r>
              <a:rPr lang="zh-CN" altLang="zh-CN"/>
              <a:t>本期实施目标，在确保设计变更流程规范性、准确性、可追溯性的基础上对</a:t>
            </a:r>
            <a:r>
              <a:rPr lang="en-US" altLang="zh-CN"/>
              <a:t>CMII</a:t>
            </a:r>
            <a:r>
              <a:rPr lang="zh-CN" altLang="zh-CN"/>
              <a:t>变更进行流程简化，提高变更签审效率。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77656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10. </a:t>
            </a:r>
            <a:r>
              <a:rPr lang="zh-CN" altLang="en-US"/>
              <a:t>变更过程</a:t>
            </a:r>
            <a:r>
              <a:rPr lang="zh-CN" altLang="en-US" smtClean="0"/>
              <a:t>管理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smtClean="0"/>
              <a:t>简化后的变更流程</a:t>
            </a:r>
            <a:r>
              <a:rPr lang="zh-CN" altLang="zh-CN" smtClean="0"/>
              <a:t>如下</a:t>
            </a:r>
            <a:r>
              <a:rPr lang="zh-CN" altLang="en-US" smtClean="0"/>
              <a:t>（</a:t>
            </a:r>
            <a:r>
              <a:rPr lang="zh-CN" altLang="zh-CN" smtClean="0"/>
              <a:t>变更</a:t>
            </a:r>
            <a:r>
              <a:rPr lang="zh-CN" altLang="zh-CN"/>
              <a:t>通告→变更</a:t>
            </a:r>
            <a:r>
              <a:rPr lang="zh-CN" altLang="zh-CN" smtClean="0"/>
              <a:t>任务</a:t>
            </a:r>
            <a:r>
              <a:rPr lang="zh-CN" altLang="en-US" smtClean="0"/>
              <a:t>）</a:t>
            </a:r>
            <a:r>
              <a:rPr lang="zh-CN" altLang="zh-CN" smtClean="0"/>
              <a:t>：</a:t>
            </a:r>
            <a:endParaRPr lang="zh-CN" altLang="zh-CN"/>
          </a:p>
          <a:p>
            <a:pPr lvl="1"/>
            <a:r>
              <a:rPr lang="zh-CN" altLang="zh-CN"/>
              <a:t>直接创建变更通告</a:t>
            </a:r>
            <a:r>
              <a:rPr lang="en-US" altLang="zh-CN" smtClean="0"/>
              <a:t>ECN</a:t>
            </a:r>
            <a:r>
              <a:rPr lang="zh-CN" altLang="en-US" smtClean="0"/>
              <a:t>（即更改单）</a:t>
            </a:r>
            <a:r>
              <a:rPr lang="zh-CN" altLang="zh-CN" smtClean="0"/>
              <a:t>：</a:t>
            </a:r>
            <a:endParaRPr lang="en-US" altLang="zh-CN" smtClean="0"/>
          </a:p>
          <a:p>
            <a:pPr lvl="2"/>
            <a:r>
              <a:rPr lang="zh-CN" altLang="en-US" smtClean="0"/>
              <a:t>自研产品</a:t>
            </a:r>
            <a:r>
              <a:rPr lang="en-US" altLang="zh-CN" smtClean="0"/>
              <a:t>/</a:t>
            </a:r>
            <a:r>
              <a:rPr lang="zh-CN" altLang="en-US" smtClean="0"/>
              <a:t>工装</a:t>
            </a:r>
            <a:r>
              <a:rPr lang="zh-CN" altLang="zh-CN" smtClean="0"/>
              <a:t>设计</a:t>
            </a:r>
            <a:r>
              <a:rPr lang="zh-CN" altLang="zh-CN"/>
              <a:t>更改创建</a:t>
            </a:r>
            <a:r>
              <a:rPr lang="zh-CN" altLang="zh-CN" smtClean="0"/>
              <a:t>“设计更改单”</a:t>
            </a:r>
            <a:endParaRPr lang="en-US" altLang="zh-CN" smtClean="0"/>
          </a:p>
          <a:p>
            <a:pPr lvl="2"/>
            <a:r>
              <a:rPr lang="zh-CN" altLang="zh-CN" smtClean="0"/>
              <a:t>三维</a:t>
            </a:r>
            <a:r>
              <a:rPr lang="zh-CN" altLang="zh-CN"/>
              <a:t>工艺更改创建“工艺更改单”，其中由于工艺更改单目前是在</a:t>
            </a:r>
            <a:r>
              <a:rPr lang="en-US" altLang="zh-CN"/>
              <a:t>CAPP</a:t>
            </a:r>
            <a:r>
              <a:rPr lang="zh-CN" altLang="zh-CN"/>
              <a:t>中编制，未来需要增加</a:t>
            </a:r>
            <a:r>
              <a:rPr lang="en-US" altLang="zh-CN"/>
              <a:t>word</a:t>
            </a:r>
            <a:r>
              <a:rPr lang="zh-CN" altLang="zh-CN"/>
              <a:t>格式，用于三维工艺</a:t>
            </a:r>
            <a:r>
              <a:rPr lang="zh-CN" altLang="zh-CN" smtClean="0"/>
              <a:t>变更</a:t>
            </a:r>
            <a:endParaRPr lang="zh-CN" altLang="zh-CN"/>
          </a:p>
          <a:p>
            <a:pPr lvl="1"/>
            <a:r>
              <a:rPr lang="zh-CN" altLang="zh-CN"/>
              <a:t>基于更改单</a:t>
            </a:r>
            <a:r>
              <a:rPr lang="zh-CN" altLang="zh-CN" smtClean="0"/>
              <a:t>自动</a:t>
            </a:r>
            <a:r>
              <a:rPr lang="zh-CN" altLang="en-US" smtClean="0"/>
              <a:t>为设计师</a:t>
            </a:r>
            <a:r>
              <a:rPr lang="zh-CN" altLang="zh-CN" smtClean="0"/>
              <a:t>创建</a:t>
            </a:r>
            <a:r>
              <a:rPr lang="zh-CN" altLang="zh-CN"/>
              <a:t>变更</a:t>
            </a:r>
            <a:r>
              <a:rPr lang="zh-CN" altLang="zh-CN" smtClean="0"/>
              <a:t>任务</a:t>
            </a:r>
            <a:endParaRPr lang="zh-CN" altLang="zh-CN"/>
          </a:p>
          <a:p>
            <a:pPr lvl="1"/>
            <a:r>
              <a:rPr lang="zh-CN" altLang="zh-CN"/>
              <a:t>基于变更任务修订设计文件</a:t>
            </a:r>
            <a:r>
              <a:rPr lang="en-US" altLang="zh-CN"/>
              <a:t>/</a:t>
            </a:r>
            <a:r>
              <a:rPr lang="zh-CN" altLang="zh-CN"/>
              <a:t>工艺</a:t>
            </a:r>
            <a:r>
              <a:rPr lang="zh-CN" altLang="zh-CN" smtClean="0"/>
              <a:t>文件</a:t>
            </a:r>
            <a:endParaRPr lang="zh-CN" altLang="zh-CN"/>
          </a:p>
          <a:p>
            <a:pPr lvl="1"/>
            <a:r>
              <a:rPr lang="zh-CN" altLang="zh-CN"/>
              <a:t>将变更后文件和更改单一起提交签</a:t>
            </a:r>
            <a:r>
              <a:rPr lang="zh-CN" altLang="zh-CN" smtClean="0"/>
              <a:t>审</a:t>
            </a:r>
            <a:r>
              <a:rPr lang="zh-CN" altLang="en-US" smtClean="0"/>
              <a:t>流程</a:t>
            </a:r>
            <a:endParaRPr lang="en-US" altLang="zh-CN" smtClean="0"/>
          </a:p>
          <a:p>
            <a:pPr lvl="1"/>
            <a:r>
              <a:rPr lang="zh-CN" altLang="en-US"/>
              <a:t>变更</a:t>
            </a:r>
            <a:r>
              <a:rPr lang="zh-CN" altLang="en-US" smtClean="0"/>
              <a:t>签审流程和设计签审流程相同</a:t>
            </a:r>
            <a:endParaRPr lang="zh-CN" altLang="zh-CN"/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27127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10. </a:t>
            </a:r>
            <a:r>
              <a:rPr lang="zh-CN" altLang="en-US" smtClean="0"/>
              <a:t>变更过程管理</a:t>
            </a:r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377081"/>
              </p:ext>
            </p:extLst>
          </p:nvPr>
        </p:nvGraphicFramePr>
        <p:xfrm>
          <a:off x="1836738" y="567507"/>
          <a:ext cx="7127875" cy="675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0" name="Visio" r:id="rId3" imgW="7985121" imgH="7561379" progId="Visio.Drawing.11">
                  <p:embed/>
                </p:oleObj>
              </mc:Choice>
              <mc:Fallback>
                <p:oleObj name="Visio" r:id="rId3" imgW="7985121" imgH="756137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567507"/>
                        <a:ext cx="7127875" cy="6756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522629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10. </a:t>
            </a:r>
            <a:r>
              <a:rPr lang="zh-CN" altLang="en-US"/>
              <a:t>变更过程管理：</a:t>
            </a:r>
            <a:r>
              <a:rPr lang="zh-CN" altLang="en-US">
                <a:solidFill>
                  <a:srgbClr val="FFFF00"/>
                </a:solidFill>
              </a:rPr>
              <a:t>典型业务场景</a:t>
            </a:r>
            <a:r>
              <a:rPr lang="zh-CN" altLang="en-US" smtClean="0">
                <a:solidFill>
                  <a:srgbClr val="FFFF00"/>
                </a:solidFill>
              </a:rPr>
              <a:t>示意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smtClean="0"/>
              <a:t>1</a:t>
            </a:r>
            <a:r>
              <a:rPr lang="zh-CN" altLang="en-US"/>
              <a:t>、</a:t>
            </a:r>
            <a:r>
              <a:rPr lang="zh-CN" altLang="zh-CN" smtClean="0"/>
              <a:t>创建</a:t>
            </a:r>
            <a:r>
              <a:rPr lang="zh-CN" altLang="zh-CN"/>
              <a:t>变更通告</a:t>
            </a:r>
            <a:r>
              <a:rPr lang="en-US" altLang="zh-CN"/>
              <a:t>/</a:t>
            </a:r>
            <a:r>
              <a:rPr lang="zh-CN" altLang="zh-CN"/>
              <a:t>变更任务</a:t>
            </a:r>
          </a:p>
          <a:p>
            <a:pPr lvl="1"/>
            <a:r>
              <a:rPr lang="zh-CN" altLang="zh-CN"/>
              <a:t>负责角色：设计师或工艺员</a:t>
            </a:r>
          </a:p>
          <a:p>
            <a:pPr lvl="1"/>
            <a:r>
              <a:rPr lang="zh-CN" altLang="zh-CN"/>
              <a:t>活动描述：在接收到需要进行变更</a:t>
            </a:r>
            <a:r>
              <a:rPr lang="zh-CN" altLang="zh-CN" smtClean="0"/>
              <a:t>的</a:t>
            </a:r>
            <a:r>
              <a:rPr lang="zh-CN" altLang="en-US"/>
              <a:t>信息</a:t>
            </a:r>
            <a:r>
              <a:rPr lang="zh-CN" altLang="zh-CN" smtClean="0"/>
              <a:t>后</a:t>
            </a:r>
            <a:r>
              <a:rPr lang="zh-CN" altLang="zh-CN"/>
              <a:t>，由设计师或工艺员创建相应的更改单，同时创建变更任务。</a:t>
            </a:r>
          </a:p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01" y="3087786"/>
            <a:ext cx="4903650" cy="36638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675" y="3066562"/>
            <a:ext cx="5040560" cy="366385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304331" y="3159795"/>
            <a:ext cx="205697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mtClean="0"/>
              <a:t>a. </a:t>
            </a:r>
            <a:r>
              <a:rPr lang="zh-CN" altLang="en-US" smtClean="0"/>
              <a:t>创建更改单对象</a:t>
            </a:r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408787" y="3183153"/>
            <a:ext cx="367280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mtClean="0"/>
              <a:t>b. </a:t>
            </a:r>
            <a:r>
              <a:rPr lang="zh-CN" altLang="en-US" smtClean="0"/>
              <a:t>定义实施计划，即创建更改任务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57019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10. </a:t>
            </a:r>
            <a:r>
              <a:rPr lang="zh-CN" altLang="en-US"/>
              <a:t>变更过程管理：</a:t>
            </a:r>
            <a:r>
              <a:rPr lang="zh-CN" altLang="en-US">
                <a:solidFill>
                  <a:srgbClr val="FFFF00"/>
                </a:solidFill>
              </a:rPr>
              <a:t>典型业务场景</a:t>
            </a:r>
            <a:r>
              <a:rPr lang="zh-CN" altLang="en-US" smtClean="0">
                <a:solidFill>
                  <a:srgbClr val="FFFF00"/>
                </a:solidFill>
              </a:rPr>
              <a:t>示意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smtClean="0"/>
              <a:t>1</a:t>
            </a:r>
            <a:r>
              <a:rPr lang="zh-CN" altLang="en-US"/>
              <a:t>、</a:t>
            </a:r>
            <a:r>
              <a:rPr lang="zh-CN" altLang="zh-CN" smtClean="0"/>
              <a:t>创建</a:t>
            </a:r>
            <a:r>
              <a:rPr lang="zh-CN" altLang="zh-CN"/>
              <a:t>变更通告</a:t>
            </a:r>
            <a:r>
              <a:rPr lang="en-US" altLang="zh-CN"/>
              <a:t>/</a:t>
            </a:r>
            <a:r>
              <a:rPr lang="zh-CN" altLang="zh-CN"/>
              <a:t>变更任务</a:t>
            </a:r>
          </a:p>
          <a:p>
            <a:pPr lvl="1"/>
            <a:r>
              <a:rPr lang="zh-CN" altLang="zh-CN"/>
              <a:t>负责角色：设计师或工艺员</a:t>
            </a:r>
          </a:p>
          <a:p>
            <a:pPr lvl="1"/>
            <a:r>
              <a:rPr lang="zh-CN" altLang="zh-CN"/>
              <a:t>活动描述：在接收到需要进行变更</a:t>
            </a:r>
            <a:r>
              <a:rPr lang="zh-CN" altLang="zh-CN" smtClean="0"/>
              <a:t>的</a:t>
            </a:r>
            <a:r>
              <a:rPr lang="zh-CN" altLang="en-US"/>
              <a:t>信息</a:t>
            </a:r>
            <a:r>
              <a:rPr lang="zh-CN" altLang="zh-CN" smtClean="0"/>
              <a:t>后</a:t>
            </a:r>
            <a:r>
              <a:rPr lang="zh-CN" altLang="zh-CN"/>
              <a:t>，由设计师或工艺员创建相应的更改单，同时创建变更任务。</a:t>
            </a:r>
          </a:p>
          <a:p>
            <a:endParaRPr lang="zh-CN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44016" y="3049714"/>
            <a:ext cx="5400675" cy="258532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b="0" i="0" u="none" strike="noStrike" cap="none" normalizeH="0" baseline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c. </a:t>
            </a:r>
            <a:r>
              <a:rPr kumimoji="0" lang="zh-CN" b="0" i="0" u="none" strike="noStrike" cap="none" normalizeH="0" baseline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添加受影响的对象，即需要变更的文件：</a:t>
            </a:r>
            <a:endParaRPr kumimoji="0" lang="en-US" altLang="zh-CN" b="0" i="0" u="none" strike="noStrike" cap="none" normalizeH="0" baseline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Times New Roman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kumimoji="0" lang="en-US" altLang="zh-CN" b="0" i="0" u="none" strike="noStrike" cap="none" normalizeH="0" baseline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EPM</a:t>
            </a:r>
            <a:r>
              <a:rPr kumimoji="0" lang="zh-CN" altLang="en-US" b="0" i="0" u="none" strike="noStrike" cap="none" normalizeH="0" baseline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文档：（</a:t>
            </a:r>
            <a:r>
              <a:rPr kumimoji="0" lang="en-US" altLang="zh-CN" b="0" i="0" u="none" strike="noStrike" cap="none" normalizeH="0" baseline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Pro/E</a:t>
            </a:r>
            <a:r>
              <a:rPr kumimoji="0" lang="zh-CN" altLang="en-US" b="0" i="0" u="none" strike="noStrike" cap="none" normalizeH="0" baseline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集成检入的三维模型、</a:t>
            </a:r>
            <a:r>
              <a:rPr kumimoji="0" lang="en-US" altLang="zh-CN" b="0" i="0" u="none" strike="noStrike" cap="none" normalizeH="0" baseline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DRW</a:t>
            </a:r>
            <a:r>
              <a:rPr kumimoji="0" lang="zh-CN" altLang="en-US" b="0" i="0" u="none" strike="noStrike" cap="none" normalizeH="0" baseline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二维工程图）需要变更，则添加零部件对象，系统自动收集零部件关联的三维模型、</a:t>
            </a:r>
            <a:r>
              <a:rPr kumimoji="0" lang="en-US" altLang="zh-CN" b="0" i="0" u="none" strike="noStrike" cap="none" normalizeH="0" baseline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DRW</a:t>
            </a:r>
            <a:r>
              <a:rPr kumimoji="0" lang="zh-CN" altLang="en-US" b="0" i="0" u="none" strike="noStrike" cap="none" normalizeH="0" baseline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二维工程图，一起走变更；</a:t>
            </a:r>
            <a:endParaRPr kumimoji="0" lang="zh-CN" altLang="en-US" b="0" i="0" u="none" strike="noStrike" cap="none" normalizeH="0" baseline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zh-CN" altLang="en-US" b="0" i="0" u="none" strike="noStrike" cap="none" normalizeH="0" baseline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文档对象，直接选择文件走变更。</a:t>
            </a:r>
            <a:endParaRPr kumimoji="0" lang="zh-CN" altLang="en-US" b="0" i="0" u="none" strike="noStrike" cap="none" normalizeH="0" baseline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606" y="3021226"/>
            <a:ext cx="4680520" cy="374441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圆角矩形 9"/>
          <p:cNvSpPr/>
          <p:nvPr/>
        </p:nvSpPr>
        <p:spPr>
          <a:xfrm>
            <a:off x="5705475" y="3807867"/>
            <a:ext cx="3583632" cy="71376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705475" y="5248027"/>
            <a:ext cx="3655640" cy="7740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5335586" y="4164751"/>
            <a:ext cx="1505249" cy="147028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4016" y="5692849"/>
            <a:ext cx="540067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mtClean="0"/>
              <a:t>d. 选择收集的受影响对象点击修订 </a:t>
            </a:r>
            <a:r>
              <a:rPr lang="en-US" altLang="zh-CN"/>
              <a:t>产生新的版本，例如从A.2升级到B.1</a:t>
            </a:r>
            <a:endParaRPr lang="zh-CN" altLang="en-US"/>
          </a:p>
        </p:txBody>
      </p:sp>
      <p:pic>
        <p:nvPicPr>
          <p:cNvPr id="16" name="图片 15"/>
          <p:cNvPicPr/>
          <p:nvPr/>
        </p:nvPicPr>
        <p:blipFill>
          <a:blip r:embed="rId3"/>
          <a:stretch>
            <a:fillRect/>
          </a:stretch>
        </p:blipFill>
        <p:spPr>
          <a:xfrm>
            <a:off x="5126480" y="5692849"/>
            <a:ext cx="418211" cy="32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921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10. </a:t>
            </a:r>
            <a:r>
              <a:rPr lang="zh-CN" altLang="en-US"/>
              <a:t>变更过程管理：</a:t>
            </a:r>
            <a:r>
              <a:rPr lang="zh-CN" altLang="en-US">
                <a:solidFill>
                  <a:srgbClr val="FFFF00"/>
                </a:solidFill>
              </a:rPr>
              <a:t>典型业务场景</a:t>
            </a:r>
            <a:r>
              <a:rPr lang="zh-CN" altLang="en-US" smtClean="0">
                <a:solidFill>
                  <a:srgbClr val="FFFF00"/>
                </a:solidFill>
              </a:rPr>
              <a:t>示意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smtClean="0"/>
              <a:t>1</a:t>
            </a:r>
            <a:r>
              <a:rPr lang="zh-CN" altLang="en-US"/>
              <a:t>、</a:t>
            </a:r>
            <a:r>
              <a:rPr lang="zh-CN" altLang="zh-CN" smtClean="0"/>
              <a:t>创建</a:t>
            </a:r>
            <a:r>
              <a:rPr lang="zh-CN" altLang="zh-CN"/>
              <a:t>变更通告</a:t>
            </a:r>
            <a:r>
              <a:rPr lang="en-US" altLang="zh-CN"/>
              <a:t>/</a:t>
            </a:r>
            <a:r>
              <a:rPr lang="zh-CN" altLang="zh-CN"/>
              <a:t>变更任务</a:t>
            </a:r>
          </a:p>
          <a:p>
            <a:pPr lvl="1"/>
            <a:r>
              <a:rPr lang="zh-CN" altLang="zh-CN"/>
              <a:t>负责角色：设计师或工艺员</a:t>
            </a:r>
          </a:p>
          <a:p>
            <a:pPr lvl="1"/>
            <a:r>
              <a:rPr lang="zh-CN" altLang="zh-CN"/>
              <a:t>活动描述：在接收到需要进行变更</a:t>
            </a:r>
            <a:r>
              <a:rPr lang="zh-CN" altLang="zh-CN" smtClean="0"/>
              <a:t>的</a:t>
            </a:r>
            <a:r>
              <a:rPr lang="zh-CN" altLang="en-US"/>
              <a:t>信息</a:t>
            </a:r>
            <a:r>
              <a:rPr lang="zh-CN" altLang="zh-CN" smtClean="0"/>
              <a:t>后</a:t>
            </a:r>
            <a:r>
              <a:rPr lang="zh-CN" altLang="zh-CN"/>
              <a:t>，由设计师或工艺员创建相应的更改单，同时创建变更任务。</a:t>
            </a:r>
          </a:p>
          <a:p>
            <a:endParaRPr lang="zh-CN" altLang="en-US"/>
          </a:p>
        </p:txBody>
      </p:sp>
      <p:pic>
        <p:nvPicPr>
          <p:cNvPr id="13" name="图片 1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42" y="3231803"/>
            <a:ext cx="6258602" cy="28803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</p:pic>
      <p:sp>
        <p:nvSpPr>
          <p:cNvPr id="4" name="圆角矩形 3"/>
          <p:cNvSpPr/>
          <p:nvPr/>
        </p:nvSpPr>
        <p:spPr>
          <a:xfrm>
            <a:off x="175642" y="3951883"/>
            <a:ext cx="4216921" cy="86409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391872" y="3329553"/>
            <a:ext cx="182614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mtClean="0"/>
              <a:t>e. </a:t>
            </a:r>
            <a:r>
              <a:rPr lang="zh-CN" altLang="en-US" smtClean="0"/>
              <a:t>形成更改任务</a:t>
            </a:r>
            <a:endParaRPr lang="zh-CN" altLang="en-US"/>
          </a:p>
        </p:txBody>
      </p:sp>
      <p:pic>
        <p:nvPicPr>
          <p:cNvPr id="14" name="图片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579" y="3246933"/>
            <a:ext cx="5976664" cy="286518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056860" y="3370838"/>
            <a:ext cx="316835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mtClean="0"/>
              <a:t>f. </a:t>
            </a:r>
            <a:r>
              <a:rPr lang="en-US" altLang="zh-CN"/>
              <a:t>添加变更通告附件，即设计更改单或工艺更改单Word格式文件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44305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10. </a:t>
            </a:r>
            <a:r>
              <a:rPr lang="zh-CN" altLang="en-US"/>
              <a:t>变更过程管理：</a:t>
            </a:r>
            <a:r>
              <a:rPr lang="zh-CN" altLang="en-US">
                <a:solidFill>
                  <a:srgbClr val="FFFF00"/>
                </a:solidFill>
              </a:rPr>
              <a:t>典型业务场景</a:t>
            </a:r>
            <a:r>
              <a:rPr lang="zh-CN" altLang="en-US" smtClean="0">
                <a:solidFill>
                  <a:srgbClr val="FFFF00"/>
                </a:solidFill>
              </a:rPr>
              <a:t>示意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143571"/>
            <a:ext cx="8856984" cy="5112568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smtClean="0"/>
              <a:t>2</a:t>
            </a:r>
            <a:r>
              <a:rPr lang="zh-CN" altLang="en-US" smtClean="0"/>
              <a:t>、</a:t>
            </a:r>
            <a:r>
              <a:rPr lang="zh-CN" altLang="zh-CN" smtClean="0"/>
              <a:t>接收</a:t>
            </a:r>
            <a:r>
              <a:rPr lang="zh-CN" altLang="zh-CN"/>
              <a:t>变更任务</a:t>
            </a:r>
          </a:p>
          <a:p>
            <a:pPr lvl="1"/>
            <a:r>
              <a:rPr lang="zh-CN" altLang="zh-CN"/>
              <a:t>负责角色：设计师</a:t>
            </a:r>
            <a:r>
              <a:rPr lang="en-US" altLang="zh-CN"/>
              <a:t>/</a:t>
            </a:r>
            <a:r>
              <a:rPr lang="zh-CN" altLang="zh-CN"/>
              <a:t>工艺员 </a:t>
            </a:r>
          </a:p>
          <a:p>
            <a:pPr lvl="1"/>
            <a:r>
              <a:rPr lang="zh-CN" altLang="zh-CN"/>
              <a:t>活动描述：在变更通告创建完毕后，系统自动创建变更任务，设计师或工艺员可以在主页的任务分配中查看到变更任务。</a:t>
            </a:r>
          </a:p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219" y="3364227"/>
            <a:ext cx="6411640" cy="249951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071821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10. </a:t>
            </a:r>
            <a:r>
              <a:rPr lang="zh-CN" altLang="en-US"/>
              <a:t>变更过程管理：</a:t>
            </a:r>
            <a:r>
              <a:rPr lang="zh-CN" altLang="en-US">
                <a:solidFill>
                  <a:srgbClr val="FFFF00"/>
                </a:solidFill>
              </a:rPr>
              <a:t>典型业务场景</a:t>
            </a:r>
            <a:r>
              <a:rPr lang="zh-CN" altLang="en-US" smtClean="0">
                <a:solidFill>
                  <a:srgbClr val="FFFF00"/>
                </a:solidFill>
              </a:rPr>
              <a:t>示意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143571"/>
            <a:ext cx="8928992" cy="5112568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smtClean="0"/>
              <a:t>3</a:t>
            </a:r>
            <a:r>
              <a:rPr lang="zh-CN" altLang="en-US" smtClean="0"/>
              <a:t>、</a:t>
            </a:r>
            <a:r>
              <a:rPr lang="en-US" altLang="zh-CN" smtClean="0"/>
              <a:t>修改</a:t>
            </a:r>
            <a:r>
              <a:rPr lang="zh-CN" altLang="en-US" smtClean="0"/>
              <a:t>并检入</a:t>
            </a:r>
            <a:r>
              <a:rPr lang="en-US" altLang="zh-CN" smtClean="0"/>
              <a:t>文件</a:t>
            </a:r>
          </a:p>
          <a:p>
            <a:pPr lvl="1"/>
            <a:r>
              <a:rPr lang="zh-CN" altLang="zh-CN"/>
              <a:t>负责角色：设计师</a:t>
            </a:r>
            <a:r>
              <a:rPr lang="en-US" altLang="zh-CN"/>
              <a:t>/</a:t>
            </a:r>
            <a:r>
              <a:rPr lang="zh-CN" altLang="zh-CN"/>
              <a:t>工艺员 </a:t>
            </a:r>
          </a:p>
          <a:p>
            <a:pPr lvl="1"/>
            <a:r>
              <a:rPr lang="zh-CN" altLang="zh-CN"/>
              <a:t>活动描述</a:t>
            </a:r>
            <a:r>
              <a:rPr lang="zh-CN" altLang="zh-CN" smtClean="0"/>
              <a:t>：</a:t>
            </a:r>
            <a:r>
              <a:rPr lang="en-US" altLang="zh-CN"/>
              <a:t>设计师或工艺员根据变更任务，可以修改设计文件或三维工艺文件。修改完成后检入至</a:t>
            </a:r>
            <a:r>
              <a:rPr lang="en-US" altLang="zh-CN" smtClean="0"/>
              <a:t>Windchill</a:t>
            </a:r>
            <a:r>
              <a:rPr lang="zh-CN" altLang="zh-CN" smtClean="0"/>
              <a:t>。</a:t>
            </a:r>
            <a:endParaRPr lang="en-US" altLang="zh-CN" smtClean="0"/>
          </a:p>
          <a:p>
            <a:pPr lvl="2"/>
            <a:r>
              <a:rPr lang="en-US" altLang="zh-CN"/>
              <a:t>EPM</a:t>
            </a:r>
            <a:r>
              <a:rPr lang="zh-CN" altLang="zh-CN"/>
              <a:t>文档：如果需要修改</a:t>
            </a:r>
            <a:r>
              <a:rPr lang="en-US" altLang="zh-CN"/>
              <a:t>EPM</a:t>
            </a:r>
            <a:r>
              <a:rPr lang="zh-CN" altLang="zh-CN"/>
              <a:t>文档，则设计师从</a:t>
            </a:r>
            <a:r>
              <a:rPr lang="en-US" altLang="zh-CN"/>
              <a:t>Windchill</a:t>
            </a:r>
            <a:r>
              <a:rPr lang="zh-CN" altLang="zh-CN"/>
              <a:t>中检出三维模型到个人工作区，使用</a:t>
            </a:r>
            <a:r>
              <a:rPr lang="en-US" altLang="zh-CN"/>
              <a:t>Pro/E</a:t>
            </a:r>
            <a:r>
              <a:rPr lang="zh-CN" altLang="zh-CN"/>
              <a:t>打开进行修改，同时修改</a:t>
            </a:r>
            <a:r>
              <a:rPr lang="en-US" altLang="zh-CN"/>
              <a:t>DRW</a:t>
            </a:r>
            <a:r>
              <a:rPr lang="zh-CN" altLang="zh-CN"/>
              <a:t>二维工程图，然后重新检入至</a:t>
            </a:r>
            <a:r>
              <a:rPr lang="en-US" altLang="zh-CN"/>
              <a:t>Windchill</a:t>
            </a:r>
            <a:r>
              <a:rPr lang="zh-CN" altLang="zh-CN"/>
              <a:t>，与新版本</a:t>
            </a:r>
            <a:r>
              <a:rPr lang="zh-CN" altLang="zh-CN" smtClean="0"/>
              <a:t>关联</a:t>
            </a:r>
            <a:r>
              <a:rPr lang="zh-CN" altLang="en-US" smtClean="0"/>
              <a:t>。</a:t>
            </a:r>
            <a:endParaRPr lang="zh-CN" altLang="zh-CN"/>
          </a:p>
          <a:p>
            <a:pPr lvl="2"/>
            <a:r>
              <a:rPr lang="zh-CN" altLang="zh-CN"/>
              <a:t>普通文档</a:t>
            </a:r>
            <a:r>
              <a:rPr lang="zh-CN" altLang="zh-CN" smtClean="0"/>
              <a:t>：</a:t>
            </a:r>
            <a:r>
              <a:rPr lang="zh-CN" altLang="en-US"/>
              <a:t>检出</a:t>
            </a:r>
            <a:r>
              <a:rPr lang="zh-CN" altLang="zh-CN" smtClean="0"/>
              <a:t>文档</a:t>
            </a:r>
            <a:r>
              <a:rPr lang="zh-CN" altLang="en-US" smtClean="0"/>
              <a:t>并下载，修改</a:t>
            </a:r>
            <a:r>
              <a:rPr lang="zh-CN" altLang="zh-CN" smtClean="0"/>
              <a:t>内容</a:t>
            </a:r>
            <a:r>
              <a:rPr lang="zh-CN" altLang="en-US" smtClean="0"/>
              <a:t>后</a:t>
            </a:r>
            <a:r>
              <a:rPr lang="zh-CN" altLang="zh-CN" smtClean="0"/>
              <a:t>检</a:t>
            </a:r>
            <a:r>
              <a:rPr lang="zh-CN" altLang="zh-CN"/>
              <a:t>入</a:t>
            </a:r>
            <a:r>
              <a:rPr lang="zh-CN" altLang="zh-CN" smtClean="0"/>
              <a:t>。</a:t>
            </a:r>
            <a:endParaRPr lang="en-US" altLang="zh-CN" smtClean="0"/>
          </a:p>
          <a:p>
            <a:pPr lvl="2"/>
            <a:r>
              <a:rPr lang="zh-CN" altLang="zh-CN"/>
              <a:t>三维工艺文件：在工艺计划浏览器</a:t>
            </a:r>
            <a:r>
              <a:rPr lang="zh-CN" altLang="zh-CN" smtClean="0"/>
              <a:t>中</a:t>
            </a:r>
            <a:r>
              <a:rPr lang="zh-CN" altLang="en-US"/>
              <a:t>检出</a:t>
            </a:r>
            <a:r>
              <a:rPr lang="zh-CN" altLang="zh-CN" smtClean="0"/>
              <a:t>工艺</a:t>
            </a:r>
            <a:r>
              <a:rPr lang="zh-CN" altLang="zh-CN"/>
              <a:t>文件进行</a:t>
            </a:r>
            <a:r>
              <a:rPr lang="zh-CN" altLang="zh-CN" smtClean="0"/>
              <a:t>修改</a:t>
            </a:r>
            <a:r>
              <a:rPr lang="zh-CN" altLang="en-US" smtClean="0"/>
              <a:t>，再检入</a:t>
            </a:r>
            <a:r>
              <a:rPr lang="zh-CN" altLang="zh-CN" smtClean="0"/>
              <a:t>。</a:t>
            </a:r>
            <a:endParaRPr lang="zh-CN" altLang="zh-CN"/>
          </a:p>
          <a:p>
            <a:pPr lvl="2"/>
            <a:endParaRPr lang="zh-CN" altLang="zh-CN"/>
          </a:p>
          <a:p>
            <a:pPr lvl="1"/>
            <a:endParaRPr lang="zh-CN" altLang="zh-CN"/>
          </a:p>
          <a:p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2283" y="5176019"/>
            <a:ext cx="5328592" cy="136815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5572352" y="5176200"/>
            <a:ext cx="1268730" cy="1226820"/>
            <a:chOff x="7785" y="4488"/>
            <a:chExt cx="1998" cy="1932"/>
          </a:xfrm>
        </p:grpSpPr>
        <p:sp>
          <p:nvSpPr>
            <p:cNvPr id="7" name="Rectangle 27"/>
            <p:cNvSpPr>
              <a:spLocks noChangeArrowheads="1"/>
            </p:cNvSpPr>
            <p:nvPr/>
          </p:nvSpPr>
          <p:spPr bwMode="auto">
            <a:xfrm>
              <a:off x="8985" y="6030"/>
              <a:ext cx="405" cy="39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8" name="AutoShape 28"/>
            <p:cNvSpPr>
              <a:spLocks noChangeArrowheads="1"/>
            </p:cNvSpPr>
            <p:nvPr/>
          </p:nvSpPr>
          <p:spPr bwMode="auto">
            <a:xfrm>
              <a:off x="7785" y="4488"/>
              <a:ext cx="1998" cy="98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zh-CN" sz="1600">
                  <a:effectLst/>
                  <a:latin typeface="Arial"/>
                  <a:ea typeface="黑体"/>
                  <a:cs typeface="Times New Roman"/>
                </a:rPr>
                <a:t>直接使用</a:t>
              </a:r>
              <a:r>
                <a:rPr lang="en-US" sz="1600">
                  <a:effectLst/>
                  <a:latin typeface="Arial"/>
                  <a:ea typeface="黑体"/>
                  <a:cs typeface="Times New Roman"/>
                </a:rPr>
                <a:t>Pro/E</a:t>
              </a:r>
              <a:r>
                <a:rPr lang="zh-CN" sz="1600">
                  <a:effectLst/>
                  <a:latin typeface="Arial"/>
                  <a:ea typeface="黑体"/>
                  <a:cs typeface="Times New Roman"/>
                </a:rPr>
                <a:t>打开</a:t>
              </a:r>
            </a:p>
          </p:txBody>
        </p:sp>
        <p:cxnSp>
          <p:nvCxnSpPr>
            <p:cNvPr id="10" name="AutoShape 29"/>
            <p:cNvCxnSpPr>
              <a:cxnSpLocks noChangeShapeType="1"/>
            </p:cNvCxnSpPr>
            <p:nvPr/>
          </p:nvCxnSpPr>
          <p:spPr bwMode="auto">
            <a:xfrm rot="5400000" flipH="1">
              <a:off x="8775" y="5550"/>
              <a:ext cx="555" cy="405"/>
            </a:xfrm>
            <a:prstGeom prst="curvedConnector3">
              <a:avLst>
                <a:gd name="adj1" fmla="val 49912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18586130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10. </a:t>
            </a:r>
            <a:r>
              <a:rPr lang="zh-CN" altLang="en-US"/>
              <a:t>变更过程管理：</a:t>
            </a:r>
            <a:r>
              <a:rPr lang="zh-CN" altLang="en-US">
                <a:solidFill>
                  <a:srgbClr val="FFFF00"/>
                </a:solidFill>
              </a:rPr>
              <a:t>典型业务场景</a:t>
            </a:r>
            <a:r>
              <a:rPr lang="zh-CN" altLang="en-US" smtClean="0">
                <a:solidFill>
                  <a:srgbClr val="FFFF00"/>
                </a:solidFill>
              </a:rPr>
              <a:t>示意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143571"/>
            <a:ext cx="8928992" cy="5112568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smtClean="0"/>
              <a:t>3</a:t>
            </a:r>
            <a:r>
              <a:rPr lang="zh-CN" altLang="en-US" smtClean="0"/>
              <a:t>、</a:t>
            </a:r>
            <a:r>
              <a:rPr lang="en-US" altLang="zh-CN" smtClean="0"/>
              <a:t>修改</a:t>
            </a:r>
            <a:r>
              <a:rPr lang="zh-CN" altLang="en-US" smtClean="0"/>
              <a:t>并检入</a:t>
            </a:r>
            <a:r>
              <a:rPr lang="en-US" altLang="zh-CN" smtClean="0"/>
              <a:t>文件</a:t>
            </a:r>
          </a:p>
          <a:p>
            <a:pPr lvl="1"/>
            <a:r>
              <a:rPr lang="zh-CN" altLang="zh-CN"/>
              <a:t>负责角色：设计师</a:t>
            </a:r>
            <a:r>
              <a:rPr lang="en-US" altLang="zh-CN"/>
              <a:t>/</a:t>
            </a:r>
            <a:r>
              <a:rPr lang="zh-CN" altLang="zh-CN"/>
              <a:t>工艺员 </a:t>
            </a:r>
          </a:p>
          <a:p>
            <a:pPr lvl="1"/>
            <a:r>
              <a:rPr lang="zh-CN" altLang="zh-CN"/>
              <a:t>活动描述</a:t>
            </a:r>
            <a:r>
              <a:rPr lang="zh-CN" altLang="zh-CN" smtClean="0"/>
              <a:t>：</a:t>
            </a:r>
            <a:r>
              <a:rPr lang="en-US" altLang="zh-CN"/>
              <a:t>设计师或工艺员根据变更任务，可以修改设计文件或三维工艺文件。修改完成后检入至</a:t>
            </a:r>
            <a:r>
              <a:rPr lang="en-US" altLang="zh-CN" smtClean="0"/>
              <a:t>Windchill</a:t>
            </a:r>
            <a:r>
              <a:rPr lang="zh-CN" altLang="zh-CN" smtClean="0"/>
              <a:t>。</a:t>
            </a:r>
            <a:endParaRPr lang="en-US" altLang="zh-CN" smtClean="0"/>
          </a:p>
          <a:p>
            <a:r>
              <a:rPr lang="zh-CN" altLang="zh-CN"/>
              <a:t>修改后文件检入后，设计师</a:t>
            </a:r>
            <a:r>
              <a:rPr lang="en-US" altLang="zh-CN"/>
              <a:t>/</a:t>
            </a:r>
            <a:r>
              <a:rPr lang="zh-CN" altLang="zh-CN"/>
              <a:t>工艺员在更改任务中点击“完成任务”，系统根据更改对象类型自动相应的签审流程</a:t>
            </a:r>
            <a:r>
              <a:rPr lang="zh-CN" altLang="zh-CN" smtClean="0"/>
              <a:t>：</a:t>
            </a:r>
            <a:endParaRPr lang="en-US" altLang="zh-CN" smtClean="0"/>
          </a:p>
          <a:p>
            <a:pPr lvl="1"/>
            <a:r>
              <a:rPr lang="zh-CN" altLang="zh-CN" smtClean="0"/>
              <a:t>零部件</a:t>
            </a:r>
            <a:r>
              <a:rPr lang="zh-CN" altLang="zh-CN"/>
              <a:t>及</a:t>
            </a:r>
            <a:r>
              <a:rPr lang="en-US" altLang="zh-CN"/>
              <a:t>EPM</a:t>
            </a:r>
            <a:r>
              <a:rPr lang="zh-CN" altLang="zh-CN" smtClean="0"/>
              <a:t>文档启动</a:t>
            </a:r>
            <a:r>
              <a:rPr lang="zh-CN" altLang="zh-CN"/>
              <a:t>“零部件签审流程</a:t>
            </a:r>
            <a:r>
              <a:rPr lang="zh-CN" altLang="zh-CN" smtClean="0"/>
              <a:t>”</a:t>
            </a:r>
            <a:endParaRPr lang="en-US" altLang="zh-CN" smtClean="0"/>
          </a:p>
          <a:p>
            <a:pPr lvl="1"/>
            <a:r>
              <a:rPr lang="zh-CN" altLang="zh-CN" smtClean="0"/>
              <a:t>普通文档</a:t>
            </a:r>
            <a:r>
              <a:rPr lang="zh-CN" altLang="en-US" smtClean="0"/>
              <a:t>启动</a:t>
            </a:r>
            <a:r>
              <a:rPr lang="zh-CN" altLang="zh-CN" smtClean="0"/>
              <a:t>“</a:t>
            </a:r>
            <a:r>
              <a:rPr lang="zh-CN" altLang="zh-CN"/>
              <a:t>文档签审流程</a:t>
            </a:r>
            <a:r>
              <a:rPr lang="zh-CN" altLang="zh-CN" smtClean="0"/>
              <a:t>”</a:t>
            </a:r>
            <a:endParaRPr lang="en-US" altLang="zh-CN" smtClean="0"/>
          </a:p>
          <a:p>
            <a:pPr lvl="1"/>
            <a:r>
              <a:rPr lang="zh-CN" altLang="zh-CN" smtClean="0"/>
              <a:t>三维</a:t>
            </a:r>
            <a:r>
              <a:rPr lang="zh-CN" altLang="zh-CN"/>
              <a:t>工艺</a:t>
            </a:r>
            <a:r>
              <a:rPr lang="zh-CN" altLang="zh-CN" smtClean="0"/>
              <a:t>文件</a:t>
            </a:r>
            <a:r>
              <a:rPr lang="zh-CN" altLang="en-US"/>
              <a:t>启动</a:t>
            </a:r>
            <a:r>
              <a:rPr lang="zh-CN" altLang="zh-CN" smtClean="0"/>
              <a:t>“</a:t>
            </a:r>
            <a:r>
              <a:rPr lang="zh-CN" altLang="zh-CN"/>
              <a:t>工艺文件签审流程</a:t>
            </a:r>
            <a:r>
              <a:rPr lang="zh-CN" altLang="zh-CN" smtClean="0"/>
              <a:t>”</a:t>
            </a:r>
            <a:endParaRPr lang="en-US" altLang="zh-CN" smtClean="0"/>
          </a:p>
          <a:p>
            <a:pPr lvl="1"/>
            <a:r>
              <a:rPr lang="en-US" altLang="zh-CN" smtClean="0"/>
              <a:t>PBOM</a:t>
            </a:r>
            <a:r>
              <a:rPr lang="zh-CN" altLang="en-US" smtClean="0"/>
              <a:t>启动“</a:t>
            </a:r>
            <a:r>
              <a:rPr lang="en-US" altLang="zh-CN" smtClean="0"/>
              <a:t>PBOM</a:t>
            </a:r>
            <a:r>
              <a:rPr lang="zh-CN" altLang="en-US" smtClean="0"/>
              <a:t>签审流程”</a:t>
            </a:r>
            <a:endParaRPr lang="zh-CN" altLang="zh-CN"/>
          </a:p>
          <a:p>
            <a:pPr lvl="2"/>
            <a:endParaRPr lang="zh-CN" altLang="zh-CN"/>
          </a:p>
          <a:p>
            <a:pPr lvl="1"/>
            <a:endParaRPr lang="zh-CN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37248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10. </a:t>
            </a:r>
            <a:r>
              <a:rPr lang="zh-CN" altLang="en-US"/>
              <a:t>变更过程管理：</a:t>
            </a:r>
            <a:r>
              <a:rPr lang="zh-CN" altLang="en-US">
                <a:solidFill>
                  <a:srgbClr val="FFFF00"/>
                </a:solidFill>
              </a:rPr>
              <a:t>典型业务场景</a:t>
            </a:r>
            <a:r>
              <a:rPr lang="zh-CN" altLang="en-US" smtClean="0">
                <a:solidFill>
                  <a:srgbClr val="FFFF00"/>
                </a:solidFill>
              </a:rPr>
              <a:t>示意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576139" y="1143571"/>
            <a:ext cx="8856984" cy="5472608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smtClean="0"/>
              <a:t>4</a:t>
            </a:r>
            <a:r>
              <a:rPr lang="zh-CN" altLang="en-US" smtClean="0"/>
              <a:t>、</a:t>
            </a:r>
            <a:r>
              <a:rPr lang="zh-CN" altLang="zh-CN" smtClean="0"/>
              <a:t>更改</a:t>
            </a:r>
            <a:r>
              <a:rPr lang="zh-CN" altLang="zh-CN"/>
              <a:t>签审流程</a:t>
            </a:r>
          </a:p>
          <a:p>
            <a:pPr lvl="1"/>
            <a:r>
              <a:rPr lang="zh-CN" altLang="zh-CN"/>
              <a:t>负责角色：签审人员</a:t>
            </a:r>
          </a:p>
          <a:p>
            <a:pPr lvl="1"/>
            <a:r>
              <a:rPr lang="zh-CN" altLang="zh-CN"/>
              <a:t>活动描述：更改签审流程的环节及签审方式和设计签审流程一致，可以采用相同的流程</a:t>
            </a:r>
            <a:r>
              <a:rPr lang="zh-CN" altLang="zh-CN" smtClean="0"/>
              <a:t>。</a:t>
            </a:r>
            <a:endParaRPr lang="en-US" altLang="zh-CN" smtClean="0"/>
          </a:p>
          <a:p>
            <a:pPr marL="0" lvl="0" indent="0">
              <a:buNone/>
            </a:pPr>
            <a:r>
              <a:rPr lang="en-US" altLang="zh-CN"/>
              <a:t>5</a:t>
            </a:r>
            <a:r>
              <a:rPr lang="zh-CN" altLang="en-US"/>
              <a:t>、</a:t>
            </a:r>
            <a:r>
              <a:rPr lang="zh-CN" altLang="zh-CN"/>
              <a:t>更改单及更改后文件打印</a:t>
            </a:r>
          </a:p>
          <a:p>
            <a:pPr lvl="1"/>
            <a:r>
              <a:rPr lang="zh-CN" altLang="zh-CN"/>
              <a:t>负责角色：档案部资料员</a:t>
            </a:r>
          </a:p>
          <a:p>
            <a:pPr lvl="1"/>
            <a:r>
              <a:rPr lang="zh-CN" altLang="zh-CN"/>
              <a:t>活动描述：更改后文件和更改单签审通过后，档案馆资料员接收到打印任务，打印更改单及更改后文件</a:t>
            </a:r>
            <a:r>
              <a:rPr lang="zh-CN" altLang="zh-CN" smtClean="0"/>
              <a:t>。</a:t>
            </a:r>
            <a:endParaRPr lang="en-US" altLang="zh-CN" smtClean="0"/>
          </a:p>
          <a:p>
            <a:pPr marL="0" indent="0">
              <a:buNone/>
            </a:pPr>
            <a:r>
              <a:rPr lang="en-US" altLang="zh-CN" smtClean="0"/>
              <a:t>6</a:t>
            </a:r>
            <a:r>
              <a:rPr lang="zh-CN" altLang="en-US" smtClean="0"/>
              <a:t>、</a:t>
            </a:r>
            <a:r>
              <a:rPr lang="zh-CN" altLang="zh-CN" smtClean="0"/>
              <a:t>借用</a:t>
            </a:r>
            <a:r>
              <a:rPr lang="zh-CN" altLang="zh-CN"/>
              <a:t>件处理：</a:t>
            </a:r>
          </a:p>
          <a:p>
            <a:pPr lvl="1"/>
            <a:r>
              <a:rPr lang="zh-CN" altLang="zh-CN"/>
              <a:t>如需要变更的零部件被借用，则系统在创建变更通告完成后，系统自动发送借用件变更通知给借用者</a:t>
            </a:r>
            <a:r>
              <a:rPr lang="zh-CN" altLang="zh-CN" smtClean="0"/>
              <a:t>。</a:t>
            </a:r>
            <a:r>
              <a:rPr lang="zh-CN" altLang="en-US" smtClean="0"/>
              <a:t>如果借用者确认更改后的零部件无法继续使用，则需要复制旧版本数据并修改编号，走变更流程，使用新的零部件。</a:t>
            </a:r>
            <a:endParaRPr lang="zh-CN" altLang="zh-CN"/>
          </a:p>
          <a:p>
            <a:pPr lvl="1"/>
            <a:endParaRPr lang="zh-CN" altLang="zh-CN"/>
          </a:p>
          <a:p>
            <a:pPr lvl="1"/>
            <a:endParaRPr lang="zh-CN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44486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未来实践设计</a:t>
            </a:r>
            <a:r>
              <a:rPr lang="zh-CN" altLang="en-US" smtClean="0">
                <a:solidFill>
                  <a:srgbClr val="FFFF00"/>
                </a:solidFill>
              </a:rPr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5904656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>
              <a:lnSpc>
                <a:spcPct val="150000"/>
              </a:lnSpc>
            </a:pPr>
            <a:r>
              <a:rPr lang="en-US" altLang="zh-CN" sz="2800" b="1" smtClean="0">
                <a:solidFill>
                  <a:schemeClr val="bg1"/>
                </a:solidFill>
              </a:rPr>
              <a:t>11.  </a:t>
            </a:r>
            <a:r>
              <a:rPr lang="zh-CN" altLang="en-US" sz="2800" b="1" smtClean="0">
                <a:solidFill>
                  <a:schemeClr val="bg1"/>
                </a:solidFill>
              </a:rPr>
              <a:t>系统集成</a:t>
            </a:r>
            <a:endParaRPr lang="en-US" altLang="zh-CN" sz="2800" b="1" smtClean="0">
              <a:solidFill>
                <a:schemeClr val="bg1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b="1" smtClean="0">
                <a:solidFill>
                  <a:srgbClr val="FFFF00"/>
                </a:solidFill>
              </a:rPr>
              <a:t>CAPP</a:t>
            </a:r>
            <a:r>
              <a:rPr lang="zh-CN" altLang="en-US" b="1" smtClean="0">
                <a:solidFill>
                  <a:srgbClr val="FFFF00"/>
                </a:solidFill>
              </a:rPr>
              <a:t>系统集成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b="1" smtClean="0">
                <a:solidFill>
                  <a:srgbClr val="FFFF00"/>
                </a:solidFill>
              </a:rPr>
              <a:t>ERP</a:t>
            </a:r>
            <a:r>
              <a:rPr lang="zh-CN" altLang="en-US" b="1" smtClean="0">
                <a:solidFill>
                  <a:srgbClr val="FFFF00"/>
                </a:solidFill>
              </a:rPr>
              <a:t>数据传递</a:t>
            </a:r>
            <a:endParaRPr lang="en-US" altLang="zh-CN" b="1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23034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11. </a:t>
            </a:r>
            <a:r>
              <a:rPr lang="zh-CN" altLang="en-US" smtClean="0"/>
              <a:t>系统集成：</a:t>
            </a:r>
            <a:r>
              <a:rPr lang="en-US" altLang="zh-CN" smtClean="0">
                <a:solidFill>
                  <a:srgbClr val="FFFF00"/>
                </a:solidFill>
              </a:rPr>
              <a:t>CAPP</a:t>
            </a:r>
            <a:r>
              <a:rPr lang="zh-CN" altLang="en-US" smtClean="0">
                <a:solidFill>
                  <a:srgbClr val="FFFF00"/>
                </a:solidFill>
              </a:rPr>
              <a:t>系统集成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smtClean="0"/>
              <a:t>本期项目</a:t>
            </a:r>
            <a:r>
              <a:rPr lang="en-US" altLang="zh-CN" smtClean="0"/>
              <a:t>Windchill</a:t>
            </a:r>
            <a:r>
              <a:rPr lang="zh-CN" altLang="zh-CN"/>
              <a:t>平台与</a:t>
            </a:r>
            <a:r>
              <a:rPr lang="en-US" altLang="zh-CN"/>
              <a:t>CAPP</a:t>
            </a:r>
            <a:r>
              <a:rPr lang="zh-CN" altLang="zh-CN"/>
              <a:t>集成主要实现以下功能：</a:t>
            </a:r>
          </a:p>
          <a:p>
            <a:pPr lvl="1">
              <a:lnSpc>
                <a:spcPct val="200000"/>
              </a:lnSpc>
            </a:pPr>
            <a:r>
              <a:rPr lang="zh-CN" altLang="zh-CN"/>
              <a:t>成套件</a:t>
            </a:r>
            <a:r>
              <a:rPr lang="en-US" altLang="zh-CN"/>
              <a:t>PBOM</a:t>
            </a:r>
            <a:r>
              <a:rPr lang="zh-CN" altLang="zh-CN"/>
              <a:t>设计完成后，主任工艺师在</a:t>
            </a:r>
            <a:r>
              <a:rPr lang="en-US" altLang="zh-CN"/>
              <a:t>CAPP</a:t>
            </a:r>
            <a:r>
              <a:rPr lang="zh-CN" altLang="zh-CN"/>
              <a:t>中通过集成命令实现</a:t>
            </a:r>
            <a:r>
              <a:rPr lang="en-US" altLang="zh-CN"/>
              <a:t>PBOM</a:t>
            </a:r>
            <a:r>
              <a:rPr lang="zh-CN" altLang="zh-CN"/>
              <a:t>自动导入建树，包括</a:t>
            </a:r>
            <a:r>
              <a:rPr lang="en-US" altLang="zh-CN"/>
              <a:t>PBOM</a:t>
            </a:r>
            <a:r>
              <a:rPr lang="zh-CN" altLang="zh-CN"/>
              <a:t>变更后的更新导入；</a:t>
            </a:r>
          </a:p>
          <a:p>
            <a:pPr lvl="1">
              <a:lnSpc>
                <a:spcPct val="200000"/>
              </a:lnSpc>
            </a:pPr>
            <a:r>
              <a:rPr lang="zh-CN" altLang="zh-CN"/>
              <a:t>为了确保工艺文件技术状态管控，未来</a:t>
            </a:r>
            <a:r>
              <a:rPr lang="en-US" altLang="zh-CN"/>
              <a:t>CAPP</a:t>
            </a:r>
            <a:r>
              <a:rPr lang="zh-CN" altLang="zh-CN"/>
              <a:t>中所有的工艺文件，包括各类工艺规程、工艺技术通知单、工艺更改单、临时工艺文件等在签审流程</a:t>
            </a:r>
            <a:r>
              <a:rPr lang="zh-CN" altLang="zh-CN" smtClean="0"/>
              <a:t>通过后</a:t>
            </a:r>
            <a:r>
              <a:rPr lang="zh-CN" altLang="zh-CN"/>
              <a:t>，由工艺</a:t>
            </a:r>
            <a:r>
              <a:rPr lang="zh-CN" altLang="zh-CN" smtClean="0"/>
              <a:t>员</a:t>
            </a:r>
            <a:r>
              <a:rPr lang="zh-CN" altLang="en-US" smtClean="0"/>
              <a:t>手工</a:t>
            </a:r>
            <a:r>
              <a:rPr lang="zh-CN" altLang="zh-CN" smtClean="0"/>
              <a:t>检</a:t>
            </a:r>
            <a:r>
              <a:rPr lang="zh-CN" altLang="zh-CN"/>
              <a:t>入至</a:t>
            </a:r>
            <a:r>
              <a:rPr lang="en-US" altLang="zh-CN"/>
              <a:t>Windchill</a:t>
            </a:r>
            <a:r>
              <a:rPr lang="zh-CN" altLang="zh-CN"/>
              <a:t>平台中统一管理，并与</a:t>
            </a:r>
            <a:r>
              <a:rPr lang="en-US" altLang="zh-CN"/>
              <a:t>PBOM</a:t>
            </a:r>
            <a:r>
              <a:rPr lang="zh-CN" altLang="zh-CN"/>
              <a:t>中零部件自动关联。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02797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11. </a:t>
            </a:r>
            <a:r>
              <a:rPr lang="zh-CN" altLang="en-US" smtClean="0"/>
              <a:t>系统集成：</a:t>
            </a:r>
            <a:r>
              <a:rPr lang="en-US" altLang="zh-CN" smtClean="0">
                <a:solidFill>
                  <a:srgbClr val="FFFF00"/>
                </a:solidFill>
              </a:rPr>
              <a:t>CAPP</a:t>
            </a:r>
            <a:r>
              <a:rPr lang="zh-CN" altLang="en-US" smtClean="0">
                <a:solidFill>
                  <a:srgbClr val="FFFF00"/>
                </a:solidFill>
              </a:rPr>
              <a:t>系统集成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59587" y="866572"/>
            <a:ext cx="41024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PBOM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传递到</a:t>
            </a:r>
            <a:r>
              <a:rPr lang="en-US" altLang="zh-CN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CAPP</a:t>
            </a: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技术路线：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43" y="1575619"/>
            <a:ext cx="8247063" cy="4086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662801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11. </a:t>
            </a:r>
            <a:r>
              <a:rPr lang="zh-CN" altLang="en-US" smtClean="0"/>
              <a:t>系统集成：</a:t>
            </a:r>
            <a:r>
              <a:rPr lang="en-US" altLang="zh-CN" smtClean="0">
                <a:solidFill>
                  <a:srgbClr val="FFFF00"/>
                </a:solidFill>
              </a:rPr>
              <a:t>CAPP</a:t>
            </a:r>
            <a:r>
              <a:rPr lang="zh-CN" altLang="en-US" smtClean="0">
                <a:solidFill>
                  <a:srgbClr val="FFFF00"/>
                </a:solidFill>
              </a:rPr>
              <a:t>系统集成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40377" y="870456"/>
            <a:ext cx="577914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CN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CAPP</a:t>
            </a: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工艺文件集成检入</a:t>
            </a:r>
            <a:r>
              <a:rPr lang="en-US" altLang="zh-CN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Windchill</a:t>
            </a:r>
            <a:r>
              <a:rPr lang="zh-CN" altLang="en-US" sz="2000" b="1" smtClean="0">
                <a:solidFill>
                  <a:schemeClr val="accent5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技术路线：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834" y="1424454"/>
            <a:ext cx="6873681" cy="52499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973355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11. </a:t>
            </a:r>
            <a:r>
              <a:rPr lang="zh-CN" altLang="en-US"/>
              <a:t>系统集成：</a:t>
            </a:r>
            <a:r>
              <a:rPr lang="en-US" altLang="zh-CN">
                <a:solidFill>
                  <a:srgbClr val="FFFF00"/>
                </a:solidFill>
              </a:rPr>
              <a:t>CAPP</a:t>
            </a:r>
            <a:r>
              <a:rPr lang="zh-CN" altLang="en-US" smtClean="0">
                <a:solidFill>
                  <a:srgbClr val="FFFF00"/>
                </a:solidFill>
              </a:rPr>
              <a:t>系统集成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mtClean="0"/>
              <a:t>1</a:t>
            </a:r>
            <a:r>
              <a:rPr lang="zh-CN" altLang="en-US" smtClean="0"/>
              <a:t>、</a:t>
            </a:r>
            <a:r>
              <a:rPr lang="en-US" altLang="zh-CN" smtClean="0"/>
              <a:t>PBOM</a:t>
            </a:r>
            <a:r>
              <a:rPr lang="zh-CN" altLang="en-US" smtClean="0"/>
              <a:t>导入</a:t>
            </a:r>
            <a:r>
              <a:rPr lang="en-US" altLang="zh-CN" smtClean="0"/>
              <a:t>CAPP</a:t>
            </a:r>
            <a:r>
              <a:rPr lang="zh-CN" altLang="en-US" smtClean="0"/>
              <a:t>过程：</a:t>
            </a:r>
            <a:endParaRPr lang="en-US" altLang="zh-CN" smtClean="0"/>
          </a:p>
          <a:p>
            <a:pPr marL="800100" lvl="1" indent="-342900">
              <a:buFont typeface="+mj-ea"/>
              <a:buAutoNum type="circleNumDbPlain"/>
            </a:pPr>
            <a:r>
              <a:rPr lang="zh-CN" altLang="zh-CN" smtClean="0"/>
              <a:t>在</a:t>
            </a:r>
            <a:r>
              <a:rPr lang="en-US" altLang="zh-CN"/>
              <a:t>CAPP</a:t>
            </a:r>
            <a:r>
              <a:rPr lang="zh-CN" altLang="zh-CN"/>
              <a:t>系统中增加“</a:t>
            </a:r>
            <a:r>
              <a:rPr lang="en-US" altLang="zh-CN"/>
              <a:t>PBOM</a:t>
            </a:r>
            <a:r>
              <a:rPr lang="zh-CN" altLang="zh-CN"/>
              <a:t>导入”操作入口，主任工艺师在完成</a:t>
            </a:r>
            <a:r>
              <a:rPr lang="en-US" altLang="zh-CN"/>
              <a:t>PBOM</a:t>
            </a:r>
            <a:r>
              <a:rPr lang="zh-CN" altLang="zh-CN"/>
              <a:t>设计后</a:t>
            </a:r>
            <a:r>
              <a:rPr lang="zh-CN" altLang="zh-CN" smtClean="0"/>
              <a:t>，通过</a:t>
            </a:r>
            <a:r>
              <a:rPr lang="zh-CN" altLang="zh-CN"/>
              <a:t>该命令在界面</a:t>
            </a:r>
            <a:r>
              <a:rPr lang="zh-CN" altLang="zh-CN" smtClean="0"/>
              <a:t>中</a:t>
            </a:r>
            <a:r>
              <a:rPr lang="zh-CN" altLang="en-US" smtClean="0"/>
              <a:t>选择</a:t>
            </a:r>
            <a:r>
              <a:rPr lang="zh-CN" altLang="en-US"/>
              <a:t>要</a:t>
            </a:r>
            <a:r>
              <a:rPr lang="zh-CN" altLang="zh-CN" smtClean="0"/>
              <a:t>导</a:t>
            </a:r>
            <a:r>
              <a:rPr lang="zh-CN" altLang="zh-CN"/>
              <a:t>入的成套件编号</a:t>
            </a:r>
            <a:r>
              <a:rPr lang="zh-CN" altLang="zh-CN" smtClean="0"/>
              <a:t>。</a:t>
            </a:r>
            <a:endParaRPr lang="en-US" altLang="zh-CN" smtClean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mtClean="0"/>
              <a:t>Windchill</a:t>
            </a:r>
            <a:r>
              <a:rPr lang="zh-CN" altLang="zh-CN"/>
              <a:t>提供</a:t>
            </a:r>
            <a:r>
              <a:rPr lang="en-US" altLang="zh-CN"/>
              <a:t>Webservice</a:t>
            </a:r>
            <a:r>
              <a:rPr lang="zh-CN" altLang="zh-CN"/>
              <a:t>接口</a:t>
            </a:r>
            <a:r>
              <a:rPr lang="zh-CN" altLang="zh-CN" smtClean="0"/>
              <a:t>，返回</a:t>
            </a:r>
            <a:r>
              <a:rPr lang="zh-CN" altLang="zh-CN"/>
              <a:t>需要导入得成套件</a:t>
            </a:r>
            <a:r>
              <a:rPr lang="en-US" altLang="zh-CN"/>
              <a:t>PBOM</a:t>
            </a:r>
            <a:r>
              <a:rPr lang="zh-CN" altLang="zh-CN"/>
              <a:t>信息，由</a:t>
            </a:r>
            <a:r>
              <a:rPr lang="en-US" altLang="zh-CN"/>
              <a:t>CAPP</a:t>
            </a:r>
            <a:r>
              <a:rPr lang="zh-CN" altLang="zh-CN"/>
              <a:t>按照规则建树</a:t>
            </a:r>
            <a:r>
              <a:rPr lang="zh-CN" altLang="zh-CN" smtClean="0"/>
              <a:t>。</a:t>
            </a:r>
            <a:endParaRPr lang="en-US" altLang="zh-CN" smtClean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mtClean="0"/>
              <a:t>PBOM</a:t>
            </a:r>
            <a:r>
              <a:rPr lang="zh-CN" altLang="zh-CN"/>
              <a:t>导入时</a:t>
            </a:r>
            <a:r>
              <a:rPr lang="en-US" altLang="zh-CN"/>
              <a:t>Windchill</a:t>
            </a:r>
            <a:r>
              <a:rPr lang="zh-CN" altLang="zh-CN"/>
              <a:t>提供的信息包括：</a:t>
            </a:r>
          </a:p>
          <a:p>
            <a:pPr lvl="2"/>
            <a:r>
              <a:rPr lang="zh-CN" altLang="zh-CN"/>
              <a:t>成套件</a:t>
            </a:r>
            <a:r>
              <a:rPr lang="en-US" altLang="zh-CN"/>
              <a:t>PBOM</a:t>
            </a:r>
            <a:r>
              <a:rPr lang="zh-CN" altLang="zh-CN"/>
              <a:t>中零部件对象的属性</a:t>
            </a:r>
            <a:r>
              <a:rPr lang="zh-CN" altLang="zh-CN" smtClean="0"/>
              <a:t>：</a:t>
            </a:r>
            <a:r>
              <a:rPr lang="en-US" altLang="zh-CN" smtClean="0"/>
              <a:t/>
            </a:r>
            <a:br>
              <a:rPr lang="en-US" altLang="zh-CN" smtClean="0"/>
            </a:br>
            <a:r>
              <a:rPr lang="zh-CN" altLang="zh-CN" smtClean="0"/>
              <a:t>所属</a:t>
            </a:r>
            <a:r>
              <a:rPr lang="zh-CN" altLang="zh-CN"/>
              <a:t>型号、编号、名称、材料、数量、零部件分类</a:t>
            </a:r>
          </a:p>
          <a:p>
            <a:pPr lvl="2"/>
            <a:r>
              <a:rPr lang="zh-CN" altLang="zh-CN"/>
              <a:t>成套件</a:t>
            </a:r>
            <a:r>
              <a:rPr lang="en-US" altLang="zh-CN"/>
              <a:t>PBOM</a:t>
            </a:r>
            <a:r>
              <a:rPr lang="zh-CN" altLang="zh-CN"/>
              <a:t>中零部件关联关系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01291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11. </a:t>
            </a:r>
            <a:r>
              <a:rPr lang="zh-CN" altLang="en-US"/>
              <a:t>系统集成：</a:t>
            </a:r>
            <a:r>
              <a:rPr lang="en-US" altLang="zh-CN">
                <a:solidFill>
                  <a:srgbClr val="FFFF00"/>
                </a:solidFill>
              </a:rPr>
              <a:t>CAPP</a:t>
            </a:r>
            <a:r>
              <a:rPr lang="zh-CN" altLang="en-US" smtClean="0">
                <a:solidFill>
                  <a:srgbClr val="FFFF00"/>
                </a:solidFill>
              </a:rPr>
              <a:t>系统集成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PBOM</a:t>
            </a:r>
            <a:r>
              <a:rPr lang="zh-CN" altLang="en-US"/>
              <a:t>导入</a:t>
            </a:r>
            <a:r>
              <a:rPr lang="en-US" altLang="zh-CN" smtClean="0"/>
              <a:t>CAPP</a:t>
            </a:r>
            <a:r>
              <a:rPr lang="zh-CN" altLang="en-US"/>
              <a:t>过程</a:t>
            </a:r>
            <a:r>
              <a:rPr lang="zh-CN" altLang="en-US" smtClean="0"/>
              <a:t>：</a:t>
            </a:r>
            <a:endParaRPr lang="en-US" altLang="zh-CN" smtClean="0"/>
          </a:p>
          <a:p>
            <a:pPr marL="800100" lvl="1" indent="-342900">
              <a:buFont typeface="+mj-ea"/>
              <a:buAutoNum type="circleNumDbPlain" startAt="4"/>
            </a:pPr>
            <a:r>
              <a:rPr lang="zh-CN" altLang="zh-CN" smtClean="0"/>
              <a:t>如果</a:t>
            </a:r>
            <a:r>
              <a:rPr lang="zh-CN" altLang="zh-CN"/>
              <a:t>成套件</a:t>
            </a:r>
            <a:r>
              <a:rPr lang="en-US" altLang="zh-CN"/>
              <a:t>PBOM</a:t>
            </a:r>
            <a:r>
              <a:rPr lang="zh-CN" altLang="zh-CN"/>
              <a:t>发生变更，同样使用“</a:t>
            </a:r>
            <a:r>
              <a:rPr lang="en-US" altLang="zh-CN"/>
              <a:t>PBOM</a:t>
            </a:r>
            <a:r>
              <a:rPr lang="zh-CN" altLang="zh-CN"/>
              <a:t>导入”命令执行导入，</a:t>
            </a:r>
            <a:r>
              <a:rPr lang="en-US" altLang="zh-CN"/>
              <a:t>CAPP</a:t>
            </a:r>
            <a:r>
              <a:rPr lang="zh-CN" altLang="zh-CN"/>
              <a:t>自动后台进行处理，处理规则如下：</a:t>
            </a:r>
          </a:p>
          <a:p>
            <a:pPr lvl="2"/>
            <a:r>
              <a:rPr lang="zh-CN" altLang="zh-CN"/>
              <a:t>零部件新增：增加新的零部件</a:t>
            </a:r>
          </a:p>
          <a:p>
            <a:pPr lvl="2"/>
            <a:r>
              <a:rPr lang="zh-CN" altLang="zh-CN"/>
              <a:t>零部件修改：修改零部件属性</a:t>
            </a:r>
          </a:p>
          <a:p>
            <a:pPr lvl="2"/>
            <a:r>
              <a:rPr lang="zh-CN" altLang="zh-CN"/>
              <a:t>零部件删除：将需要删除的零部件移除到其它位置</a:t>
            </a:r>
          </a:p>
          <a:p>
            <a:pPr lvl="2"/>
            <a:r>
              <a:rPr lang="zh-CN" altLang="zh-CN"/>
              <a:t>更新零部件关联关系</a:t>
            </a:r>
          </a:p>
          <a:p>
            <a:pPr marL="800100" lvl="1" indent="-342900">
              <a:buFont typeface="+mj-ea"/>
              <a:buAutoNum type="circleNumDbPlain" startAt="4"/>
            </a:pPr>
            <a:r>
              <a:rPr lang="zh-CN" altLang="zh-CN"/>
              <a:t>原则上，</a:t>
            </a:r>
            <a:r>
              <a:rPr lang="en-US" altLang="zh-CN"/>
              <a:t>CAPP</a:t>
            </a:r>
            <a:r>
              <a:rPr lang="zh-CN" altLang="zh-CN"/>
              <a:t>中成套件树结构应与</a:t>
            </a:r>
            <a:r>
              <a:rPr lang="en-US" altLang="zh-CN"/>
              <a:t>Windchill</a:t>
            </a:r>
            <a:r>
              <a:rPr lang="zh-CN" altLang="zh-CN"/>
              <a:t>中</a:t>
            </a:r>
            <a:r>
              <a:rPr lang="en-US" altLang="zh-CN"/>
              <a:t>PBOM</a:t>
            </a:r>
            <a:r>
              <a:rPr lang="zh-CN" altLang="zh-CN"/>
              <a:t>结构保持一致</a:t>
            </a:r>
            <a:r>
              <a:rPr lang="zh-CN" altLang="zh-CN" smtClean="0"/>
              <a:t>。</a:t>
            </a:r>
            <a:endParaRPr lang="en-US" altLang="zh-CN" smtClean="0"/>
          </a:p>
          <a:p>
            <a:pPr marL="800100" lvl="1" indent="-342900">
              <a:buFont typeface="+mj-ea"/>
              <a:buAutoNum type="circleNumDbPlain" startAt="4"/>
            </a:pPr>
            <a:r>
              <a:rPr lang="zh-CN" altLang="zh-CN" smtClean="0"/>
              <a:t>如果</a:t>
            </a:r>
            <a:r>
              <a:rPr lang="zh-CN" altLang="zh-CN"/>
              <a:t>主任工艺师需要手工建树</a:t>
            </a:r>
            <a:r>
              <a:rPr lang="zh-CN" altLang="zh-CN" smtClean="0"/>
              <a:t>，</a:t>
            </a:r>
            <a:r>
              <a:rPr lang="zh-CN" altLang="en-US" smtClean="0"/>
              <a:t>应首先</a:t>
            </a:r>
            <a:r>
              <a:rPr lang="zh-CN" altLang="zh-CN" smtClean="0"/>
              <a:t>在</a:t>
            </a:r>
            <a:r>
              <a:rPr lang="en-US" altLang="zh-CN"/>
              <a:t>Windchill</a:t>
            </a:r>
            <a:r>
              <a:rPr lang="zh-CN" altLang="zh-CN"/>
              <a:t>中手工建立</a:t>
            </a:r>
            <a:r>
              <a:rPr lang="en-US" altLang="zh-CN"/>
              <a:t>EBOM</a:t>
            </a:r>
            <a:r>
              <a:rPr lang="zh-CN" altLang="zh-CN"/>
              <a:t>结构，转换为</a:t>
            </a:r>
            <a:r>
              <a:rPr lang="en-US" altLang="zh-CN"/>
              <a:t>PBOM</a:t>
            </a:r>
            <a:r>
              <a:rPr lang="zh-CN" altLang="zh-CN"/>
              <a:t>后再导入</a:t>
            </a:r>
            <a:r>
              <a:rPr lang="en-US" altLang="zh-CN"/>
              <a:t>CAPP</a:t>
            </a:r>
            <a:r>
              <a:rPr lang="zh-CN" altLang="zh-CN" smtClean="0"/>
              <a:t>。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0983336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11. </a:t>
            </a:r>
            <a:r>
              <a:rPr lang="zh-CN" altLang="en-US"/>
              <a:t>系统集成：</a:t>
            </a:r>
            <a:r>
              <a:rPr lang="en-US" altLang="zh-CN">
                <a:solidFill>
                  <a:srgbClr val="FFFF00"/>
                </a:solidFill>
              </a:rPr>
              <a:t>CAPP</a:t>
            </a:r>
            <a:r>
              <a:rPr lang="zh-CN" altLang="en-US" smtClean="0">
                <a:solidFill>
                  <a:srgbClr val="FFFF00"/>
                </a:solidFill>
              </a:rPr>
              <a:t>系统集成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mtClean="0"/>
              <a:t>2</a:t>
            </a:r>
            <a:r>
              <a:rPr lang="zh-CN" altLang="en-US" smtClean="0"/>
              <a:t>、</a:t>
            </a:r>
            <a:r>
              <a:rPr lang="en-US" altLang="zh-CN" smtClean="0"/>
              <a:t>CAPP</a:t>
            </a:r>
            <a:r>
              <a:rPr lang="zh-CN" altLang="en-US" smtClean="0"/>
              <a:t>工艺文件检入</a:t>
            </a:r>
            <a:r>
              <a:rPr lang="en-US" altLang="zh-CN" smtClean="0"/>
              <a:t>Windchill</a:t>
            </a:r>
            <a:r>
              <a:rPr lang="zh-CN" altLang="en-US"/>
              <a:t>过程</a:t>
            </a:r>
            <a:r>
              <a:rPr lang="zh-CN" altLang="en-US" smtClean="0"/>
              <a:t>：</a:t>
            </a:r>
            <a:endParaRPr lang="en-US" altLang="zh-CN" smtClean="0"/>
          </a:p>
          <a:p>
            <a:pPr marL="800100" lvl="1" indent="-342900">
              <a:buFont typeface="+mj-ea"/>
              <a:buAutoNum type="circleNumDbPlain"/>
            </a:pPr>
            <a:r>
              <a:rPr lang="zh-CN" altLang="zh-CN"/>
              <a:t>车间工艺员在</a:t>
            </a:r>
            <a:r>
              <a:rPr lang="en-US" altLang="zh-CN"/>
              <a:t>CAPP</a:t>
            </a:r>
            <a:r>
              <a:rPr lang="zh-CN" altLang="zh-CN"/>
              <a:t>中编制各类工艺文件，提交签审流程或更改流程，签审结束后工艺文件转为受控状态，不允许编辑。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zh-CN"/>
              <a:t>CAPP</a:t>
            </a:r>
            <a:r>
              <a:rPr lang="zh-CN" altLang="zh-CN"/>
              <a:t>提供“检入工艺文件至</a:t>
            </a:r>
            <a:r>
              <a:rPr lang="en-US" altLang="zh-CN"/>
              <a:t>Windchill</a:t>
            </a:r>
            <a:r>
              <a:rPr lang="zh-CN" altLang="zh-CN"/>
              <a:t>”的命令，工艺员选择需要检入至</a:t>
            </a:r>
            <a:r>
              <a:rPr lang="en-US" altLang="zh-CN"/>
              <a:t>Windchill</a:t>
            </a:r>
            <a:r>
              <a:rPr lang="zh-CN" altLang="zh-CN"/>
              <a:t>的零部件，使用该命令启动集成检入接口。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zh-CN"/>
              <a:t>CAPP后台将零部件关联的由该工艺员编制的受控状态工艺文件以PDF格式存储在本地临时文件夹，PDF文件名称为“工艺文件编号+名称”，同时生成xml</a:t>
            </a:r>
            <a:r>
              <a:rPr lang="en-US" altLang="zh-CN" smtClean="0"/>
              <a:t>文件记录工艺文件的信息</a:t>
            </a:r>
            <a:r>
              <a:rPr lang="zh-CN" altLang="en-US" smtClean="0"/>
              <a:t>。</a:t>
            </a: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50061978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11. </a:t>
            </a:r>
            <a:r>
              <a:rPr lang="zh-CN" altLang="en-US"/>
              <a:t>系统集成：</a:t>
            </a:r>
            <a:r>
              <a:rPr lang="en-US" altLang="zh-CN">
                <a:solidFill>
                  <a:srgbClr val="FFFF00"/>
                </a:solidFill>
              </a:rPr>
              <a:t>CAPP</a:t>
            </a:r>
            <a:r>
              <a:rPr lang="zh-CN" altLang="en-US" smtClean="0">
                <a:solidFill>
                  <a:srgbClr val="FFFF00"/>
                </a:solidFill>
              </a:rPr>
              <a:t>系统集成</a:t>
            </a:r>
            <a:endParaRPr lang="zh-CN" altLang="en-US">
              <a:solidFill>
                <a:srgbClr val="FFFF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27755"/>
              </p:ext>
            </p:extLst>
          </p:nvPr>
        </p:nvGraphicFramePr>
        <p:xfrm>
          <a:off x="3888507" y="943245"/>
          <a:ext cx="6192688" cy="57612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52958"/>
                <a:gridCol w="1833168"/>
                <a:gridCol w="3706562"/>
              </a:tblGrid>
              <a:tr h="286386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序号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属性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说明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</a:tr>
              <a:tr h="275134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文件编号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工艺文件编号，如果是更改单则为更改单编号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</a:tr>
              <a:tr h="275134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文件名称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工艺文件名称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</a:tr>
              <a:tr h="275134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零部件编号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工艺文件对应的零部件图号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</a:tr>
              <a:tr h="776182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1200" smtClean="0">
                          <a:effectLst/>
                        </a:rPr>
                        <a:t>4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文件类型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zh-CN" sz="1200">
                          <a:solidFill>
                            <a:srgbClr val="FF0000"/>
                          </a:solidFill>
                          <a:effectLst/>
                        </a:rPr>
                        <a:t>工艺更改单</a:t>
                      </a:r>
                    </a:p>
                    <a:p>
                      <a:pPr marL="342900" lvl="0" indent="-342900" algn="just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zh-CN" sz="1200">
                          <a:solidFill>
                            <a:srgbClr val="FF0000"/>
                          </a:solidFill>
                          <a:effectLst/>
                        </a:rPr>
                        <a:t>工艺通知单</a:t>
                      </a:r>
                    </a:p>
                    <a:p>
                      <a:pPr marL="342900" lvl="0" indent="-342900" algn="just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zh-CN" altLang="en-US" sz="1200" smtClean="0">
                          <a:solidFill>
                            <a:srgbClr val="FF0000"/>
                          </a:solidFill>
                          <a:effectLst/>
                        </a:rPr>
                        <a:t>工艺规程</a:t>
                      </a:r>
                      <a:endParaRPr lang="en-US" altLang="zh-CN" sz="1200" smtClean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3763" marR="23763" marT="16026" marB="16026" anchor="ctr"/>
                </a:tc>
              </a:tr>
              <a:tr h="74770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smtClean="0">
                          <a:solidFill>
                            <a:srgbClr val="595959"/>
                          </a:solidFill>
                          <a:effectLst/>
                          <a:latin typeface="Arial"/>
                          <a:ea typeface="宋体"/>
                          <a:cs typeface="Times New Roman"/>
                        </a:rPr>
                        <a:t>文件状态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zh-CN" altLang="zh-CN" sz="1200" smtClean="0">
                          <a:solidFill>
                            <a:srgbClr val="FF0000"/>
                          </a:solidFill>
                          <a:effectLst/>
                        </a:rPr>
                        <a:t>正样先行工艺</a:t>
                      </a:r>
                    </a:p>
                    <a:p>
                      <a:pPr marL="342900" lvl="0" indent="-342900" algn="just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zh-CN" altLang="zh-CN" sz="1200" smtClean="0">
                          <a:solidFill>
                            <a:srgbClr val="FF0000"/>
                          </a:solidFill>
                          <a:effectLst/>
                        </a:rPr>
                        <a:t>并行工艺</a:t>
                      </a:r>
                    </a:p>
                    <a:p>
                      <a:pPr marL="342900" lvl="0" indent="-342900" algn="just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zh-CN" altLang="zh-CN" sz="1200" smtClean="0">
                          <a:solidFill>
                            <a:srgbClr val="FF0000"/>
                          </a:solidFill>
                          <a:effectLst/>
                        </a:rPr>
                        <a:t>模样工艺</a:t>
                      </a:r>
                      <a:endParaRPr lang="en-US" altLang="zh-CN" sz="1200" smtClean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342900" marR="0" lvl="0" indent="-342900" algn="just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"/>
                        <a:tabLst/>
                        <a:defRPr/>
                      </a:pPr>
                      <a:r>
                        <a:rPr lang="zh-CN" altLang="en-US" sz="1200" smtClean="0">
                          <a:solidFill>
                            <a:srgbClr val="FF0000"/>
                          </a:solidFill>
                          <a:effectLst/>
                          <a:latin typeface="Arial"/>
                          <a:ea typeface="+mn-ea"/>
                          <a:cs typeface="Times New Roman"/>
                        </a:rPr>
                        <a:t>返修工艺</a:t>
                      </a:r>
                      <a:endParaRPr lang="en-US" altLang="zh-CN" sz="1200" smtClean="0">
                        <a:solidFill>
                          <a:srgbClr val="FF0000"/>
                        </a:solidFill>
                        <a:effectLst/>
                        <a:latin typeface="Arial"/>
                        <a:ea typeface="+mn-ea"/>
                        <a:cs typeface="Times New Roman"/>
                      </a:endParaRPr>
                    </a:p>
                    <a:p>
                      <a:pPr marL="342900" marR="0" lvl="0" indent="-342900" algn="just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"/>
                        <a:tabLst/>
                        <a:defRPr/>
                      </a:pPr>
                      <a:r>
                        <a:rPr lang="zh-CN" altLang="en-US" sz="1200" smtClean="0">
                          <a:solidFill>
                            <a:srgbClr val="FF0000"/>
                          </a:solidFill>
                          <a:effectLst/>
                        </a:rPr>
                        <a:t>蓝</a:t>
                      </a:r>
                      <a:r>
                        <a:rPr lang="zh-CN" altLang="zh-CN" sz="1200" smtClean="0">
                          <a:solidFill>
                            <a:srgbClr val="FF0000"/>
                          </a:solidFill>
                          <a:effectLst/>
                        </a:rPr>
                        <a:t>工艺</a:t>
                      </a:r>
                      <a:endParaRPr lang="en-US" altLang="zh-CN" sz="1200" smtClean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3763" marR="23763" marT="16026" marB="16026" anchor="ctr"/>
                </a:tc>
              </a:tr>
              <a:tr h="74770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1200" smtClean="0">
                          <a:effectLst/>
                        </a:rPr>
                        <a:t>5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版本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目前</a:t>
                      </a:r>
                      <a:r>
                        <a:rPr lang="en-US" sz="1200">
                          <a:effectLst/>
                        </a:rPr>
                        <a:t>CAPP</a:t>
                      </a:r>
                      <a:r>
                        <a:rPr lang="zh-CN" sz="1200">
                          <a:effectLst/>
                        </a:rPr>
                        <a:t>只有主版本号，未来建议采用和</a:t>
                      </a:r>
                      <a:r>
                        <a:rPr lang="en-US" sz="1200">
                          <a:effectLst/>
                        </a:rPr>
                        <a:t>Windchill</a:t>
                      </a:r>
                      <a:r>
                        <a:rPr lang="zh-CN" sz="1200">
                          <a:effectLst/>
                        </a:rPr>
                        <a:t>相同的版本规则：版本</a:t>
                      </a:r>
                      <a:r>
                        <a:rPr lang="en-US" sz="1200">
                          <a:effectLst/>
                        </a:rPr>
                        <a:t>.</a:t>
                      </a:r>
                      <a:r>
                        <a:rPr lang="zh-CN" sz="1200">
                          <a:effectLst/>
                        </a:rPr>
                        <a:t>版序，如</a:t>
                      </a:r>
                      <a:r>
                        <a:rPr lang="en-US" sz="1200">
                          <a:effectLst/>
                        </a:rPr>
                        <a:t>A.1</a:t>
                      </a:r>
                      <a:r>
                        <a:rPr lang="zh-CN" sz="1200">
                          <a:effectLst/>
                        </a:rPr>
                        <a:t>；</a:t>
                      </a:r>
                    </a:p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如果无法实现，只记录主版本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</a:tr>
              <a:tr h="275134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工艺员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工艺文件的编制者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</a:tr>
              <a:tr h="275134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检入时间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系统自动记录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</a:tr>
              <a:tr h="479824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更改后工艺文件编号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 smtClean="0">
                          <a:effectLst/>
                        </a:rPr>
                        <a:t>如果</a:t>
                      </a:r>
                      <a:r>
                        <a:rPr lang="zh-CN" sz="1200">
                          <a:effectLst/>
                        </a:rPr>
                        <a:t>文件类型为工艺更改单，则需填写更改单对应更改后工艺文件编号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</a:tr>
              <a:tr h="275134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阶段标记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1200" smtClean="0">
                          <a:effectLst/>
                        </a:rPr>
                        <a:t>Y/M/C/S/Z/D/G/P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</a:tr>
              <a:tr h="275134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1200" smtClean="0">
                          <a:effectLst/>
                        </a:rPr>
                        <a:t>10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密级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内部</a:t>
                      </a:r>
                      <a:r>
                        <a:rPr lang="en-US" sz="1200">
                          <a:effectLst/>
                        </a:rPr>
                        <a:t>/</a:t>
                      </a:r>
                      <a:r>
                        <a:rPr lang="zh-CN" sz="1200">
                          <a:effectLst/>
                        </a:rPr>
                        <a:t>秘密★</a:t>
                      </a:r>
                      <a:r>
                        <a:rPr lang="en-US" sz="1200">
                          <a:effectLst/>
                        </a:rPr>
                        <a:t>10</a:t>
                      </a:r>
                      <a:r>
                        <a:rPr lang="zh-CN" sz="1200">
                          <a:effectLst/>
                        </a:rPr>
                        <a:t>年</a:t>
                      </a:r>
                      <a:r>
                        <a:rPr lang="en-US" sz="1200">
                          <a:effectLst/>
                        </a:rPr>
                        <a:t>/</a:t>
                      </a:r>
                      <a:r>
                        <a:rPr lang="zh-CN" sz="1200">
                          <a:effectLst/>
                        </a:rPr>
                        <a:t>机密★</a:t>
                      </a:r>
                      <a:r>
                        <a:rPr lang="en-US" sz="1200">
                          <a:effectLst/>
                        </a:rPr>
                        <a:t>20</a:t>
                      </a:r>
                      <a:r>
                        <a:rPr lang="zh-CN" sz="1200">
                          <a:effectLst/>
                        </a:rPr>
                        <a:t>年</a:t>
                      </a:r>
                      <a:r>
                        <a:rPr lang="en-US" sz="1200">
                          <a:effectLst/>
                        </a:rPr>
                        <a:t>/</a:t>
                      </a:r>
                      <a:r>
                        <a:rPr lang="zh-CN" sz="1200">
                          <a:effectLst/>
                        </a:rPr>
                        <a:t>无</a:t>
                      </a:r>
                      <a:endParaRPr lang="zh-CN" sz="1200">
                        <a:solidFill>
                          <a:srgbClr val="595959"/>
                        </a:solidFill>
                        <a:effectLst/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23763" marR="23763" marT="16026" marB="16026" anchor="ctr"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60115" y="2151682"/>
            <a:ext cx="331236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70C0"/>
                </a:solidFill>
              </a:rPr>
              <a:t>如果</a:t>
            </a:r>
            <a:r>
              <a:rPr lang="en-US" altLang="zh-CN" b="1" smtClean="0">
                <a:solidFill>
                  <a:srgbClr val="0070C0"/>
                </a:solidFill>
              </a:rPr>
              <a:t>CAPP</a:t>
            </a:r>
            <a:r>
              <a:rPr lang="zh-CN" altLang="zh-CN" b="1">
                <a:solidFill>
                  <a:srgbClr val="0070C0"/>
                </a:solidFill>
              </a:rPr>
              <a:t>中工艺文件的属性信息无法完全</a:t>
            </a:r>
            <a:r>
              <a:rPr lang="zh-CN" altLang="zh-CN" b="1" smtClean="0">
                <a:solidFill>
                  <a:srgbClr val="0070C0"/>
                </a:solidFill>
              </a:rPr>
              <a:t>提供</a:t>
            </a:r>
            <a:r>
              <a:rPr lang="en-US" altLang="zh-CN" b="1" smtClean="0">
                <a:solidFill>
                  <a:srgbClr val="0070C0"/>
                </a:solidFill>
              </a:rPr>
              <a:t>xml</a:t>
            </a:r>
            <a:r>
              <a:rPr lang="zh-CN" altLang="en-US" b="1" smtClean="0">
                <a:solidFill>
                  <a:srgbClr val="0070C0"/>
                </a:solidFill>
              </a:rPr>
              <a:t>文件所需的属性</a:t>
            </a:r>
            <a:r>
              <a:rPr lang="zh-CN" altLang="zh-CN" b="1" smtClean="0">
                <a:solidFill>
                  <a:srgbClr val="0070C0"/>
                </a:solidFill>
              </a:rPr>
              <a:t>，</a:t>
            </a:r>
            <a:r>
              <a:rPr lang="zh-CN" altLang="zh-CN" b="1">
                <a:solidFill>
                  <a:srgbClr val="0070C0"/>
                </a:solidFill>
              </a:rPr>
              <a:t>则</a:t>
            </a:r>
            <a:r>
              <a:rPr lang="zh-CN" altLang="zh-CN" b="1" smtClean="0">
                <a:solidFill>
                  <a:srgbClr val="0070C0"/>
                </a:solidFill>
              </a:rPr>
              <a:t>需要</a:t>
            </a:r>
            <a:r>
              <a:rPr lang="zh-CN" altLang="en-US" b="1" smtClean="0">
                <a:solidFill>
                  <a:srgbClr val="0070C0"/>
                </a:solidFill>
              </a:rPr>
              <a:t>逐一检入工艺文件，</a:t>
            </a:r>
            <a:r>
              <a:rPr lang="zh-CN" altLang="zh-CN" b="1" smtClean="0">
                <a:solidFill>
                  <a:srgbClr val="0070C0"/>
                </a:solidFill>
              </a:rPr>
              <a:t>在</a:t>
            </a:r>
            <a:r>
              <a:rPr lang="zh-CN" altLang="zh-CN" b="1">
                <a:solidFill>
                  <a:srgbClr val="0070C0"/>
                </a:solidFill>
              </a:rPr>
              <a:t>检入时提供界面，由工艺员手工选择或填写。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163" y="927547"/>
            <a:ext cx="3107905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mtClean="0"/>
              <a:t>CAPP</a:t>
            </a:r>
            <a:r>
              <a:rPr lang="zh-CN" altLang="en-US" smtClean="0"/>
              <a:t>生成</a:t>
            </a:r>
            <a:r>
              <a:rPr lang="en-US" altLang="zh-CN" smtClean="0"/>
              <a:t>XML</a:t>
            </a:r>
            <a:r>
              <a:rPr lang="zh-CN" altLang="en-US" smtClean="0"/>
              <a:t>文件需要包含的属性字段如下：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145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11. </a:t>
            </a:r>
            <a:r>
              <a:rPr lang="zh-CN" altLang="en-US"/>
              <a:t>系统集成：</a:t>
            </a:r>
            <a:r>
              <a:rPr lang="en-US" altLang="zh-CN">
                <a:solidFill>
                  <a:srgbClr val="FFFF00"/>
                </a:solidFill>
              </a:rPr>
              <a:t>CAPP</a:t>
            </a:r>
            <a:r>
              <a:rPr lang="zh-CN" altLang="en-US" smtClean="0">
                <a:solidFill>
                  <a:srgbClr val="FFFF00"/>
                </a:solidFill>
              </a:rPr>
              <a:t>系统集成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mtClean="0"/>
              <a:t>2</a:t>
            </a:r>
            <a:r>
              <a:rPr lang="zh-CN" altLang="en-US" smtClean="0"/>
              <a:t>、</a:t>
            </a:r>
            <a:r>
              <a:rPr lang="en-US" altLang="zh-CN" smtClean="0"/>
              <a:t>CAPP</a:t>
            </a:r>
            <a:r>
              <a:rPr lang="zh-CN" altLang="en-US" smtClean="0"/>
              <a:t>工艺文件检入</a:t>
            </a:r>
            <a:r>
              <a:rPr lang="en-US" altLang="zh-CN" smtClean="0"/>
              <a:t>Windchill</a:t>
            </a:r>
            <a:r>
              <a:rPr lang="zh-CN" altLang="en-US" smtClean="0"/>
              <a:t>过程：</a:t>
            </a:r>
            <a:endParaRPr lang="en-US" altLang="zh-CN" smtClean="0"/>
          </a:p>
          <a:p>
            <a:pPr marL="800100" lvl="1" indent="-342900">
              <a:buFont typeface="+mj-ea"/>
              <a:buAutoNum type="circleNumDbPlain" startAt="4"/>
            </a:pPr>
            <a:r>
              <a:rPr lang="en-US" altLang="zh-CN"/>
              <a:t>CAPP</a:t>
            </a:r>
            <a:r>
              <a:rPr lang="zh-CN" altLang="zh-CN"/>
              <a:t>调用</a:t>
            </a:r>
            <a:r>
              <a:rPr lang="en-US" altLang="zh-CN"/>
              <a:t>Windchill</a:t>
            </a:r>
            <a:r>
              <a:rPr lang="zh-CN" altLang="zh-CN"/>
              <a:t>提供的集成接口，读取该本地临时文件夹中的</a:t>
            </a:r>
            <a:r>
              <a:rPr lang="en-US" altLang="zh-CN"/>
              <a:t>xml</a:t>
            </a:r>
            <a:r>
              <a:rPr lang="zh-CN" altLang="zh-CN"/>
              <a:t>信息进行</a:t>
            </a:r>
            <a:r>
              <a:rPr lang="zh-CN" altLang="zh-CN" smtClean="0"/>
              <a:t>解析</a:t>
            </a:r>
            <a:r>
              <a:rPr lang="zh-CN" altLang="en-US" smtClean="0"/>
              <a:t>。</a:t>
            </a:r>
            <a:r>
              <a:rPr lang="zh-CN" altLang="zh-CN" smtClean="0"/>
              <a:t>在</a:t>
            </a:r>
            <a:r>
              <a:rPr lang="en-US" altLang="zh-CN"/>
              <a:t>Windchill</a:t>
            </a:r>
            <a:r>
              <a:rPr lang="zh-CN" altLang="zh-CN"/>
              <a:t>中创建相应的工艺文件</a:t>
            </a:r>
            <a:r>
              <a:rPr lang="zh-CN" altLang="zh-CN" smtClean="0"/>
              <a:t>对象</a:t>
            </a:r>
            <a:r>
              <a:rPr lang="zh-CN" altLang="en-US" smtClean="0"/>
              <a:t>，</a:t>
            </a:r>
            <a:r>
              <a:rPr lang="zh-CN" altLang="zh-CN" smtClean="0"/>
              <a:t>并</a:t>
            </a:r>
            <a:r>
              <a:rPr lang="zh-CN" altLang="zh-CN"/>
              <a:t>上传工艺文件作为主内容，同时创建</a:t>
            </a:r>
            <a:r>
              <a:rPr lang="zh-CN" altLang="zh-CN" smtClean="0"/>
              <a:t>与</a:t>
            </a:r>
            <a:r>
              <a:rPr lang="en-US" altLang="zh-CN" smtClean="0"/>
              <a:t>PBOM</a:t>
            </a:r>
            <a:r>
              <a:rPr lang="zh-CN" altLang="zh-CN" smtClean="0"/>
              <a:t>零部件</a:t>
            </a:r>
            <a:r>
              <a:rPr lang="zh-CN" altLang="zh-CN"/>
              <a:t>对象之间的关联关系。</a:t>
            </a:r>
          </a:p>
          <a:p>
            <a:pPr marL="1200150" lvl="2" indent="-342900"/>
            <a:r>
              <a:rPr lang="zh-CN" altLang="zh-CN"/>
              <a:t>如果存在工艺更改单，则需要在</a:t>
            </a:r>
            <a:r>
              <a:rPr lang="en-US" altLang="zh-CN"/>
              <a:t>Windchill</a:t>
            </a:r>
            <a:r>
              <a:rPr lang="zh-CN" altLang="zh-CN"/>
              <a:t>中创建相应的工艺更改单对象，并建立与更改后工艺文件对象之间的关联关系。</a:t>
            </a:r>
            <a:endParaRPr lang="en-US" altLang="zh-CN"/>
          </a:p>
          <a:p>
            <a:pPr marL="1200150" lvl="2" indent="-342900"/>
            <a:r>
              <a:rPr lang="zh-CN" altLang="en-US" smtClean="0"/>
              <a:t>临时工艺不与零部件关联，存放在产品库的“临时工艺文件”文件夹中</a:t>
            </a:r>
            <a:endParaRPr lang="zh-CN" altLang="zh-CN" sz="1800" smtClean="0"/>
          </a:p>
          <a:p>
            <a:pPr marL="800100" lvl="1" indent="-342900">
              <a:buFont typeface="+mj-ea"/>
              <a:buAutoNum type="circleNumDbPlain" startAt="4"/>
            </a:pPr>
            <a:r>
              <a:rPr lang="zh-CN" altLang="zh-CN" smtClean="0"/>
              <a:t>工艺</a:t>
            </a:r>
            <a:r>
              <a:rPr lang="zh-CN" altLang="zh-CN"/>
              <a:t>员在</a:t>
            </a:r>
            <a:r>
              <a:rPr lang="en-US" altLang="zh-CN"/>
              <a:t>Windchill</a:t>
            </a:r>
            <a:r>
              <a:rPr lang="zh-CN" altLang="zh-CN"/>
              <a:t>中选择零部件启动“工艺文件打印流程”，系统自动收集零部件关联的工艺文件，该流程仅“工艺文件打印”环节，由档案部门资料员负责打印。</a:t>
            </a:r>
          </a:p>
          <a:p>
            <a:pPr marL="1200150" lvl="2" indent="-342900"/>
            <a:r>
              <a:rPr lang="zh-CN" altLang="zh-CN"/>
              <a:t>如果需要齐套打印：提供“成套件工艺文件批量打印”命令</a:t>
            </a:r>
            <a:r>
              <a:rPr lang="zh-CN" altLang="zh-CN" smtClean="0"/>
              <a:t>，</a:t>
            </a:r>
            <a:r>
              <a:rPr lang="zh-CN" altLang="en-US"/>
              <a:t>正</a:t>
            </a:r>
            <a:r>
              <a:rPr lang="zh-CN" altLang="en-US" smtClean="0"/>
              <a:t>副主任工艺师、总装工艺师可以</a:t>
            </a:r>
            <a:r>
              <a:rPr lang="zh-CN" altLang="zh-CN" smtClean="0"/>
              <a:t>启动</a:t>
            </a:r>
            <a:r>
              <a:rPr lang="zh-CN" altLang="zh-CN"/>
              <a:t>该流程，系统自动收集该成套件下级所有工艺文件启动打印流程。</a:t>
            </a:r>
          </a:p>
          <a:p>
            <a:pPr marL="1200150" lvl="2" indent="-342900"/>
            <a:r>
              <a:rPr lang="zh-CN" altLang="zh-CN"/>
              <a:t>如果是离散打印，可以选择由工艺员选择工艺文件启动该流程</a:t>
            </a:r>
            <a:r>
              <a:rPr lang="zh-CN" altLang="zh-CN" smtClean="0"/>
              <a:t>。</a:t>
            </a: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15709139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11. </a:t>
            </a:r>
            <a:r>
              <a:rPr lang="zh-CN" altLang="en-US"/>
              <a:t>系统集成：</a:t>
            </a:r>
            <a:r>
              <a:rPr lang="en-US" altLang="zh-CN">
                <a:solidFill>
                  <a:srgbClr val="FFFF00"/>
                </a:solidFill>
              </a:rPr>
              <a:t>CAPP</a:t>
            </a:r>
            <a:r>
              <a:rPr lang="zh-CN" altLang="en-US" smtClean="0">
                <a:solidFill>
                  <a:srgbClr val="FFFF00"/>
                </a:solidFill>
              </a:rPr>
              <a:t>系统集成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4" indent="0">
              <a:buNone/>
            </a:pPr>
            <a:r>
              <a:rPr lang="en-US" altLang="zh-CN" sz="2000" smtClean="0">
                <a:solidFill>
                  <a:schemeClr val="accent5">
                    <a:lumMod val="50000"/>
                  </a:schemeClr>
                </a:solidFill>
              </a:rPr>
              <a:t>3</a:t>
            </a:r>
            <a:r>
              <a:rPr lang="zh-CN" altLang="en-US" sz="2000" smtClean="0">
                <a:solidFill>
                  <a:schemeClr val="accent5">
                    <a:lumMod val="50000"/>
                  </a:schemeClr>
                </a:solidFill>
              </a:rPr>
              <a:t>、</a:t>
            </a:r>
            <a:r>
              <a:rPr lang="zh-CN" altLang="zh-CN" sz="2000" smtClean="0">
                <a:solidFill>
                  <a:schemeClr val="accent5">
                    <a:lumMod val="50000"/>
                  </a:schemeClr>
                </a:solidFill>
              </a:rPr>
              <a:t>临时</a:t>
            </a:r>
            <a:r>
              <a:rPr lang="zh-CN" altLang="zh-CN" sz="2000">
                <a:solidFill>
                  <a:schemeClr val="accent5">
                    <a:lumMod val="50000"/>
                  </a:schemeClr>
                </a:solidFill>
              </a:rPr>
              <a:t>工艺文件命名规则</a:t>
            </a:r>
            <a:endParaRPr lang="en-US" altLang="zh-CN" sz="200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zh-CN"/>
              <a:t>目前</a:t>
            </a:r>
            <a:r>
              <a:rPr lang="en-US" altLang="zh-CN"/>
              <a:t>CAPP</a:t>
            </a:r>
            <a:r>
              <a:rPr lang="zh-CN" altLang="zh-CN"/>
              <a:t>中同一零部件的临时工艺文件存在多份，使用“工艺文件名（</a:t>
            </a:r>
            <a:r>
              <a:rPr lang="en-US" altLang="zh-CN"/>
              <a:t>*1</a:t>
            </a:r>
            <a:r>
              <a:rPr lang="zh-CN" altLang="zh-CN"/>
              <a:t>）、工艺文件名（</a:t>
            </a:r>
            <a:r>
              <a:rPr lang="en-US" altLang="zh-CN"/>
              <a:t>*2</a:t>
            </a:r>
            <a:r>
              <a:rPr lang="zh-CN" altLang="zh-CN"/>
              <a:t>）”的命名规则</a:t>
            </a:r>
            <a:r>
              <a:rPr lang="zh-CN" altLang="zh-CN" smtClean="0"/>
              <a:t>区分</a:t>
            </a:r>
            <a:r>
              <a:rPr lang="zh-CN" altLang="en-US" smtClean="0"/>
              <a:t>。</a:t>
            </a:r>
            <a:endParaRPr lang="en-US" altLang="zh-CN"/>
          </a:p>
          <a:p>
            <a:pPr lvl="1"/>
            <a:r>
              <a:rPr lang="en-US" altLang="zh-CN" smtClean="0"/>
              <a:t>Windchill</a:t>
            </a:r>
            <a:r>
              <a:rPr lang="zh-CN" altLang="zh-CN"/>
              <a:t>系统检入工艺文件时要求和</a:t>
            </a:r>
            <a:r>
              <a:rPr lang="en-US" altLang="zh-CN"/>
              <a:t>Windows</a:t>
            </a:r>
            <a:r>
              <a:rPr lang="zh-CN" altLang="zh-CN"/>
              <a:t>系统一样，文件名不允许带有以下特殊字符</a:t>
            </a:r>
            <a:r>
              <a:rPr lang="zh-CN" altLang="zh-CN" smtClean="0"/>
              <a:t>：</a:t>
            </a:r>
            <a:endParaRPr lang="en-US" altLang="zh-CN" smtClean="0"/>
          </a:p>
          <a:p>
            <a:pPr lvl="1"/>
            <a:endParaRPr lang="zh-CN" altLang="zh-CN"/>
          </a:p>
          <a:p>
            <a:pPr lvl="1"/>
            <a:r>
              <a:rPr lang="zh-CN" altLang="zh-CN"/>
              <a:t>因此建议使用“</a:t>
            </a:r>
            <a:r>
              <a:rPr lang="en-US" altLang="zh-CN">
                <a:solidFill>
                  <a:srgbClr val="00B050"/>
                </a:solidFill>
              </a:rPr>
              <a:t>#</a:t>
            </a:r>
            <a:r>
              <a:rPr lang="zh-CN" altLang="zh-CN"/>
              <a:t>”作为针对同一零部件存在多个临时工艺文件的区别标识</a:t>
            </a:r>
            <a:r>
              <a:rPr lang="zh-CN" altLang="zh-CN" smtClean="0"/>
              <a:t>。</a:t>
            </a:r>
            <a:endParaRPr lang="zh-CN" altLang="zh-CN"/>
          </a:p>
          <a:p>
            <a:pPr lvl="1"/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376339" y="3315047"/>
            <a:ext cx="2016224" cy="553592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18789685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11. </a:t>
            </a:r>
            <a:r>
              <a:rPr lang="zh-CN" altLang="en-US"/>
              <a:t>系统集成</a:t>
            </a:r>
            <a:r>
              <a:rPr lang="zh-CN" altLang="en-US" smtClean="0"/>
              <a:t>：</a:t>
            </a:r>
            <a:r>
              <a:rPr lang="en-US" altLang="zh-CN" smtClean="0">
                <a:solidFill>
                  <a:srgbClr val="FFFF00"/>
                </a:solidFill>
              </a:rPr>
              <a:t>ERP</a:t>
            </a:r>
            <a:r>
              <a:rPr lang="zh-CN" altLang="en-US" smtClean="0">
                <a:solidFill>
                  <a:srgbClr val="FFFF00"/>
                </a:solidFill>
              </a:rPr>
              <a:t>数据传递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4" indent="0">
              <a:buNone/>
            </a:pPr>
            <a:r>
              <a:rPr lang="en-US" altLang="zh-CN" sz="2000" smtClean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zh-CN" altLang="en-US" sz="2000" smtClean="0">
                <a:solidFill>
                  <a:schemeClr val="accent5">
                    <a:lumMod val="50000"/>
                  </a:schemeClr>
                </a:solidFill>
              </a:rPr>
              <a:t>、</a:t>
            </a:r>
            <a:r>
              <a:rPr lang="en-US" altLang="zh-CN" sz="2000" smtClean="0">
                <a:solidFill>
                  <a:schemeClr val="accent5">
                    <a:lumMod val="50000"/>
                  </a:schemeClr>
                </a:solidFill>
              </a:rPr>
              <a:t>ERP</a:t>
            </a:r>
            <a:r>
              <a:rPr lang="zh-CN" altLang="en-US" sz="2000" smtClean="0">
                <a:solidFill>
                  <a:schemeClr val="accent5">
                    <a:lumMod val="50000"/>
                  </a:schemeClr>
                </a:solidFill>
              </a:rPr>
              <a:t>数据传递现状：</a:t>
            </a:r>
            <a:endParaRPr lang="en-US" altLang="zh-CN" sz="2000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n-US" altLang="zh-CN" smtClean="0"/>
              <a:t>目前信息化相关人员根据工艺部门提供的数据表</a:t>
            </a:r>
            <a:r>
              <a:rPr lang="en-US" altLang="zh-CN"/>
              <a:t>，实现ERP数据导入，</a:t>
            </a:r>
            <a:r>
              <a:rPr lang="en-US" altLang="zh-CN" smtClean="0"/>
              <a:t>主要有以下三张表</a:t>
            </a:r>
            <a:r>
              <a:rPr lang="zh-CN" altLang="en-US" smtClean="0"/>
              <a:t>：</a:t>
            </a:r>
            <a:endParaRPr lang="en-US" altLang="zh-CN" smtClean="0"/>
          </a:p>
          <a:p>
            <a:pPr lvl="1"/>
            <a:endParaRPr lang="en-US" altLang="zh-CN"/>
          </a:p>
          <a:p>
            <a:pPr lvl="1"/>
            <a:endParaRPr lang="en-US" altLang="zh-CN" smtClean="0"/>
          </a:p>
          <a:p>
            <a:pPr lvl="1"/>
            <a:endParaRPr lang="en-US" altLang="zh-CN"/>
          </a:p>
          <a:p>
            <a:pPr lvl="1"/>
            <a:endParaRPr lang="en-US" altLang="zh-CN" smtClean="0"/>
          </a:p>
          <a:p>
            <a:pPr lvl="1"/>
            <a:endParaRPr lang="en-US" altLang="zh-CN"/>
          </a:p>
          <a:p>
            <a:pPr lvl="1"/>
            <a:r>
              <a:rPr lang="zh-CN" altLang="zh-CN"/>
              <a:t>用户录入《生产</a:t>
            </a:r>
            <a:r>
              <a:rPr lang="en-US" altLang="zh-CN"/>
              <a:t>BOM</a:t>
            </a:r>
            <a:r>
              <a:rPr lang="zh-CN" altLang="zh-CN"/>
              <a:t>》数据的时候需要参考</a:t>
            </a:r>
            <a:r>
              <a:rPr lang="en-US" altLang="zh-CN"/>
              <a:t>CAPP</a:t>
            </a:r>
            <a:r>
              <a:rPr lang="zh-CN" altLang="zh-CN"/>
              <a:t>中的配套明细表、外协件明细表和工艺过程卡。</a:t>
            </a:r>
            <a:r>
              <a:rPr lang="en-US" altLang="zh-CN"/>
              <a:t>CAPP</a:t>
            </a:r>
            <a:r>
              <a:rPr lang="zh-CN" altLang="zh-CN"/>
              <a:t>中配套明细表中信息不全，用户填写不规范，导致生产</a:t>
            </a:r>
            <a:r>
              <a:rPr lang="en-US" altLang="zh-CN"/>
              <a:t>BOM</a:t>
            </a:r>
            <a:r>
              <a:rPr lang="zh-CN" altLang="zh-CN"/>
              <a:t>表进行数据录入的时候需要人工判断的信息比较多。</a:t>
            </a:r>
          </a:p>
          <a:p>
            <a:pPr lvl="1"/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1440235" y="3159795"/>
            <a:ext cx="5675630" cy="149796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矩形 5"/>
          <p:cNvSpPr/>
          <p:nvPr/>
        </p:nvSpPr>
        <p:spPr>
          <a:xfrm>
            <a:off x="1440235" y="2583731"/>
            <a:ext cx="1872208" cy="43204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 b="1" smtClean="0"/>
              <a:t>生产</a:t>
            </a:r>
            <a:r>
              <a:rPr lang="en-US" altLang="zh-CN" sz="1600" b="1" smtClean="0"/>
              <a:t>BOM</a:t>
            </a:r>
            <a:endParaRPr lang="zh-CN" altLang="en-US" sz="1600" b="1"/>
          </a:p>
        </p:txBody>
      </p:sp>
    </p:spTree>
    <p:extLst>
      <p:ext uri="{BB962C8B-B14F-4D97-AF65-F5344CB8AC3E}">
        <p14:creationId xmlns:p14="http://schemas.microsoft.com/office/powerpoint/2010/main" val="212565527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11. </a:t>
            </a:r>
            <a:r>
              <a:rPr lang="zh-CN" altLang="en-US"/>
              <a:t>系统集成</a:t>
            </a:r>
            <a:r>
              <a:rPr lang="zh-CN" altLang="en-US" smtClean="0"/>
              <a:t>：</a:t>
            </a:r>
            <a:r>
              <a:rPr lang="en-US" altLang="zh-CN" smtClean="0">
                <a:solidFill>
                  <a:srgbClr val="FFFF00"/>
                </a:solidFill>
              </a:rPr>
              <a:t>ERP</a:t>
            </a:r>
            <a:r>
              <a:rPr lang="zh-CN" altLang="en-US" smtClean="0">
                <a:solidFill>
                  <a:srgbClr val="FFFF00"/>
                </a:solidFill>
              </a:rPr>
              <a:t>数据传递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4" indent="0">
              <a:buNone/>
            </a:pPr>
            <a:r>
              <a:rPr lang="en-US" altLang="zh-CN" sz="2000" smtClean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zh-CN" altLang="en-US" sz="2000" smtClean="0">
                <a:solidFill>
                  <a:schemeClr val="accent5">
                    <a:lumMod val="50000"/>
                  </a:schemeClr>
                </a:solidFill>
              </a:rPr>
              <a:t>、</a:t>
            </a:r>
            <a:r>
              <a:rPr lang="en-US" altLang="zh-CN" sz="2000" smtClean="0">
                <a:solidFill>
                  <a:schemeClr val="accent5">
                    <a:lumMod val="50000"/>
                  </a:schemeClr>
                </a:solidFill>
              </a:rPr>
              <a:t>ERP</a:t>
            </a:r>
            <a:r>
              <a:rPr lang="zh-CN" altLang="en-US" sz="2000" smtClean="0">
                <a:solidFill>
                  <a:schemeClr val="accent5">
                    <a:lumMod val="50000"/>
                  </a:schemeClr>
                </a:solidFill>
              </a:rPr>
              <a:t>数据传递现状：</a:t>
            </a:r>
            <a:endParaRPr lang="en-US" altLang="zh-CN" sz="2000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en-US" altLang="zh-CN"/>
          </a:p>
          <a:p>
            <a:pPr lvl="1"/>
            <a:endParaRPr lang="en-US" altLang="zh-CN" smtClean="0"/>
          </a:p>
          <a:p>
            <a:pPr lvl="1"/>
            <a:endParaRPr lang="en-US" altLang="zh-CN"/>
          </a:p>
          <a:p>
            <a:pPr lvl="1"/>
            <a:endParaRPr lang="en-US" altLang="zh-CN" smtClean="0"/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96219" y="1894885"/>
            <a:ext cx="1872208" cy="43204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 b="1" smtClean="0"/>
              <a:t>存货管理</a:t>
            </a:r>
            <a:endParaRPr lang="zh-CN" altLang="en-US" sz="1600" b="1"/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1296219" y="2542957"/>
            <a:ext cx="7776864" cy="1368152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8" name="矩形 7"/>
          <p:cNvSpPr/>
          <p:nvPr/>
        </p:nvSpPr>
        <p:spPr>
          <a:xfrm>
            <a:off x="1296219" y="4167907"/>
            <a:ext cx="1872208" cy="43204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 b="1" smtClean="0"/>
              <a:t>工艺路线</a:t>
            </a:r>
            <a:endParaRPr lang="zh-CN" altLang="en-US" sz="1600" b="1"/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1282975" y="4743971"/>
            <a:ext cx="5210175" cy="1849755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912843" y="5032003"/>
            <a:ext cx="30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目前ERP中没有管理工艺路线</a:t>
            </a:r>
            <a:r>
              <a:rPr lang="en-US" altLang="zh-CN" smtClean="0"/>
              <a:t>，</a:t>
            </a:r>
            <a:r>
              <a:rPr lang="zh-CN" altLang="en-US" smtClean="0"/>
              <a:t>工艺路线</a:t>
            </a:r>
            <a:r>
              <a:rPr lang="en-US" altLang="zh-CN" smtClean="0"/>
              <a:t>表暂未使用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58878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11. </a:t>
            </a:r>
            <a:r>
              <a:rPr lang="zh-CN" altLang="en-US"/>
              <a:t>系统集成</a:t>
            </a:r>
            <a:r>
              <a:rPr lang="zh-CN" altLang="en-US" smtClean="0"/>
              <a:t>：</a:t>
            </a:r>
            <a:r>
              <a:rPr lang="en-US" altLang="zh-CN" smtClean="0">
                <a:solidFill>
                  <a:srgbClr val="FFFF00"/>
                </a:solidFill>
              </a:rPr>
              <a:t>ERP</a:t>
            </a:r>
            <a:r>
              <a:rPr lang="zh-CN" altLang="en-US" smtClean="0">
                <a:solidFill>
                  <a:srgbClr val="FFFF00"/>
                </a:solidFill>
              </a:rPr>
              <a:t>数据传递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4" indent="0">
              <a:buNone/>
            </a:pPr>
            <a:r>
              <a:rPr lang="en-US" altLang="zh-CN" sz="2000" smtClean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zh-CN" altLang="en-US" sz="2000" smtClean="0">
                <a:solidFill>
                  <a:schemeClr val="accent5">
                    <a:lumMod val="50000"/>
                  </a:schemeClr>
                </a:solidFill>
              </a:rPr>
              <a:t>、</a:t>
            </a:r>
            <a:r>
              <a:rPr lang="en-US" altLang="zh-CN" sz="2000" smtClean="0">
                <a:solidFill>
                  <a:schemeClr val="accent5">
                    <a:lumMod val="50000"/>
                  </a:schemeClr>
                </a:solidFill>
              </a:rPr>
              <a:t>ERP</a:t>
            </a:r>
            <a:r>
              <a:rPr lang="zh-CN" altLang="en-US" sz="2000" smtClean="0">
                <a:solidFill>
                  <a:schemeClr val="accent5">
                    <a:lumMod val="50000"/>
                  </a:schemeClr>
                </a:solidFill>
              </a:rPr>
              <a:t>数据表管理技术路线：</a:t>
            </a:r>
            <a:endParaRPr lang="en-US" altLang="zh-CN" sz="2000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zh-CN" smtClean="0"/>
              <a:t>在</a:t>
            </a:r>
            <a:r>
              <a:rPr lang="en-US" altLang="zh-CN"/>
              <a:t>Windchill</a:t>
            </a:r>
            <a:r>
              <a:rPr lang="zh-CN" altLang="zh-CN"/>
              <a:t>平台中实现《生产</a:t>
            </a:r>
            <a:r>
              <a:rPr lang="en-US" altLang="zh-CN"/>
              <a:t>BOM</a:t>
            </a:r>
            <a:r>
              <a:rPr lang="zh-CN" altLang="zh-CN"/>
              <a:t>》、《存货管理》、《工艺路线》三张数据表的统一管理，作为与</a:t>
            </a:r>
            <a:r>
              <a:rPr lang="en-US" altLang="zh-CN"/>
              <a:t>ERP</a:t>
            </a:r>
            <a:r>
              <a:rPr lang="zh-CN" altLang="zh-CN"/>
              <a:t>数据集成的统一出口。未来上述三张表统一</a:t>
            </a:r>
            <a:r>
              <a:rPr lang="zh-CN" altLang="zh-CN" smtClean="0"/>
              <a:t>由</a:t>
            </a:r>
            <a:r>
              <a:rPr lang="zh-CN" altLang="en-US"/>
              <a:t>专人</a:t>
            </a:r>
            <a:r>
              <a:rPr lang="zh-CN" altLang="zh-CN" smtClean="0"/>
              <a:t>生成</a:t>
            </a:r>
            <a:r>
              <a:rPr lang="zh-CN" altLang="zh-CN"/>
              <a:t>，方式分别如下：</a:t>
            </a:r>
          </a:p>
          <a:p>
            <a:pPr lvl="2"/>
            <a:r>
              <a:rPr lang="zh-CN" altLang="zh-CN">
                <a:solidFill>
                  <a:srgbClr val="00B050"/>
                </a:solidFill>
              </a:rPr>
              <a:t>生产</a:t>
            </a:r>
            <a:r>
              <a:rPr lang="en-US" altLang="zh-CN">
                <a:solidFill>
                  <a:srgbClr val="00B050"/>
                </a:solidFill>
              </a:rPr>
              <a:t>BOM</a:t>
            </a:r>
            <a:r>
              <a:rPr lang="zh-CN" altLang="zh-CN">
                <a:solidFill>
                  <a:srgbClr val="00B050"/>
                </a:solidFill>
              </a:rPr>
              <a:t>表</a:t>
            </a:r>
            <a:r>
              <a:rPr lang="zh-CN" altLang="zh-CN"/>
              <a:t>：</a:t>
            </a:r>
            <a:r>
              <a:rPr lang="en-US" altLang="zh-CN"/>
              <a:t>CAPP</a:t>
            </a:r>
            <a:r>
              <a:rPr lang="zh-CN" altLang="zh-CN"/>
              <a:t>中规范工艺文件信息录入，自动生成</a:t>
            </a:r>
            <a:r>
              <a:rPr lang="en-US" altLang="zh-CN"/>
              <a:t>EXCEL</a:t>
            </a:r>
            <a:r>
              <a:rPr lang="zh-CN" altLang="zh-CN"/>
              <a:t>文件，通过集成检入</a:t>
            </a:r>
            <a:r>
              <a:rPr lang="en-US" altLang="zh-CN"/>
              <a:t>Windchill</a:t>
            </a:r>
            <a:r>
              <a:rPr lang="zh-CN" altLang="zh-CN"/>
              <a:t>，并与</a:t>
            </a:r>
            <a:r>
              <a:rPr lang="en-US" altLang="zh-CN"/>
              <a:t>PBOM</a:t>
            </a:r>
            <a:r>
              <a:rPr lang="zh-CN" altLang="zh-CN"/>
              <a:t>成套件顶层节点</a:t>
            </a:r>
            <a:r>
              <a:rPr lang="zh-CN" altLang="zh-CN" smtClean="0"/>
              <a:t>关联</a:t>
            </a:r>
            <a:r>
              <a:rPr lang="zh-CN" altLang="en-US" smtClean="0"/>
              <a:t>。</a:t>
            </a:r>
            <a:r>
              <a:rPr lang="zh-CN" altLang="zh-CN" smtClean="0"/>
              <a:t>试点</a:t>
            </a:r>
            <a:r>
              <a:rPr lang="zh-CN" altLang="zh-CN"/>
              <a:t>型号产品的生产</a:t>
            </a:r>
            <a:r>
              <a:rPr lang="en-US" altLang="zh-CN"/>
              <a:t>BOM</a:t>
            </a:r>
            <a:r>
              <a:rPr lang="zh-CN" altLang="zh-CN"/>
              <a:t>表通过三维工艺</a:t>
            </a:r>
            <a:r>
              <a:rPr lang="zh-CN" altLang="zh-CN" smtClean="0"/>
              <a:t>文件</a:t>
            </a:r>
            <a:r>
              <a:rPr lang="zh-CN" altLang="en-US" smtClean="0"/>
              <a:t>的属性</a:t>
            </a:r>
            <a:r>
              <a:rPr lang="zh-CN" altLang="zh-CN" smtClean="0"/>
              <a:t>自动生成</a:t>
            </a:r>
            <a:r>
              <a:rPr lang="zh-CN" altLang="en-US" smtClean="0"/>
              <a:t>。</a:t>
            </a:r>
            <a:endParaRPr lang="zh-CN" altLang="zh-CN"/>
          </a:p>
          <a:p>
            <a:pPr lvl="2"/>
            <a:r>
              <a:rPr lang="zh-CN" altLang="zh-CN">
                <a:solidFill>
                  <a:srgbClr val="00B050"/>
                </a:solidFill>
              </a:rPr>
              <a:t>存货管理表</a:t>
            </a:r>
            <a:r>
              <a:rPr lang="zh-CN" altLang="zh-CN"/>
              <a:t>：在</a:t>
            </a:r>
            <a:r>
              <a:rPr lang="en-US" altLang="zh-CN"/>
              <a:t>PBOM</a:t>
            </a:r>
            <a:r>
              <a:rPr lang="zh-CN" altLang="zh-CN"/>
              <a:t>成套件中提供“生成存货管理表”操作入口，由</a:t>
            </a:r>
            <a:r>
              <a:rPr lang="en-US" altLang="zh-CN"/>
              <a:t>Windchill</a:t>
            </a:r>
            <a:r>
              <a:rPr lang="zh-CN" altLang="zh-CN"/>
              <a:t>生成相应的</a:t>
            </a:r>
            <a:r>
              <a:rPr lang="en-US" altLang="zh-CN"/>
              <a:t>EXCEL</a:t>
            </a:r>
            <a:r>
              <a:rPr lang="zh-CN" altLang="zh-CN"/>
              <a:t>文件；</a:t>
            </a:r>
          </a:p>
          <a:p>
            <a:pPr lvl="2"/>
            <a:r>
              <a:rPr lang="zh-CN" altLang="zh-CN">
                <a:solidFill>
                  <a:srgbClr val="00B050"/>
                </a:solidFill>
              </a:rPr>
              <a:t>工艺路线表</a:t>
            </a:r>
            <a:r>
              <a:rPr lang="zh-CN" altLang="zh-CN"/>
              <a:t>：暂不处理，但未来可根据需要在</a:t>
            </a:r>
            <a:r>
              <a:rPr lang="en-US" altLang="zh-CN"/>
              <a:t>Windchill</a:t>
            </a:r>
            <a:r>
              <a:rPr lang="zh-CN" altLang="zh-CN"/>
              <a:t>中根据工艺路线生成</a:t>
            </a:r>
            <a:r>
              <a:rPr lang="zh-CN" altLang="zh-CN" smtClean="0"/>
              <a:t>。</a:t>
            </a:r>
            <a:endParaRPr lang="en-US" altLang="zh-CN" smtClean="0"/>
          </a:p>
          <a:p>
            <a:pPr lvl="1"/>
            <a:r>
              <a:rPr lang="zh-CN" altLang="zh-CN"/>
              <a:t>上述数据表生成后，</a:t>
            </a:r>
            <a:r>
              <a:rPr lang="zh-CN" altLang="zh-CN" smtClean="0"/>
              <a:t>由</a:t>
            </a:r>
            <a:r>
              <a:rPr lang="zh-CN" altLang="en-US" smtClean="0"/>
              <a:t>专人</a:t>
            </a:r>
            <a:r>
              <a:rPr lang="zh-CN" altLang="zh-CN" smtClean="0"/>
              <a:t>执行</a:t>
            </a:r>
            <a:r>
              <a:rPr lang="en-US" altLang="zh-CN"/>
              <a:t>ERP</a:t>
            </a:r>
            <a:r>
              <a:rPr lang="zh-CN" altLang="zh-CN"/>
              <a:t>导入。</a:t>
            </a:r>
          </a:p>
          <a:p>
            <a:pPr lvl="2"/>
            <a:endParaRPr lang="zh-CN" altLang="zh-CN"/>
          </a:p>
          <a:p>
            <a:pPr lvl="1"/>
            <a:endParaRPr lang="en-US" altLang="zh-CN" smtClean="0"/>
          </a:p>
          <a:p>
            <a:pPr lvl="1"/>
            <a:endParaRPr lang="en-US" altLang="zh-CN"/>
          </a:p>
          <a:p>
            <a:pPr lvl="1"/>
            <a:endParaRPr lang="en-US" altLang="zh-CN" smtClean="0"/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12413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未来实践设计</a:t>
            </a:r>
            <a:r>
              <a:rPr lang="zh-CN" altLang="en-US" smtClean="0">
                <a:solidFill>
                  <a:srgbClr val="FFFF00"/>
                </a:solidFill>
              </a:rPr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5904656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>
              <a:lnSpc>
                <a:spcPct val="150000"/>
              </a:lnSpc>
            </a:pPr>
            <a:r>
              <a:rPr lang="en-US" altLang="zh-CN" sz="2800" b="1" smtClean="0">
                <a:solidFill>
                  <a:schemeClr val="bg1"/>
                </a:solidFill>
              </a:rPr>
              <a:t>12.  </a:t>
            </a:r>
            <a:r>
              <a:rPr lang="zh-CN" altLang="en-US" sz="2800" b="1" smtClean="0">
                <a:solidFill>
                  <a:schemeClr val="bg1"/>
                </a:solidFill>
              </a:rPr>
              <a:t>搜索管理</a:t>
            </a:r>
            <a:endParaRPr lang="en-US" altLang="zh-CN" sz="2800" b="1" smtClean="0">
              <a:solidFill>
                <a:schemeClr val="bg1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通用搜索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高级搜索</a:t>
            </a:r>
            <a:endParaRPr lang="en-US" altLang="zh-CN" b="1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46722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12. </a:t>
            </a:r>
            <a:r>
              <a:rPr lang="zh-CN" altLang="en-US" smtClean="0"/>
              <a:t>搜索管理：</a:t>
            </a:r>
            <a:r>
              <a:rPr lang="zh-CN" altLang="en-US" smtClean="0">
                <a:solidFill>
                  <a:srgbClr val="FFFF00"/>
                </a:solidFill>
              </a:rPr>
              <a:t>通用搜索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/>
              <a:t>通用</a:t>
            </a:r>
            <a:r>
              <a:rPr lang="zh-CN" altLang="en-US" smtClean="0"/>
              <a:t>搜索</a:t>
            </a:r>
            <a:endParaRPr lang="en-US" altLang="zh-CN" smtClean="0"/>
          </a:p>
          <a:p>
            <a:pPr lvl="1"/>
            <a:r>
              <a:rPr lang="en-US" altLang="zh-CN"/>
              <a:t>在</a:t>
            </a:r>
            <a:r>
              <a:rPr lang="en-US" altLang="zh-CN" smtClean="0"/>
              <a:t>WC10</a:t>
            </a:r>
            <a:r>
              <a:rPr lang="zh-CN" altLang="en-US" smtClean="0"/>
              <a:t>主页</a:t>
            </a:r>
            <a:r>
              <a:rPr lang="en-US" altLang="zh-CN" smtClean="0"/>
              <a:t>标题区的搜索界面中输入关键字</a:t>
            </a:r>
            <a:r>
              <a:rPr lang="en-US" altLang="zh-CN"/>
              <a:t>，直接选择对象类型，</a:t>
            </a:r>
            <a:r>
              <a:rPr lang="en-US" altLang="zh-CN" smtClean="0"/>
              <a:t>然后进行搜索: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099" y="2799755"/>
            <a:ext cx="5274310" cy="248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16699" y="2363411"/>
            <a:ext cx="4464496" cy="438822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984851" y="2881056"/>
            <a:ext cx="226215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mtClean="0"/>
              <a:t>导航区显示搜索结果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9221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12. </a:t>
            </a:r>
            <a:r>
              <a:rPr lang="zh-CN" altLang="en-US" smtClean="0"/>
              <a:t>搜索管理：</a:t>
            </a:r>
            <a:r>
              <a:rPr lang="zh-CN" altLang="en-US">
                <a:solidFill>
                  <a:srgbClr val="FFFF00"/>
                </a:solidFill>
              </a:rPr>
              <a:t>高级</a:t>
            </a:r>
            <a:r>
              <a:rPr lang="zh-CN" altLang="en-US" smtClean="0">
                <a:solidFill>
                  <a:srgbClr val="FFFF00"/>
                </a:solidFill>
              </a:rPr>
              <a:t>搜索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/>
              <a:t>高级</a:t>
            </a:r>
            <a:r>
              <a:rPr lang="zh-CN" altLang="en-US" smtClean="0"/>
              <a:t>搜索</a:t>
            </a:r>
            <a:endParaRPr lang="en-US" altLang="zh-CN" smtClean="0"/>
          </a:p>
          <a:p>
            <a:pPr lvl="1"/>
            <a:r>
              <a:rPr lang="zh-CN" altLang="zh-CN" smtClean="0"/>
              <a:t>在</a:t>
            </a:r>
            <a:r>
              <a:rPr lang="en-US" altLang="zh-CN" smtClean="0"/>
              <a:t> </a:t>
            </a:r>
            <a:r>
              <a:rPr lang="zh-CN" altLang="zh-CN" smtClean="0"/>
              <a:t>导航</a:t>
            </a:r>
            <a:r>
              <a:rPr lang="zh-CN" altLang="en-US" smtClean="0"/>
              <a:t>器“</a:t>
            </a:r>
            <a:r>
              <a:rPr lang="zh-CN" altLang="zh-CN" smtClean="0">
                <a:solidFill>
                  <a:srgbClr val="00B050"/>
                </a:solidFill>
              </a:rPr>
              <a:t>搜索</a:t>
            </a:r>
            <a:r>
              <a:rPr lang="zh-CN" altLang="en-US" smtClean="0"/>
              <a:t>”</a:t>
            </a:r>
            <a:r>
              <a:rPr lang="en-US" altLang="zh-CN" smtClean="0"/>
              <a:t>Tab</a:t>
            </a:r>
            <a:r>
              <a:rPr lang="zh-CN" altLang="zh-CN"/>
              <a:t>页或标题的搜索下拉菜单中进入高级搜索界面</a:t>
            </a:r>
            <a:r>
              <a:rPr lang="en-US" altLang="zh-CN" smtClean="0"/>
              <a:t>:</a:t>
            </a:r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107" y="2259658"/>
            <a:ext cx="6192688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696819" y="2259658"/>
            <a:ext cx="3999813" cy="286232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mtClean="0"/>
              <a:t>高级搜索支持以下功能：</a:t>
            </a:r>
            <a:endParaRPr lang="en-US" altLang="zh-CN" smtClean="0"/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mtClean="0"/>
              <a:t>搜索条件设置</a:t>
            </a:r>
            <a:endParaRPr lang="en-US" altLang="zh-CN" smtClean="0"/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mtClean="0"/>
              <a:t>设置搜索关键字</a:t>
            </a:r>
            <a:endParaRPr lang="en-US" altLang="zh-CN" smtClean="0"/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mtClean="0"/>
              <a:t>选择对象类型</a:t>
            </a:r>
            <a:endParaRPr lang="en-US" altLang="zh-CN" smtClean="0"/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mtClean="0"/>
              <a:t>选择上下文（产品库</a:t>
            </a:r>
            <a:r>
              <a:rPr lang="en-US" altLang="zh-CN" smtClean="0"/>
              <a:t>/</a:t>
            </a:r>
            <a:r>
              <a:rPr lang="zh-CN" altLang="en-US" smtClean="0"/>
              <a:t>存储库）</a:t>
            </a:r>
            <a:endParaRPr lang="en-US" altLang="zh-CN" smtClean="0"/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mtClean="0"/>
              <a:t>设置条件（属性）</a:t>
            </a:r>
            <a:endParaRPr lang="en-US" altLang="zh-CN" smtClean="0"/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mtClean="0"/>
              <a:t>设置属性关键字条件</a:t>
            </a:r>
            <a:endParaRPr lang="en-US" altLang="zh-CN" smtClean="0"/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mtClean="0"/>
              <a:t>设置搜索时间范围</a:t>
            </a:r>
            <a:endParaRPr lang="en-US" altLang="zh-CN" smtClean="0"/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mtClean="0"/>
              <a:t>保存搜索条件</a:t>
            </a:r>
            <a:endParaRPr lang="en-US" altLang="zh-CN" smtClean="0"/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mtClean="0"/>
              <a:t>记录搜索历史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2119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未来实践设计</a:t>
            </a:r>
            <a:r>
              <a:rPr lang="zh-CN" altLang="en-US" smtClean="0">
                <a:solidFill>
                  <a:srgbClr val="FFFF00"/>
                </a:solidFill>
              </a:rPr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5904656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b="1" smtClean="0">
                <a:solidFill>
                  <a:schemeClr val="bg1"/>
                </a:solidFill>
              </a:rPr>
              <a:t>13.  </a:t>
            </a:r>
            <a:r>
              <a:rPr lang="zh-CN" altLang="en-US" sz="2800" b="1" smtClean="0">
                <a:solidFill>
                  <a:schemeClr val="bg1"/>
                </a:solidFill>
              </a:rPr>
              <a:t>历史数据整理与导入</a:t>
            </a:r>
            <a:endParaRPr lang="en-US" altLang="zh-CN" b="1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34948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13. </a:t>
            </a:r>
            <a:r>
              <a:rPr lang="zh-CN" altLang="en-US" smtClean="0"/>
              <a:t>历史数据整理与导入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smtClean="0"/>
              <a:t>历史数据整理与导入主要针对自研产品，也可适用于工装设计数据。</a:t>
            </a:r>
            <a:endParaRPr lang="en-US" altLang="zh-CN" smtClean="0"/>
          </a:p>
          <a:p>
            <a:r>
              <a:rPr lang="en-US" altLang="zh-CN" smtClean="0"/>
              <a:t>针对不同类型的历史数据</a:t>
            </a:r>
            <a:r>
              <a:rPr lang="en-US" altLang="zh-CN"/>
              <a:t>，</a:t>
            </a:r>
            <a:r>
              <a:rPr lang="en-US" altLang="zh-CN" smtClean="0"/>
              <a:t>采取不同方式</a:t>
            </a:r>
            <a:r>
              <a:rPr lang="zh-CN" altLang="en-US" smtClean="0"/>
              <a:t>整理</a:t>
            </a:r>
            <a:r>
              <a:rPr lang="en-US" altLang="zh-CN" smtClean="0"/>
              <a:t>导入至</a:t>
            </a:r>
            <a:r>
              <a:rPr lang="en-US" altLang="zh-CN"/>
              <a:t>Windchill</a:t>
            </a:r>
            <a:r>
              <a:rPr lang="en-US" altLang="zh-CN" smtClean="0"/>
              <a:t>平台</a:t>
            </a:r>
            <a:r>
              <a:rPr lang="zh-CN" altLang="en-US" smtClean="0"/>
              <a:t>：</a:t>
            </a:r>
            <a:endParaRPr lang="en-US" altLang="zh-CN" smtClean="0"/>
          </a:p>
          <a:p>
            <a:pPr lvl="1"/>
            <a:r>
              <a:rPr lang="zh-CN" altLang="zh-CN"/>
              <a:t>三维</a:t>
            </a:r>
            <a:r>
              <a:rPr lang="zh-CN" altLang="zh-CN" smtClean="0"/>
              <a:t>设计数据</a:t>
            </a:r>
            <a:r>
              <a:rPr lang="zh-CN" altLang="zh-CN"/>
              <a:t>整理导</a:t>
            </a:r>
            <a:r>
              <a:rPr lang="zh-CN" altLang="zh-CN" smtClean="0"/>
              <a:t>入</a:t>
            </a:r>
            <a:endParaRPr lang="zh-CN" altLang="zh-CN"/>
          </a:p>
          <a:p>
            <a:pPr marL="1257300" lvl="2" indent="-342900">
              <a:buFont typeface="+mj-ea"/>
              <a:buAutoNum type="circleNumDbPlain"/>
            </a:pPr>
            <a:r>
              <a:rPr lang="zh-CN" altLang="zh-CN" smtClean="0"/>
              <a:t>使用</a:t>
            </a:r>
            <a:r>
              <a:rPr lang="en-US" altLang="zh-CN"/>
              <a:t>Pro/E</a:t>
            </a:r>
            <a:r>
              <a:rPr lang="zh-CN" altLang="zh-CN"/>
              <a:t>设计建模的历史数据，</a:t>
            </a:r>
            <a:r>
              <a:rPr lang="zh-CN" altLang="zh-CN" smtClean="0"/>
              <a:t>需要</a:t>
            </a:r>
            <a:r>
              <a:rPr lang="zh-CN" altLang="en-US"/>
              <a:t>检查</a:t>
            </a:r>
            <a:r>
              <a:rPr lang="zh-CN" altLang="zh-CN" smtClean="0"/>
              <a:t>三维</a:t>
            </a:r>
            <a:r>
              <a:rPr lang="zh-CN" altLang="zh-CN"/>
              <a:t>模型，确保三维模型与图纸一致。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zh-CN" altLang="zh-CN"/>
              <a:t>为了保证数据导入的规范性，需要先统一</a:t>
            </a:r>
            <a:r>
              <a:rPr lang="en-US" altLang="zh-CN"/>
              <a:t>Pro/E</a:t>
            </a:r>
            <a:r>
              <a:rPr lang="zh-CN" altLang="zh-CN"/>
              <a:t>的模板，</a:t>
            </a:r>
            <a:r>
              <a:rPr lang="zh-CN" altLang="zh-CN" smtClean="0"/>
              <a:t>统一</a:t>
            </a:r>
            <a:r>
              <a:rPr lang="zh-CN" altLang="en-US" smtClean="0"/>
              <a:t>完善</a:t>
            </a:r>
            <a:r>
              <a:rPr lang="zh-CN" altLang="zh-CN" smtClean="0"/>
              <a:t>填写</a:t>
            </a:r>
            <a:r>
              <a:rPr lang="zh-CN" altLang="zh-CN"/>
              <a:t>参数</a:t>
            </a:r>
            <a:r>
              <a:rPr lang="zh-CN" altLang="zh-CN" smtClean="0"/>
              <a:t>。</a:t>
            </a:r>
            <a:endParaRPr lang="en-US" altLang="zh-CN" smtClean="0"/>
          </a:p>
          <a:p>
            <a:pPr marL="1257300" lvl="2" indent="-342900">
              <a:buFont typeface="+mj-ea"/>
              <a:buAutoNum type="circleNumDbPlain"/>
            </a:pPr>
            <a:r>
              <a:rPr lang="zh-CN" altLang="zh-CN" smtClean="0"/>
              <a:t>通过</a:t>
            </a:r>
            <a:r>
              <a:rPr lang="en-US" altLang="zh-CN"/>
              <a:t>Pro/E</a:t>
            </a:r>
            <a:r>
              <a:rPr lang="zh-CN" altLang="zh-CN"/>
              <a:t>与</a:t>
            </a:r>
            <a:r>
              <a:rPr lang="en-US" altLang="zh-CN"/>
              <a:t>Windchill</a:t>
            </a:r>
            <a:r>
              <a:rPr lang="zh-CN" altLang="zh-CN"/>
              <a:t>集成接口</a:t>
            </a:r>
            <a:r>
              <a:rPr lang="zh-CN" altLang="zh-CN" smtClean="0"/>
              <a:t>，</a:t>
            </a:r>
            <a:r>
              <a:rPr lang="zh-CN" altLang="en-US" smtClean="0"/>
              <a:t>将模型检</a:t>
            </a:r>
            <a:r>
              <a:rPr lang="zh-CN" altLang="en-US"/>
              <a:t>入至</a:t>
            </a:r>
            <a:r>
              <a:rPr lang="zh-CN" altLang="zh-CN" smtClean="0"/>
              <a:t>到</a:t>
            </a:r>
            <a:r>
              <a:rPr lang="en-US" altLang="zh-CN"/>
              <a:t>Windchill</a:t>
            </a:r>
            <a:r>
              <a:rPr lang="zh-CN" altLang="zh-CN"/>
              <a:t>系统</a:t>
            </a:r>
            <a:r>
              <a:rPr lang="zh-CN" altLang="zh-CN" smtClean="0"/>
              <a:t>，</a:t>
            </a:r>
            <a:r>
              <a:rPr lang="zh-CN" altLang="en-US" smtClean="0"/>
              <a:t>自动生成产品结构</a:t>
            </a:r>
            <a:r>
              <a:rPr lang="zh-CN" altLang="zh-CN" smtClean="0"/>
              <a:t>并</a:t>
            </a:r>
            <a:r>
              <a:rPr lang="zh-CN" altLang="zh-CN"/>
              <a:t>与三维模型自动关联，生成可视化文件</a:t>
            </a:r>
            <a:r>
              <a:rPr lang="zh-CN" altLang="zh-CN" smtClean="0"/>
              <a:t>。</a:t>
            </a:r>
            <a:endParaRPr lang="en-US" altLang="zh-CN" smtClean="0"/>
          </a:p>
          <a:p>
            <a:pPr marL="1257300" lvl="2" indent="-342900">
              <a:buFont typeface="+mj-ea"/>
              <a:buAutoNum type="circleNumDbPlain"/>
            </a:pPr>
            <a:r>
              <a:rPr lang="zh-CN" altLang="zh-CN"/>
              <a:t>导入后形成的产品零部件</a:t>
            </a:r>
            <a:r>
              <a:rPr lang="en-US" altLang="zh-CN"/>
              <a:t>Part</a:t>
            </a:r>
            <a:r>
              <a:rPr lang="zh-CN" altLang="zh-CN"/>
              <a:t>和三维模型生命周期状态都为“已批准”状态，不需要再提交签审流程。</a:t>
            </a:r>
          </a:p>
          <a:p>
            <a:pPr lvl="2"/>
            <a:endParaRPr lang="zh-CN" altLang="zh-CN"/>
          </a:p>
          <a:p>
            <a:pPr lvl="2"/>
            <a:endParaRPr lang="zh-CN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13918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13. </a:t>
            </a:r>
            <a:r>
              <a:rPr lang="zh-CN" altLang="en-US" smtClean="0"/>
              <a:t>历史数据整理与导入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1"/>
            <a:r>
              <a:rPr lang="zh-CN" altLang="en-US" smtClean="0"/>
              <a:t>二</a:t>
            </a:r>
            <a:r>
              <a:rPr lang="zh-CN" altLang="zh-CN" smtClean="0"/>
              <a:t>维设计数据</a:t>
            </a:r>
            <a:r>
              <a:rPr lang="zh-CN" altLang="zh-CN"/>
              <a:t>整理导</a:t>
            </a:r>
            <a:r>
              <a:rPr lang="zh-CN" altLang="zh-CN" smtClean="0"/>
              <a:t>入</a:t>
            </a:r>
            <a:endParaRPr lang="zh-CN" altLang="zh-CN"/>
          </a:p>
          <a:p>
            <a:pPr lvl="2"/>
            <a:r>
              <a:rPr lang="zh-CN" altLang="zh-CN"/>
              <a:t>产品结构导</a:t>
            </a:r>
            <a:r>
              <a:rPr lang="zh-CN" altLang="zh-CN" smtClean="0"/>
              <a:t>入</a:t>
            </a:r>
            <a:r>
              <a:rPr lang="zh-CN" altLang="en-US" smtClean="0"/>
              <a:t>：</a:t>
            </a:r>
            <a:endParaRPr lang="zh-CN" altLang="zh-CN"/>
          </a:p>
          <a:p>
            <a:pPr lvl="3"/>
            <a:r>
              <a:rPr lang="zh-CN" altLang="zh-CN" sz="1600"/>
              <a:t>通过</a:t>
            </a:r>
            <a:r>
              <a:rPr lang="en-US" altLang="zh-CN" sz="1600"/>
              <a:t>EXCEL</a:t>
            </a:r>
            <a:r>
              <a:rPr lang="zh-CN" altLang="zh-CN" sz="1600"/>
              <a:t>格式的模板，将产品结构信息填到</a:t>
            </a:r>
            <a:r>
              <a:rPr lang="en-US" altLang="zh-CN" sz="1600"/>
              <a:t>EXCEL</a:t>
            </a:r>
            <a:r>
              <a:rPr lang="zh-CN" altLang="zh-CN" sz="1600"/>
              <a:t>中，通过导入程序导入到</a:t>
            </a:r>
            <a:r>
              <a:rPr lang="en-US" altLang="zh-CN" sz="1600"/>
              <a:t>Windchill</a:t>
            </a:r>
            <a:r>
              <a:rPr lang="zh-CN" altLang="zh-CN" sz="1600"/>
              <a:t>系统中，自动建立产品结构信息。</a:t>
            </a:r>
          </a:p>
          <a:p>
            <a:pPr lvl="2"/>
            <a:endParaRPr lang="zh-CN" altLang="zh-CN"/>
          </a:p>
          <a:p>
            <a:pPr lvl="2"/>
            <a:endParaRPr lang="zh-CN" altLang="zh-CN"/>
          </a:p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32323" y="2871763"/>
            <a:ext cx="6840760" cy="144016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pic>
        <p:nvPicPr>
          <p:cNvPr id="5" name="图片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4191" y="4743971"/>
            <a:ext cx="4400550" cy="174244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213670" y="5034806"/>
            <a:ext cx="295465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mtClean="0"/>
              <a:t>产品结构导入整理表格示例</a:t>
            </a:r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52703" y="4510291"/>
            <a:ext cx="3725545" cy="22098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876839" y="5040412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mtClean="0"/>
              <a:t>导入形成结构示例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23708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13. </a:t>
            </a:r>
            <a:r>
              <a:rPr lang="zh-CN" altLang="en-US" smtClean="0"/>
              <a:t>历史数据整理与导入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1"/>
            <a:r>
              <a:rPr lang="zh-CN" altLang="en-US" smtClean="0"/>
              <a:t>二</a:t>
            </a:r>
            <a:r>
              <a:rPr lang="zh-CN" altLang="zh-CN" smtClean="0"/>
              <a:t>维设计数据</a:t>
            </a:r>
            <a:r>
              <a:rPr lang="zh-CN" altLang="zh-CN"/>
              <a:t>整理导</a:t>
            </a:r>
            <a:r>
              <a:rPr lang="zh-CN" altLang="zh-CN" smtClean="0"/>
              <a:t>入</a:t>
            </a:r>
            <a:endParaRPr lang="zh-CN" altLang="zh-CN"/>
          </a:p>
          <a:p>
            <a:pPr lvl="2"/>
            <a:r>
              <a:rPr lang="zh-CN" altLang="en-US" smtClean="0"/>
              <a:t>二维设计图纸导入：</a:t>
            </a:r>
            <a:endParaRPr lang="zh-CN" altLang="zh-CN"/>
          </a:p>
          <a:p>
            <a:pPr lvl="3"/>
            <a:r>
              <a:rPr lang="zh-CN" altLang="zh-CN" sz="1600"/>
              <a:t>采用</a:t>
            </a:r>
            <a:r>
              <a:rPr lang="en-US" altLang="zh-CN" sz="1600"/>
              <a:t>EXCEL</a:t>
            </a:r>
            <a:r>
              <a:rPr lang="zh-CN" altLang="zh-CN" sz="1600"/>
              <a:t>模板整理好二维图文件信息后，通过导入程序批量导入到系统中，二维图纸文件建议和模板文件放在同一文件夹下。二维图纸导入整理模板如下：</a:t>
            </a:r>
          </a:p>
          <a:p>
            <a:pPr lvl="2"/>
            <a:endParaRPr lang="zh-CN" altLang="zh-CN"/>
          </a:p>
          <a:p>
            <a:pPr lvl="2"/>
            <a:endParaRPr lang="zh-CN" altLang="zh-CN"/>
          </a:p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254" y="2840353"/>
            <a:ext cx="6747849" cy="970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图片 9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971" y="4440091"/>
            <a:ext cx="5492094" cy="85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595523" y="4171690"/>
            <a:ext cx="249299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mtClean="0"/>
              <a:t>文件导入整理表格示例</a:t>
            </a:r>
            <a:endParaRPr lang="zh-CN" altLang="en-US"/>
          </a:p>
        </p:txBody>
      </p:sp>
      <p:pic>
        <p:nvPicPr>
          <p:cNvPr id="11" name="图片 10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32723" y="4162041"/>
            <a:ext cx="2952328" cy="245491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7560916" y="4230623"/>
            <a:ext cx="165618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mtClean="0"/>
              <a:t>文件导入与结构关联示例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49279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13. </a:t>
            </a:r>
            <a:r>
              <a:rPr lang="zh-CN" altLang="en-US" smtClean="0"/>
              <a:t>历史数据整理与导入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1"/>
            <a:r>
              <a:rPr lang="zh-CN" altLang="en-US" smtClean="0"/>
              <a:t>研发文件</a:t>
            </a:r>
            <a:r>
              <a:rPr lang="en-US" altLang="zh-CN" smtClean="0"/>
              <a:t>/</a:t>
            </a:r>
            <a:r>
              <a:rPr lang="zh-CN" altLang="en-US" smtClean="0"/>
              <a:t>软件代码</a:t>
            </a:r>
            <a:r>
              <a:rPr lang="zh-CN" altLang="zh-CN" smtClean="0"/>
              <a:t>整理</a:t>
            </a:r>
            <a:r>
              <a:rPr lang="zh-CN" altLang="zh-CN"/>
              <a:t>导</a:t>
            </a:r>
            <a:r>
              <a:rPr lang="zh-CN" altLang="zh-CN" smtClean="0"/>
              <a:t>入</a:t>
            </a:r>
            <a:endParaRPr lang="zh-CN" altLang="zh-CN"/>
          </a:p>
          <a:p>
            <a:pPr lvl="2"/>
            <a:r>
              <a:rPr lang="en-US" altLang="zh-CN" smtClean="0"/>
              <a:t>同样采用</a:t>
            </a:r>
            <a:r>
              <a:rPr lang="en-US" altLang="zh-CN"/>
              <a:t>EXCEL模板的方式进行导入</a:t>
            </a:r>
            <a:r>
              <a:rPr lang="en-US" altLang="zh-CN" smtClean="0"/>
              <a:t>，</a:t>
            </a:r>
            <a:r>
              <a:rPr lang="zh-CN" altLang="en-US" smtClean="0"/>
              <a:t>区别在于研发</a:t>
            </a:r>
            <a:r>
              <a:rPr lang="en-US" altLang="zh-CN" smtClean="0"/>
              <a:t>文件和软件</a:t>
            </a:r>
            <a:r>
              <a:rPr lang="zh-CN" altLang="en-US" smtClean="0"/>
              <a:t>代码（打包）</a:t>
            </a:r>
            <a:r>
              <a:rPr lang="en-US" altLang="zh-CN" smtClean="0"/>
              <a:t>统一存放在</a:t>
            </a:r>
            <a:r>
              <a:rPr lang="zh-CN" altLang="en-US" smtClean="0"/>
              <a:t>自研产品库</a:t>
            </a:r>
            <a:r>
              <a:rPr lang="en-US" altLang="zh-CN" smtClean="0"/>
              <a:t>相应的文件夹中</a:t>
            </a:r>
            <a:r>
              <a:rPr lang="en-US" altLang="zh-CN"/>
              <a:t>，不与零部件进行关联。</a:t>
            </a:r>
            <a:endParaRPr lang="zh-CN" altLang="zh-CN"/>
          </a:p>
          <a:p>
            <a:pPr lvl="2"/>
            <a:endParaRPr lang="zh-CN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4739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149</a:t>
            </a:r>
            <a:r>
              <a:rPr lang="zh-CN" altLang="en-US"/>
              <a:t>厂三维工艺协同管理平台系统解决方案：</a:t>
            </a:r>
            <a:r>
              <a:rPr lang="zh-CN" altLang="en-US">
                <a:solidFill>
                  <a:srgbClr val="FFFF00"/>
                </a:solidFill>
              </a:rPr>
              <a:t>未来实践设计</a:t>
            </a:r>
            <a:r>
              <a:rPr lang="zh-CN" altLang="en-US" smtClean="0">
                <a:solidFill>
                  <a:srgbClr val="FFFF00"/>
                </a:solidFill>
              </a:rPr>
              <a:t>定义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横卷形 4"/>
          <p:cNvSpPr/>
          <p:nvPr/>
        </p:nvSpPr>
        <p:spPr>
          <a:xfrm>
            <a:off x="2088307" y="1575619"/>
            <a:ext cx="5904656" cy="3744416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>
              <a:lnSpc>
                <a:spcPct val="150000"/>
              </a:lnSpc>
            </a:pPr>
            <a:r>
              <a:rPr lang="en-US" altLang="zh-CN" sz="2800" b="1" smtClean="0">
                <a:solidFill>
                  <a:schemeClr val="bg1"/>
                </a:solidFill>
              </a:rPr>
              <a:t>14.  </a:t>
            </a:r>
            <a:r>
              <a:rPr lang="zh-CN" altLang="en-US" sz="2800" b="1" smtClean="0">
                <a:solidFill>
                  <a:schemeClr val="bg1"/>
                </a:solidFill>
              </a:rPr>
              <a:t>系统安全管理</a:t>
            </a:r>
            <a:endParaRPr lang="en-US" altLang="zh-CN" sz="2800" b="1" smtClean="0">
              <a:solidFill>
                <a:schemeClr val="bg1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系统三员职责分立</a:t>
            </a:r>
            <a:endParaRPr lang="en-US" altLang="zh-CN" b="1" smtClean="0">
              <a:solidFill>
                <a:srgbClr val="FFFF00"/>
              </a:solidFill>
            </a:endParaRP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smtClean="0">
                <a:solidFill>
                  <a:srgbClr val="FFFF00"/>
                </a:solidFill>
              </a:rPr>
              <a:t>安全策略与日志审计</a:t>
            </a:r>
            <a:endParaRPr lang="en-US" altLang="zh-CN" b="1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6772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14. </a:t>
            </a:r>
            <a:r>
              <a:rPr lang="zh-CN" altLang="en-US" smtClean="0"/>
              <a:t>系统安全管理：</a:t>
            </a:r>
            <a:r>
              <a:rPr lang="zh-CN" altLang="en-US" smtClean="0">
                <a:solidFill>
                  <a:srgbClr val="FFFF00"/>
                </a:solidFill>
              </a:rPr>
              <a:t>系统三员职责分立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zh-CN"/>
              <a:t>在</a:t>
            </a:r>
            <a:r>
              <a:rPr lang="en-US" altLang="zh-CN"/>
              <a:t>Windchill</a:t>
            </a:r>
            <a:r>
              <a:rPr lang="zh-CN" altLang="zh-CN"/>
              <a:t>系统中分别建立</a:t>
            </a:r>
            <a:r>
              <a:rPr lang="zh-CN" altLang="zh-CN">
                <a:solidFill>
                  <a:srgbClr val="00B050"/>
                </a:solidFill>
              </a:rPr>
              <a:t>系统管理员、安全管理员、安全审计管理员</a:t>
            </a:r>
            <a:r>
              <a:rPr lang="zh-CN" altLang="zh-CN"/>
              <a:t>三个账号，权限分配如下：</a:t>
            </a:r>
          </a:p>
          <a:p>
            <a:pPr lvl="1"/>
            <a:r>
              <a:rPr lang="zh-CN" altLang="zh-CN"/>
              <a:t>系统</a:t>
            </a:r>
            <a:r>
              <a:rPr lang="zh-CN" altLang="zh-CN" smtClean="0"/>
              <a:t>管理员</a:t>
            </a:r>
            <a:r>
              <a:rPr lang="zh-CN" altLang="en-US" smtClean="0"/>
              <a:t>：</a:t>
            </a:r>
            <a:r>
              <a:rPr lang="zh-CN" altLang="zh-CN" smtClean="0"/>
              <a:t>分配</a:t>
            </a:r>
            <a:r>
              <a:rPr lang="zh-CN" altLang="zh-CN"/>
              <a:t>日常系统管理的权限，但是不可以配置系统用户</a:t>
            </a:r>
            <a:r>
              <a:rPr lang="zh-CN" altLang="zh-CN" smtClean="0"/>
              <a:t>权限</a:t>
            </a:r>
            <a:endParaRPr lang="zh-CN" altLang="zh-CN"/>
          </a:p>
          <a:p>
            <a:pPr lvl="1"/>
            <a:r>
              <a:rPr lang="zh-CN" altLang="zh-CN"/>
              <a:t>安全管理</a:t>
            </a:r>
            <a:r>
              <a:rPr lang="zh-CN" altLang="zh-CN" smtClean="0"/>
              <a:t>员</a:t>
            </a:r>
            <a:r>
              <a:rPr lang="zh-CN" altLang="en-US" smtClean="0"/>
              <a:t>：</a:t>
            </a:r>
            <a:r>
              <a:rPr lang="zh-CN" altLang="zh-CN" smtClean="0"/>
              <a:t>只</a:t>
            </a:r>
            <a:r>
              <a:rPr lang="zh-CN" altLang="zh-CN"/>
              <a:t>可以配置系统用户</a:t>
            </a:r>
            <a:r>
              <a:rPr lang="zh-CN" altLang="zh-CN" smtClean="0"/>
              <a:t>权限</a:t>
            </a:r>
            <a:endParaRPr lang="zh-CN" altLang="zh-CN"/>
          </a:p>
          <a:p>
            <a:pPr lvl="1"/>
            <a:r>
              <a:rPr lang="zh-CN" altLang="zh-CN"/>
              <a:t>安全管理</a:t>
            </a:r>
            <a:r>
              <a:rPr lang="zh-CN" altLang="zh-CN" smtClean="0"/>
              <a:t>员</a:t>
            </a:r>
            <a:r>
              <a:rPr lang="zh-CN" altLang="en-US" smtClean="0"/>
              <a:t>：</a:t>
            </a:r>
            <a:r>
              <a:rPr lang="zh-CN" altLang="zh-CN" smtClean="0"/>
              <a:t>只</a:t>
            </a:r>
            <a:r>
              <a:rPr lang="zh-CN" altLang="zh-CN"/>
              <a:t>可以审计系统管理员与安全管理员的操作日志</a:t>
            </a:r>
          </a:p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0235" y="3591843"/>
            <a:ext cx="6768752" cy="15121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0003533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14. </a:t>
            </a:r>
            <a:r>
              <a:rPr lang="zh-CN" altLang="en-US"/>
              <a:t>系统安全管理：</a:t>
            </a:r>
            <a:r>
              <a:rPr lang="zh-CN" altLang="en-US">
                <a:solidFill>
                  <a:srgbClr val="FFFF00"/>
                </a:solidFill>
              </a:rPr>
              <a:t>系统三员职责</a:t>
            </a:r>
            <a:r>
              <a:rPr lang="zh-CN" altLang="en-US" smtClean="0">
                <a:solidFill>
                  <a:srgbClr val="FFFF00"/>
                </a:solidFill>
              </a:rPr>
              <a:t>分立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zh-CN" altLang="zh-CN"/>
              <a:t>安全管理员登录系统后，只能进行用户和权限管理操作</a:t>
            </a:r>
          </a:p>
          <a:p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2203" y="2151683"/>
            <a:ext cx="5976664" cy="2880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785606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14. </a:t>
            </a:r>
            <a:r>
              <a:rPr lang="zh-CN" altLang="en-US"/>
              <a:t>系统安全管理：</a:t>
            </a:r>
            <a:r>
              <a:rPr lang="zh-CN" altLang="en-US">
                <a:solidFill>
                  <a:srgbClr val="FFFF00"/>
                </a:solidFill>
              </a:rPr>
              <a:t>系统三员职责</a:t>
            </a:r>
            <a:r>
              <a:rPr lang="zh-CN" altLang="en-US" smtClean="0">
                <a:solidFill>
                  <a:srgbClr val="FFFF00"/>
                </a:solidFill>
              </a:rPr>
              <a:t>分立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zh-CN" altLang="zh-CN"/>
              <a:t>系统管理员登录系统后，只能查看到对应的管理功能，不可以浏览产品库和存储库中的业务数据</a:t>
            </a:r>
          </a:p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6463" y="2416016"/>
            <a:ext cx="6540475" cy="31200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164728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/>
              <a:t>14. </a:t>
            </a:r>
            <a:r>
              <a:rPr lang="zh-CN" altLang="en-US"/>
              <a:t>系统安全管理：</a:t>
            </a:r>
            <a:r>
              <a:rPr lang="zh-CN" altLang="en-US">
                <a:solidFill>
                  <a:srgbClr val="FFFF00"/>
                </a:solidFill>
              </a:rPr>
              <a:t>系统三员职责</a:t>
            </a:r>
            <a:r>
              <a:rPr lang="zh-CN" altLang="en-US" smtClean="0">
                <a:solidFill>
                  <a:srgbClr val="FFFF00"/>
                </a:solidFill>
              </a:rPr>
              <a:t>分立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en-US" altLang="zh-CN"/>
              <a:t>安全审计管理员登录系统后，只能对安全管理员和系统管理员的操作日志进行审计</a:t>
            </a:r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6185" y="2511723"/>
            <a:ext cx="7198826" cy="34563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7187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14. </a:t>
            </a:r>
            <a:r>
              <a:rPr lang="zh-CN" altLang="en-US"/>
              <a:t>系统安全管理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安全策略和日志审计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zh-CN" altLang="zh-CN"/>
              <a:t>使用</a:t>
            </a:r>
            <a:r>
              <a:rPr lang="en-US" altLang="zh-CN"/>
              <a:t>Windchill</a:t>
            </a:r>
            <a:r>
              <a:rPr lang="zh-CN" altLang="zh-CN"/>
              <a:t>系统默认的安全审计报告功能，为</a:t>
            </a:r>
            <a:r>
              <a:rPr lang="zh-CN" altLang="zh-CN">
                <a:solidFill>
                  <a:srgbClr val="00B050"/>
                </a:solidFill>
              </a:rPr>
              <a:t>安全审计管理员</a:t>
            </a:r>
            <a:r>
              <a:rPr lang="zh-CN" altLang="zh-CN"/>
              <a:t>定制</a:t>
            </a:r>
            <a:r>
              <a:rPr lang="zh-CN" altLang="zh-CN">
                <a:solidFill>
                  <a:srgbClr val="00B050"/>
                </a:solidFill>
              </a:rPr>
              <a:t>系统管理员</a:t>
            </a:r>
            <a:r>
              <a:rPr lang="zh-CN" altLang="zh-CN"/>
              <a:t>和</a:t>
            </a:r>
            <a:r>
              <a:rPr lang="zh-CN" altLang="zh-CN">
                <a:solidFill>
                  <a:srgbClr val="00B050"/>
                </a:solidFill>
              </a:rPr>
              <a:t>安全管理员</a:t>
            </a:r>
            <a:r>
              <a:rPr lang="zh-CN" altLang="zh-CN"/>
              <a:t>审计</a:t>
            </a:r>
            <a:r>
              <a:rPr lang="zh-CN" altLang="zh-CN" smtClean="0"/>
              <a:t>报告</a:t>
            </a:r>
            <a:r>
              <a:rPr lang="zh-CN" altLang="en-US" smtClean="0"/>
              <a:t>：</a:t>
            </a:r>
            <a:endParaRPr lang="zh-CN" altLang="zh-CN"/>
          </a:p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4311" y="2439715"/>
            <a:ext cx="6408712" cy="1510026"/>
          </a:xfrm>
          <a:prstGeom prst="rect">
            <a:avLst/>
          </a:prstGeom>
          <a:ln w="12700" cap="sq">
            <a:solidFill>
              <a:schemeClr val="tx1"/>
            </a:solidFill>
            <a:prstDash val="solid"/>
            <a:miter lim="800000"/>
          </a:ln>
          <a:effectLst/>
        </p:spPr>
      </p:pic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656" y="4237112"/>
            <a:ext cx="3665862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8667" y="4239915"/>
            <a:ext cx="3853615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36946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n-US" altLang="zh-CN" smtClean="0"/>
              <a:t>14. </a:t>
            </a:r>
            <a:r>
              <a:rPr lang="zh-CN" altLang="en-US"/>
              <a:t>系统安全管理</a:t>
            </a:r>
            <a:r>
              <a:rPr lang="zh-CN" altLang="en-US" smtClean="0"/>
              <a:t>：</a:t>
            </a:r>
            <a:r>
              <a:rPr lang="zh-CN" altLang="en-US" smtClean="0">
                <a:solidFill>
                  <a:srgbClr val="FFFF00"/>
                </a:solidFill>
              </a:rPr>
              <a:t>安全策略和日志审计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zh-CN" altLang="zh-CN"/>
              <a:t>为</a:t>
            </a:r>
            <a:r>
              <a:rPr lang="zh-CN" altLang="zh-CN">
                <a:solidFill>
                  <a:srgbClr val="00B050"/>
                </a:solidFill>
              </a:rPr>
              <a:t>安全管理员</a:t>
            </a:r>
            <a:r>
              <a:rPr lang="zh-CN" altLang="zh-CN"/>
              <a:t>提供所有用户的操作审计</a:t>
            </a:r>
            <a:r>
              <a:rPr lang="zh-CN" altLang="zh-CN" smtClean="0"/>
              <a:t>功能</a:t>
            </a:r>
            <a:r>
              <a:rPr lang="zh-CN" altLang="en-US" smtClean="0"/>
              <a:t>：</a:t>
            </a:r>
            <a:endParaRPr lang="zh-CN" altLang="zh-CN"/>
          </a:p>
          <a:p>
            <a:endParaRPr lang="zh-CN" altLang="en-US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347" y="2162002"/>
            <a:ext cx="4295775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596992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3240088" y="2079625"/>
            <a:ext cx="4033837" cy="1800225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smtClean="0">
                <a:solidFill>
                  <a:schemeClr val="bg1">
                    <a:lumMod val="85000"/>
                  </a:schemeClr>
                </a:solidFill>
                <a:latin typeface="黑体" pitchFamily="49" charset="-122"/>
                <a:ea typeface="黑体" pitchFamily="49" charset="-122"/>
              </a:rPr>
              <a:t>THANKS</a:t>
            </a:r>
            <a:endParaRPr lang="zh-CN" altLang="en-US" b="1" smtClean="0">
              <a:solidFill>
                <a:schemeClr val="bg1">
                  <a:lumMod val="8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1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信维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信维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FF0000"/>
          </a:solidFill>
          <a:headEnd type="none" w="med" len="med"/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信维PPT模板</Template>
  <TotalTime>3287</TotalTime>
  <Words>10930</Words>
  <Application>Microsoft Office PowerPoint</Application>
  <PresentationFormat>自定义</PresentationFormat>
  <Paragraphs>1409</Paragraphs>
  <Slides>147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147</vt:i4>
      </vt:variant>
    </vt:vector>
  </HeadingPairs>
  <TitlesOfParts>
    <vt:vector size="150" baseType="lpstr">
      <vt:lpstr>信维PPT模板</vt:lpstr>
      <vt:lpstr>2_信维PPT模板</vt:lpstr>
      <vt:lpstr>Visio</vt:lpstr>
      <vt:lpstr>149厂三维工艺协同管理平台 系统解决方案</vt:lpstr>
      <vt:lpstr>汇报内容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全三维工程化应用</dc:title>
  <dc:creator>Arthur</dc:creator>
  <cp:lastModifiedBy>Arthur</cp:lastModifiedBy>
  <cp:revision>851</cp:revision>
  <dcterms:created xsi:type="dcterms:W3CDTF">2012-05-02T14:04:53Z</dcterms:created>
  <dcterms:modified xsi:type="dcterms:W3CDTF">2013-01-22T03:24:37Z</dcterms:modified>
</cp:coreProperties>
</file>